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8" r:id="rId5"/>
    <p:sldId id="291" r:id="rId6"/>
    <p:sldId id="295" r:id="rId7"/>
    <p:sldId id="511" r:id="rId8"/>
    <p:sldId id="298" r:id="rId9"/>
    <p:sldId id="420" r:id="rId10"/>
    <p:sldId id="503" r:id="rId11"/>
    <p:sldId id="259" r:id="rId12"/>
    <p:sldId id="476" r:id="rId13"/>
    <p:sldId id="477" r:id="rId14"/>
    <p:sldId id="478" r:id="rId15"/>
    <p:sldId id="479" r:id="rId16"/>
    <p:sldId id="502" r:id="rId17"/>
    <p:sldId id="263" r:id="rId18"/>
    <p:sldId id="265" r:id="rId19"/>
    <p:sldId id="264" r:id="rId20"/>
    <p:sldId id="504" r:id="rId21"/>
    <p:sldId id="505" r:id="rId22"/>
    <p:sldId id="506" r:id="rId23"/>
    <p:sldId id="507" r:id="rId24"/>
    <p:sldId id="273" r:id="rId25"/>
    <p:sldId id="274" r:id="rId26"/>
    <p:sldId id="272" r:id="rId27"/>
    <p:sldId id="508" r:id="rId28"/>
    <p:sldId id="509" r:id="rId29"/>
    <p:sldId id="267" r:id="rId30"/>
    <p:sldId id="510" r:id="rId31"/>
    <p:sldId id="282" r:id="rId32"/>
    <p:sldId id="275" r:id="rId33"/>
    <p:sldId id="268" r:id="rId34"/>
    <p:sldId id="280" r:id="rId35"/>
    <p:sldId id="269" r:id="rId36"/>
    <p:sldId id="278" r:id="rId37"/>
    <p:sldId id="279" r:id="rId38"/>
    <p:sldId id="281" r:id="rId39"/>
    <p:sldId id="277" r:id="rId40"/>
    <p:sldId id="285" r:id="rId41"/>
    <p:sldId id="513" r:id="rId42"/>
    <p:sldId id="283" r:id="rId43"/>
    <p:sldId id="512" r:id="rId44"/>
    <p:sldId id="284" r:id="rId45"/>
    <p:sldId id="514" r:id="rId46"/>
    <p:sldId id="270" r:id="rId47"/>
    <p:sldId id="287" r:id="rId4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79"/>
    <p:restoredTop sz="86064"/>
  </p:normalViewPr>
  <p:slideViewPr>
    <p:cSldViewPr snapToGrid="0" snapToObjects="1">
      <p:cViewPr varScale="1">
        <p:scale>
          <a:sx n="92" d="100"/>
          <a:sy n="92" d="100"/>
        </p:scale>
        <p:origin x="122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1" Type="http://schemas.openxmlformats.org/officeDocument/2006/relationships/tableStyles" Target="tableStyles.xml"/><Relationship Id="rId50" Type="http://schemas.openxmlformats.org/officeDocument/2006/relationships/viewProps" Target="viewProps.xml"/><Relationship Id="rId5" Type="http://schemas.openxmlformats.org/officeDocument/2006/relationships/slide" Target="slides/slide2.xml"/><Relationship Id="rId49" Type="http://schemas.openxmlformats.org/officeDocument/2006/relationships/presProps" Target="presProps.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18BC52-EC85-524E-A9C9-1A28799B4FF7}"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幻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0FF8ED-6822-3144-A2F5-156B2A6EE514}"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baike.baidu.com/item/%E6%9C%80%E9%AB%98%E4%BA%BA%E6%B0%91%E6%B3%95%E9%99%A2%E5%85%B3%E4%BA%8E%E5%AE%A1%E7%90%86%E6%9C%AA%E6%88%90%E5%B9%B4%E4%BA%BA%E5%88%91%E4%BA%8B%E6%A1%88%E4%BB%B6%E5%85%B7%E4%BD%93%E5%BA%94%E7%94%A8%E6%B3%95%E5%BE%8B%E8%8B%A5%E5%B9%B2%E9%97%AE%E9%A2%98%E7%9A%84%E8%A7%A3%E9%87%8A" TargetMode="External"/><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baike.baidu.com/item/%E6%9C%80%E9%AB%98%E4%BA%BA%E6%B0%91%E6%B3%95%E9%99%A2%E5%85%B3%E4%BA%8E%E5%AE%A1%E7%90%86%E6%9C%AA%E6%88%90%E5%B9%B4%E4%BA%BA%E5%88%91%E4%BA%8B%E6%A1%88%E4%BB%B6%E5%85%B7%E4%BD%93%E5%BA%94%E7%94%A8%E6%B3%95%E5%BE%8B%E8%8B%A5%E5%B9%B2%E9%97%AE%E9%A2%98%E7%9A%84%E8%A7%A3%E9%87%8A" TargetMode="External"/><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baike.baidu.com/item/%E6%9C%80%E9%AB%98%E4%BA%BA%E6%B0%91%E6%B3%95%E9%99%A2%E5%85%B3%E4%BA%8E%E5%AE%A1%E7%90%86%E6%9C%AA%E6%88%90%E5%B9%B4%E4%BA%BA%E5%88%91%E4%BA%8B%E6%A1%88%E4%BB%B6%E5%85%B7%E4%BD%93%E5%BA%94%E7%94%A8%E6%B3%95%E5%BE%8B%E8%8B%A5%E5%B9%B2%E9%97%AE%E9%A2%98%E7%9A%84%E8%A7%A3%E9%87%8A" TargetMode="External"/><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baike.baidu.com/item/%E6%9C%80%E9%AB%98%E4%BA%BA%E6%B0%91%E6%B3%95%E9%99%A2%E5%85%B3%E4%BA%8E%E5%AE%A1%E7%90%86%E6%9C%AA%E6%88%90%E5%B9%B4%E4%BA%BA%E5%88%91%E4%BA%8B%E6%A1%88%E4%BB%B6%E5%85%B7%E4%BD%93%E5%BA%94%E7%94%A8%E6%B3%95%E5%BE%8B%E8%8B%A5%E5%B9%B2%E9%97%AE%E9%A2%98%E7%9A%84%E8%A7%A3%E9%87%8A" TargetMode="External"/><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baike.baidu.com/item/%E6%9C%80%E9%AB%98%E4%BA%BA%E6%B0%91%E6%B3%95%E9%99%A2%E5%85%B3%E4%BA%8E%E5%AE%A1%E7%90%86%E6%9C%AA%E6%88%90%E5%B9%B4%E4%BA%BA%E5%88%91%E4%BA%8B%E6%A1%88%E4%BB%B6%E5%85%B7%E4%BD%93%E5%BA%94%E7%94%A8%E6%B3%95%E5%BE%8B%E8%8B%A5%E5%B9%B2%E9%97%AE%E9%A2%98%E7%9A%84%E8%A7%A3%E9%87%8A" TargetMode="External"/><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4C0FF8ED-6822-3144-A2F5-156B2A6EE514}" type="slidenum">
              <a:rPr kumimoji="1" lang="zh-CN" altLang="en-US" smtClean="0"/>
            </a:fld>
            <a:endParaRPr kumimoji="1"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4C0FF8ED-6822-3144-A2F5-156B2A6EE514}" type="slidenum">
              <a:rPr kumimoji="1" lang="zh-CN" altLang="en-US" smtClean="0"/>
            </a:fld>
            <a:endParaRPr kumimoji="1"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4C0FF8ED-6822-3144-A2F5-156B2A6EE514}" type="slidenum">
              <a:rPr kumimoji="1" lang="zh-CN" altLang="en-US" smtClean="0"/>
            </a:fld>
            <a:endParaRPr kumimoji="1"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4C0FF8ED-6822-3144-A2F5-156B2A6EE514}" type="slidenum">
              <a:rPr kumimoji="1" lang="zh-CN" altLang="en-US" smtClean="0"/>
            </a:fld>
            <a:endParaRPr kumimoji="1"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4C0FF8ED-6822-3144-A2F5-156B2A6EE514}" type="slidenum">
              <a:rPr kumimoji="1" lang="zh-CN" altLang="en-US" smtClean="0"/>
            </a:fld>
            <a:endParaRPr kumimoji="1"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4C0FF8ED-6822-3144-A2F5-156B2A6EE514}" type="slidenum">
              <a:rPr kumimoji="1" lang="zh-CN" altLang="en-US" smtClean="0"/>
            </a:fld>
            <a:endParaRPr kumimoji="1"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4C0FF8ED-6822-3144-A2F5-156B2A6EE514}" type="slidenum">
              <a:rPr kumimoji="1" lang="zh-CN" altLang="en-US" smtClean="0"/>
            </a:fld>
            <a:endParaRPr kumimoji="1"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周岁：每到公历生日的当天便增龄一岁。这种计龄方式是公认的传统，无需法律规定。</a:t>
            </a:r>
            <a:endParaRPr lang="zh-CN" altLang="en-US"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a:t>
            </a:r>
            <a:r>
              <a:rPr lang="zh-CN" altLang="en-US" sz="1200" b="0" i="0" u="none" strike="noStrike" kern="1200" dirty="0">
                <a:solidFill>
                  <a:schemeClr val="tx1"/>
                </a:solidFill>
                <a:effectLst/>
                <a:latin typeface="+mn-lt"/>
                <a:ea typeface="+mn-ea"/>
                <a:cs typeface="+mn-cs"/>
                <a:hlinkClick r:id="rId3"/>
              </a:rPr>
              <a:t>最高人民法院关于审理未成年人刑事案件具体应用法律若干问题的解释</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第二条明确规定，“周岁”，按照</a:t>
            </a:r>
            <a:r>
              <a:rPr lang="zh-CN" altLang="en-US" sz="1200" b="1" i="0" kern="1200" dirty="0">
                <a:solidFill>
                  <a:schemeClr val="tx1"/>
                </a:solidFill>
                <a:effectLst/>
                <a:latin typeface="+mn-lt"/>
                <a:ea typeface="+mn-ea"/>
                <a:cs typeface="+mn-cs"/>
              </a:rPr>
              <a:t>公历</a:t>
            </a:r>
            <a:r>
              <a:rPr lang="zh-CN" altLang="en-US" sz="1200" b="0" i="0" kern="1200" dirty="0">
                <a:solidFill>
                  <a:schemeClr val="tx1"/>
                </a:solidFill>
                <a:effectLst/>
                <a:latin typeface="+mn-lt"/>
                <a:ea typeface="+mn-ea"/>
                <a:cs typeface="+mn-cs"/>
              </a:rPr>
              <a:t>的年月日计算，从周岁生日的第二天起算。</a:t>
            </a:r>
            <a:endParaRPr lang="zh-CN" altLang="en-US"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之所以推迟一天计算，是出于人情上及尽量减少麻烦的考虑。</a:t>
            </a:r>
            <a:endParaRPr lang="zh-CN" altLang="en-US" sz="1200" b="0" i="0" kern="1200" dirty="0">
              <a:solidFill>
                <a:schemeClr val="tx1"/>
              </a:solidFill>
              <a:effectLst/>
              <a:latin typeface="+mn-lt"/>
              <a:ea typeface="+mn-ea"/>
              <a:cs typeface="+mn-cs"/>
            </a:endParaRPr>
          </a:p>
        </p:txBody>
      </p:sp>
      <p:sp>
        <p:nvSpPr>
          <p:cNvPr id="4" name="幻灯片编号占位符 3"/>
          <p:cNvSpPr>
            <a:spLocks noGrp="1"/>
          </p:cNvSpPr>
          <p:nvPr>
            <p:ph type="sldNum" sz="quarter" idx="10"/>
          </p:nvPr>
        </p:nvSpPr>
        <p:spPr/>
        <p:txBody>
          <a:bodyPr/>
          <a:lstStyle/>
          <a:p>
            <a:fld id="{4C0FF8ED-6822-3144-A2F5-156B2A6EE514}" type="slidenum">
              <a:rPr kumimoji="1" lang="zh-CN" altLang="en-US" smtClean="0"/>
            </a:fld>
            <a:endParaRPr kumimoji="1"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周岁：每到公历生日的当天便增龄一岁。这种计龄方式是公认的传统，无需法律规定。</a:t>
            </a:r>
            <a:endParaRPr lang="zh-CN" altLang="en-US"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a:t>
            </a:r>
            <a:r>
              <a:rPr lang="zh-CN" altLang="en-US" sz="1200" b="0" i="0" u="none" strike="noStrike" kern="1200" dirty="0">
                <a:solidFill>
                  <a:schemeClr val="tx1"/>
                </a:solidFill>
                <a:effectLst/>
                <a:latin typeface="+mn-lt"/>
                <a:ea typeface="+mn-ea"/>
                <a:cs typeface="+mn-cs"/>
                <a:hlinkClick r:id="rId3"/>
              </a:rPr>
              <a:t>最高人民法院关于审理未成年人刑事案件具体应用法律若干问题的解释</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第二条明确规定，“周岁”，按照</a:t>
            </a:r>
            <a:r>
              <a:rPr lang="zh-CN" altLang="en-US" sz="1200" b="1" i="0" kern="1200" dirty="0">
                <a:solidFill>
                  <a:schemeClr val="tx1"/>
                </a:solidFill>
                <a:effectLst/>
                <a:latin typeface="+mn-lt"/>
                <a:ea typeface="+mn-ea"/>
                <a:cs typeface="+mn-cs"/>
              </a:rPr>
              <a:t>公历</a:t>
            </a:r>
            <a:r>
              <a:rPr lang="zh-CN" altLang="en-US" sz="1200" b="0" i="0" kern="1200" dirty="0">
                <a:solidFill>
                  <a:schemeClr val="tx1"/>
                </a:solidFill>
                <a:effectLst/>
                <a:latin typeface="+mn-lt"/>
                <a:ea typeface="+mn-ea"/>
                <a:cs typeface="+mn-cs"/>
              </a:rPr>
              <a:t>的年月日计算，从周岁生日的第二天起算。</a:t>
            </a:r>
            <a:endParaRPr lang="zh-CN" altLang="en-US"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之所以推迟一天计算，是出于人情上及尽量减少麻烦的考虑。</a:t>
            </a:r>
            <a:endParaRPr lang="zh-CN" altLang="en-US" sz="1200" b="0" i="0" kern="1200" dirty="0">
              <a:solidFill>
                <a:schemeClr val="tx1"/>
              </a:solidFill>
              <a:effectLst/>
              <a:latin typeface="+mn-lt"/>
              <a:ea typeface="+mn-ea"/>
              <a:cs typeface="+mn-cs"/>
            </a:endParaRPr>
          </a:p>
        </p:txBody>
      </p:sp>
      <p:sp>
        <p:nvSpPr>
          <p:cNvPr id="4" name="幻灯片编号占位符 3"/>
          <p:cNvSpPr>
            <a:spLocks noGrp="1"/>
          </p:cNvSpPr>
          <p:nvPr>
            <p:ph type="sldNum" sz="quarter" idx="10"/>
          </p:nvPr>
        </p:nvSpPr>
        <p:spPr/>
        <p:txBody>
          <a:bodyPr/>
          <a:lstStyle/>
          <a:p>
            <a:fld id="{4C0FF8ED-6822-3144-A2F5-156B2A6EE514}" type="slidenum">
              <a:rPr kumimoji="1" lang="zh-CN" altLang="en-US" smtClean="0"/>
            </a:fld>
            <a:endParaRPr kumimoji="1"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周岁：每到公历生日的当天便增龄一岁。这种计龄方式是公认的传统，无需法律规定。</a:t>
            </a:r>
            <a:endParaRPr lang="zh-CN" altLang="en-US"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a:t>
            </a:r>
            <a:r>
              <a:rPr lang="zh-CN" altLang="en-US" sz="1200" b="0" i="0" u="none" strike="noStrike" kern="1200" dirty="0">
                <a:solidFill>
                  <a:schemeClr val="tx1"/>
                </a:solidFill>
                <a:effectLst/>
                <a:latin typeface="+mn-lt"/>
                <a:ea typeface="+mn-ea"/>
                <a:cs typeface="+mn-cs"/>
                <a:hlinkClick r:id="rId3"/>
              </a:rPr>
              <a:t>最高人民法院关于审理未成年人刑事案件具体应用法律若干问题的解释</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第二条明确规定，“周岁”，按照</a:t>
            </a:r>
            <a:r>
              <a:rPr lang="zh-CN" altLang="en-US" sz="1200" b="1" i="0" kern="1200" dirty="0">
                <a:solidFill>
                  <a:schemeClr val="tx1"/>
                </a:solidFill>
                <a:effectLst/>
                <a:latin typeface="+mn-lt"/>
                <a:ea typeface="+mn-ea"/>
                <a:cs typeface="+mn-cs"/>
              </a:rPr>
              <a:t>公历</a:t>
            </a:r>
            <a:r>
              <a:rPr lang="zh-CN" altLang="en-US" sz="1200" b="0" i="0" kern="1200" dirty="0">
                <a:solidFill>
                  <a:schemeClr val="tx1"/>
                </a:solidFill>
                <a:effectLst/>
                <a:latin typeface="+mn-lt"/>
                <a:ea typeface="+mn-ea"/>
                <a:cs typeface="+mn-cs"/>
              </a:rPr>
              <a:t>的年月日计算，从周岁生日的第二天起算。</a:t>
            </a:r>
            <a:endParaRPr lang="zh-CN" altLang="en-US"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之所以推迟一天计算，是出于人情上及尽量减少麻烦的考虑。</a:t>
            </a:r>
            <a:endParaRPr lang="zh-CN" altLang="en-US" sz="1200" b="0" i="0" kern="1200" dirty="0">
              <a:solidFill>
                <a:schemeClr val="tx1"/>
              </a:solidFill>
              <a:effectLst/>
              <a:latin typeface="+mn-lt"/>
              <a:ea typeface="+mn-ea"/>
              <a:cs typeface="+mn-cs"/>
            </a:endParaRPr>
          </a:p>
        </p:txBody>
      </p:sp>
      <p:sp>
        <p:nvSpPr>
          <p:cNvPr id="4" name="幻灯片编号占位符 3"/>
          <p:cNvSpPr>
            <a:spLocks noGrp="1"/>
          </p:cNvSpPr>
          <p:nvPr>
            <p:ph type="sldNum" sz="quarter" idx="10"/>
          </p:nvPr>
        </p:nvSpPr>
        <p:spPr/>
        <p:txBody>
          <a:bodyPr/>
          <a:lstStyle/>
          <a:p>
            <a:fld id="{4C0FF8ED-6822-3144-A2F5-156B2A6EE514}" type="slidenum">
              <a:rPr kumimoji="1" lang="zh-CN" altLang="en-US" smtClean="0"/>
            </a:fld>
            <a:endParaRPr kumimoji="1"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周岁：每到公历生日的当天便增龄一岁。这种计龄方式是公认的传统，无需法律规定。</a:t>
            </a:r>
            <a:endParaRPr lang="zh-CN" altLang="en-US"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a:t>
            </a:r>
            <a:r>
              <a:rPr lang="zh-CN" altLang="en-US" sz="1200" b="0" i="0" u="none" strike="noStrike" kern="1200" dirty="0">
                <a:solidFill>
                  <a:schemeClr val="tx1"/>
                </a:solidFill>
                <a:effectLst/>
                <a:latin typeface="+mn-lt"/>
                <a:ea typeface="+mn-ea"/>
                <a:cs typeface="+mn-cs"/>
                <a:hlinkClick r:id="rId3"/>
              </a:rPr>
              <a:t>最高人民法院关于审理未成年人刑事案件具体应用法律若干问题的解释</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第二条明确规定，“周岁”，按照</a:t>
            </a:r>
            <a:r>
              <a:rPr lang="zh-CN" altLang="en-US" sz="1200" b="1" i="0" kern="1200" dirty="0">
                <a:solidFill>
                  <a:schemeClr val="tx1"/>
                </a:solidFill>
                <a:effectLst/>
                <a:latin typeface="+mn-lt"/>
                <a:ea typeface="+mn-ea"/>
                <a:cs typeface="+mn-cs"/>
              </a:rPr>
              <a:t>公历</a:t>
            </a:r>
            <a:r>
              <a:rPr lang="zh-CN" altLang="en-US" sz="1200" b="0" i="0" kern="1200" dirty="0">
                <a:solidFill>
                  <a:schemeClr val="tx1"/>
                </a:solidFill>
                <a:effectLst/>
                <a:latin typeface="+mn-lt"/>
                <a:ea typeface="+mn-ea"/>
                <a:cs typeface="+mn-cs"/>
              </a:rPr>
              <a:t>的年月日计算，从周岁生日的第二天起算。</a:t>
            </a:r>
            <a:endParaRPr lang="zh-CN" altLang="en-US"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之所以推迟一天计算，是出于人情上及尽量减少麻烦的考虑。</a:t>
            </a:r>
            <a:endParaRPr lang="zh-CN" altLang="en-US" sz="1200" b="0" i="0" kern="1200" dirty="0">
              <a:solidFill>
                <a:schemeClr val="tx1"/>
              </a:solidFill>
              <a:effectLst/>
              <a:latin typeface="+mn-lt"/>
              <a:ea typeface="+mn-ea"/>
              <a:cs typeface="+mn-cs"/>
            </a:endParaRPr>
          </a:p>
        </p:txBody>
      </p:sp>
      <p:sp>
        <p:nvSpPr>
          <p:cNvPr id="4" name="幻灯片编号占位符 3"/>
          <p:cNvSpPr>
            <a:spLocks noGrp="1"/>
          </p:cNvSpPr>
          <p:nvPr>
            <p:ph type="sldNum" sz="quarter" idx="10"/>
          </p:nvPr>
        </p:nvSpPr>
        <p:spPr/>
        <p:txBody>
          <a:bodyPr/>
          <a:lstStyle/>
          <a:p>
            <a:fld id="{4C0FF8ED-6822-3144-A2F5-156B2A6EE514}" type="slidenum">
              <a:rPr kumimoji="1" lang="zh-CN" altLang="en-US" smtClean="0"/>
            </a:fld>
            <a:endParaRPr kumimoji="1"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周岁：每到公历生日的当天便增龄一岁。这种计龄方式是公认的传统，无需法律规定。</a:t>
            </a:r>
            <a:endParaRPr lang="zh-CN" altLang="en-US"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a:t>
            </a:r>
            <a:r>
              <a:rPr lang="zh-CN" altLang="en-US" sz="1200" b="0" i="0" u="none" strike="noStrike" kern="1200" dirty="0">
                <a:solidFill>
                  <a:schemeClr val="tx1"/>
                </a:solidFill>
                <a:effectLst/>
                <a:latin typeface="+mn-lt"/>
                <a:ea typeface="+mn-ea"/>
                <a:cs typeface="+mn-cs"/>
                <a:hlinkClick r:id="rId3"/>
              </a:rPr>
              <a:t>最高人民法院关于审理未成年人刑事案件具体应用法律若干问题的解释</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第二条明确规定，“周岁”，按照</a:t>
            </a:r>
            <a:r>
              <a:rPr lang="zh-CN" altLang="en-US" sz="1200" b="1" i="0" kern="1200" dirty="0">
                <a:solidFill>
                  <a:schemeClr val="tx1"/>
                </a:solidFill>
                <a:effectLst/>
                <a:latin typeface="+mn-lt"/>
                <a:ea typeface="+mn-ea"/>
                <a:cs typeface="+mn-cs"/>
              </a:rPr>
              <a:t>公历</a:t>
            </a:r>
            <a:r>
              <a:rPr lang="zh-CN" altLang="en-US" sz="1200" b="0" i="0" kern="1200" dirty="0">
                <a:solidFill>
                  <a:schemeClr val="tx1"/>
                </a:solidFill>
                <a:effectLst/>
                <a:latin typeface="+mn-lt"/>
                <a:ea typeface="+mn-ea"/>
                <a:cs typeface="+mn-cs"/>
              </a:rPr>
              <a:t>的年月日计算，从周岁生日的第二天起算。</a:t>
            </a:r>
            <a:endParaRPr lang="zh-CN" altLang="en-US"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之所以推迟一天计算，是出于人情上及尽量减少麻烦的考虑。</a:t>
            </a:r>
            <a:endParaRPr lang="zh-CN" altLang="en-US" sz="1200" b="0" i="0" kern="1200" dirty="0">
              <a:solidFill>
                <a:schemeClr val="tx1"/>
              </a:solidFill>
              <a:effectLst/>
              <a:latin typeface="+mn-lt"/>
              <a:ea typeface="+mn-ea"/>
              <a:cs typeface="+mn-cs"/>
            </a:endParaRPr>
          </a:p>
        </p:txBody>
      </p:sp>
      <p:sp>
        <p:nvSpPr>
          <p:cNvPr id="4" name="幻灯片编号占位符 3"/>
          <p:cNvSpPr>
            <a:spLocks noGrp="1"/>
          </p:cNvSpPr>
          <p:nvPr>
            <p:ph type="sldNum" sz="quarter" idx="10"/>
          </p:nvPr>
        </p:nvSpPr>
        <p:spPr/>
        <p:txBody>
          <a:bodyPr/>
          <a:lstStyle/>
          <a:p>
            <a:fld id="{4C0FF8ED-6822-3144-A2F5-156B2A6EE514}" type="slidenum">
              <a:rPr kumimoji="1" lang="zh-CN" altLang="en-US" smtClean="0"/>
            </a:fld>
            <a:endParaRPr kumimoji="1"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穿越系统对于间隔期不足又采血的会自动进入“献血过程中的异常”由质控科进行处理。</a:t>
            </a:r>
            <a:endParaRPr kumimoji="1" lang="zh-CN" altLang="en-US" dirty="0"/>
          </a:p>
        </p:txBody>
      </p:sp>
      <p:sp>
        <p:nvSpPr>
          <p:cNvPr id="4" name="幻灯片编号占位符 3"/>
          <p:cNvSpPr>
            <a:spLocks noGrp="1"/>
          </p:cNvSpPr>
          <p:nvPr>
            <p:ph type="sldNum" sz="quarter" idx="10"/>
          </p:nvPr>
        </p:nvSpPr>
        <p:spPr/>
        <p:txBody>
          <a:bodyPr/>
          <a:lstStyle/>
          <a:p>
            <a:fld id="{4C0FF8ED-6822-3144-A2F5-156B2A6EE514}" type="slidenum">
              <a:rPr kumimoji="1" lang="zh-CN" altLang="en-US" smtClean="0"/>
            </a:fld>
            <a:endParaRPr kumimoji="1"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穿越系统采用制备树和制备规则结合控制血液制备</a:t>
            </a:r>
            <a:endParaRPr kumimoji="1" lang="zh-CN" altLang="en-US" dirty="0"/>
          </a:p>
        </p:txBody>
      </p:sp>
      <p:sp>
        <p:nvSpPr>
          <p:cNvPr id="4" name="幻灯片编号占位符 3"/>
          <p:cNvSpPr>
            <a:spLocks noGrp="1"/>
          </p:cNvSpPr>
          <p:nvPr>
            <p:ph type="sldNum" sz="quarter" idx="10"/>
          </p:nvPr>
        </p:nvSpPr>
        <p:spPr/>
        <p:txBody>
          <a:bodyPr/>
          <a:lstStyle/>
          <a:p>
            <a:fld id="{4C0FF8ED-6822-3144-A2F5-156B2A6EE514}" type="slidenum">
              <a:rPr kumimoji="1" lang="zh-CN" altLang="en-US" smtClean="0"/>
            </a:fld>
            <a:endParaRPr kumimoji="1"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穿越系统采用制备树和制备规则结合控制血液制备</a:t>
            </a:r>
            <a:endParaRPr kumimoji="1" lang="zh-CN" altLang="en-US" dirty="0"/>
          </a:p>
        </p:txBody>
      </p:sp>
      <p:sp>
        <p:nvSpPr>
          <p:cNvPr id="4" name="幻灯片编号占位符 3"/>
          <p:cNvSpPr>
            <a:spLocks noGrp="1"/>
          </p:cNvSpPr>
          <p:nvPr>
            <p:ph type="sldNum" sz="quarter" idx="10"/>
          </p:nvPr>
        </p:nvSpPr>
        <p:spPr/>
        <p:txBody>
          <a:bodyPr/>
          <a:lstStyle/>
          <a:p>
            <a:fld id="{4C0FF8ED-6822-3144-A2F5-156B2A6EE514}" type="slidenum">
              <a:rPr kumimoji="1" lang="zh-CN" altLang="en-US" smtClean="0"/>
            </a:fld>
            <a:endParaRPr kumimoji="1"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穿越系统采用制备树和制备规则结合控制血液制备</a:t>
            </a:r>
            <a:endParaRPr kumimoji="1" lang="zh-CN" altLang="en-US" dirty="0"/>
          </a:p>
        </p:txBody>
      </p:sp>
      <p:sp>
        <p:nvSpPr>
          <p:cNvPr id="4" name="幻灯片编号占位符 3"/>
          <p:cNvSpPr>
            <a:spLocks noGrp="1"/>
          </p:cNvSpPr>
          <p:nvPr>
            <p:ph type="sldNum" sz="quarter" idx="10"/>
          </p:nvPr>
        </p:nvSpPr>
        <p:spPr/>
        <p:txBody>
          <a:bodyPr/>
          <a:lstStyle/>
          <a:p>
            <a:fld id="{4C0FF8ED-6822-3144-A2F5-156B2A6EE514}" type="slidenum">
              <a:rPr kumimoji="1" lang="zh-CN" altLang="en-US" smtClean="0"/>
            </a:fld>
            <a:endParaRPr kumimoji="1"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右边是穿越的智能手持系统</a:t>
            </a:r>
            <a:endParaRPr kumimoji="1" lang="zh-CN" altLang="en-US" dirty="0"/>
          </a:p>
        </p:txBody>
      </p:sp>
      <p:sp>
        <p:nvSpPr>
          <p:cNvPr id="4" name="幻灯片编号占位符 3"/>
          <p:cNvSpPr>
            <a:spLocks noGrp="1"/>
          </p:cNvSpPr>
          <p:nvPr>
            <p:ph type="sldNum" sz="quarter" idx="10"/>
          </p:nvPr>
        </p:nvSpPr>
        <p:spPr/>
        <p:txBody>
          <a:bodyPr/>
          <a:lstStyle/>
          <a:p>
            <a:fld id="{4C0FF8ED-6822-3144-A2F5-156B2A6EE514}" type="slidenum">
              <a:rPr kumimoji="1" lang="zh-CN" altLang="en-US" smtClean="0"/>
            </a:fld>
            <a:endParaRPr kumimoji="1"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穿越公司开发的“血液成分综合管理平台”的应用</a:t>
            </a:r>
            <a:endParaRPr kumimoji="1" lang="zh-CN" altLang="en-US" dirty="0"/>
          </a:p>
        </p:txBody>
      </p:sp>
      <p:sp>
        <p:nvSpPr>
          <p:cNvPr id="4" name="幻灯片编号占位符 3"/>
          <p:cNvSpPr>
            <a:spLocks noGrp="1"/>
          </p:cNvSpPr>
          <p:nvPr>
            <p:ph type="sldNum" sz="quarter" idx="10"/>
          </p:nvPr>
        </p:nvSpPr>
        <p:spPr/>
        <p:txBody>
          <a:bodyPr/>
          <a:lstStyle/>
          <a:p>
            <a:fld id="{4C0FF8ED-6822-3144-A2F5-156B2A6EE514}" type="slidenum">
              <a:rPr kumimoji="1" lang="zh-CN" altLang="en-US" smtClean="0"/>
            </a:fld>
            <a:endParaRPr kumimoji="1"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穿越公司开发的“血液成分综合管理平台”的应用</a:t>
            </a:r>
            <a:endParaRPr kumimoji="1" lang="zh-CN" altLang="en-US" dirty="0"/>
          </a:p>
        </p:txBody>
      </p:sp>
      <p:sp>
        <p:nvSpPr>
          <p:cNvPr id="4" name="幻灯片编号占位符 3"/>
          <p:cNvSpPr>
            <a:spLocks noGrp="1"/>
          </p:cNvSpPr>
          <p:nvPr>
            <p:ph type="sldNum" sz="quarter" idx="10"/>
          </p:nvPr>
        </p:nvSpPr>
        <p:spPr/>
        <p:txBody>
          <a:bodyPr/>
          <a:lstStyle/>
          <a:p>
            <a:fld id="{4C0FF8ED-6822-3144-A2F5-156B2A6EE514}" type="slidenum">
              <a:rPr kumimoji="1" lang="zh-CN" altLang="en-US" smtClean="0"/>
            </a:fld>
            <a:endParaRPr kumimoji="1"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穿越公司开发“异构系统的分布式集中化检测”在重庆市血液中心获得应用。</a:t>
            </a:r>
            <a:endParaRPr kumimoji="1" lang="zh-CN" altLang="en-US" dirty="0"/>
          </a:p>
        </p:txBody>
      </p:sp>
      <p:sp>
        <p:nvSpPr>
          <p:cNvPr id="4" name="幻灯片编号占位符 3"/>
          <p:cNvSpPr>
            <a:spLocks noGrp="1"/>
          </p:cNvSpPr>
          <p:nvPr>
            <p:ph type="sldNum" sz="quarter" idx="10"/>
          </p:nvPr>
        </p:nvSpPr>
        <p:spPr/>
        <p:txBody>
          <a:bodyPr/>
          <a:lstStyle/>
          <a:p>
            <a:fld id="{4C0FF8ED-6822-3144-A2F5-156B2A6EE514}" type="slidenum">
              <a:rPr kumimoji="1" lang="zh-CN" altLang="en-US" smtClean="0"/>
            </a:fld>
            <a:endParaRPr kumimoji="1"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穿越系统中的</a:t>
            </a:r>
            <a:r>
              <a:rPr kumimoji="1" lang="en-US" altLang="zh-CN" dirty="0"/>
              <a:t>4</a:t>
            </a:r>
            <a:r>
              <a:rPr kumimoji="1" lang="zh-CN" altLang="en-US" dirty="0"/>
              <a:t>个关键环节和</a:t>
            </a:r>
            <a:r>
              <a:rPr kumimoji="1" lang="en-US" altLang="zh-CN" dirty="0"/>
              <a:t>14</a:t>
            </a:r>
            <a:r>
              <a:rPr kumimoji="1" lang="zh-CN" altLang="en-US" dirty="0"/>
              <a:t>种业务管理安全控制等机制</a:t>
            </a:r>
            <a:endParaRPr kumimoji="1" lang="zh-CN" altLang="en-US" dirty="0"/>
          </a:p>
        </p:txBody>
      </p:sp>
      <p:sp>
        <p:nvSpPr>
          <p:cNvPr id="4" name="幻灯片编号占位符 3"/>
          <p:cNvSpPr>
            <a:spLocks noGrp="1"/>
          </p:cNvSpPr>
          <p:nvPr>
            <p:ph type="sldNum" sz="quarter" idx="10"/>
          </p:nvPr>
        </p:nvSpPr>
        <p:spPr/>
        <p:txBody>
          <a:bodyPr/>
          <a:lstStyle/>
          <a:p>
            <a:fld id="{4C0FF8ED-6822-3144-A2F5-156B2A6EE514}" type="slidenum">
              <a:rPr kumimoji="1" lang="zh-CN" altLang="en-US" smtClean="0"/>
            </a:fld>
            <a:endParaRPr kumimoji="1"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4C0FF8ED-6822-3144-A2F5-156B2A6EE514}" type="slidenum">
              <a:rPr kumimoji="1" lang="zh-CN" altLang="en-US" smtClean="0"/>
            </a:fld>
            <a:endParaRPr kumimoji="1"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zh-CN" altLang="en-US"/>
              <a:t>单击此处编辑母版标题样式</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316EA244-0D5C-4743-84E8-E6DFC6F0C1C4}" type="datetimeFigureOut">
              <a:rPr kumimoji="1" lang="zh-CN" altLang="en-US" smtClean="0"/>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C30B2E13-5769-7C48-967F-9F592C3FED40}" type="slidenum">
              <a:rPr kumimoji="1" lang="zh-CN" altLang="en-US" smtClean="0"/>
            </a:fld>
            <a:endParaRPr kumimoji="1"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7" name="Date Placeholder 3"/>
          <p:cNvSpPr>
            <a:spLocks noGrp="1"/>
          </p:cNvSpPr>
          <p:nvPr>
            <p:ph type="dt" sz="half" idx="10"/>
          </p:nvPr>
        </p:nvSpPr>
        <p:spPr/>
        <p:txBody>
          <a:bodyPr/>
          <a:lstStyle/>
          <a:p>
            <a:fld id="{316EA244-0D5C-4743-84E8-E6DFC6F0C1C4}" type="datetimeFigureOut">
              <a:rPr kumimoji="1" lang="zh-CN" altLang="en-US" smtClean="0"/>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C30B2E13-5769-7C48-967F-9F592C3FED40}" type="slidenum">
              <a:rPr kumimoji="1" lang="zh-CN" altLang="en-US" smtClean="0"/>
            </a:fld>
            <a:endParaRPr kumimoji="1"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316EA244-0D5C-4743-84E8-E6DFC6F0C1C4}" type="datetimeFigureOut">
              <a:rPr kumimoji="1" lang="zh-CN" altLang="en-US" smtClean="0"/>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C30B2E13-5769-7C48-967F-9F592C3FED40}" type="slidenum">
              <a:rPr kumimoji="1" lang="zh-CN" altLang="en-US" smtClean="0"/>
            </a:fld>
            <a:endParaRPr kumimoji="1"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Date Placeholder 4"/>
          <p:cNvSpPr>
            <a:spLocks noGrp="1"/>
          </p:cNvSpPr>
          <p:nvPr>
            <p:ph type="dt" sz="half" idx="10"/>
          </p:nvPr>
        </p:nvSpPr>
        <p:spPr/>
        <p:txBody>
          <a:bodyPr/>
          <a:lstStyle/>
          <a:p>
            <a:fld id="{316EA244-0D5C-4743-84E8-E6DFC6F0C1C4}" type="datetimeFigureOut">
              <a:rPr kumimoji="1" lang="zh-CN" altLang="en-US" smtClean="0"/>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C30B2E13-5769-7C48-967F-9F592C3FED40}" type="slidenum">
              <a:rPr kumimoji="1" lang="zh-CN" altLang="en-US" smtClean="0"/>
            </a:fld>
            <a:endParaRPr kumimoji="1"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7" name="Date Placeholder 6"/>
          <p:cNvSpPr>
            <a:spLocks noGrp="1"/>
          </p:cNvSpPr>
          <p:nvPr>
            <p:ph type="dt" sz="half" idx="10"/>
          </p:nvPr>
        </p:nvSpPr>
        <p:spPr/>
        <p:txBody>
          <a:bodyPr/>
          <a:lstStyle/>
          <a:p>
            <a:fld id="{316EA244-0D5C-4743-84E8-E6DFC6F0C1C4}" type="datetimeFigureOut">
              <a:rPr kumimoji="1" lang="zh-CN" altLang="en-US" smtClean="0"/>
            </a:fld>
            <a:endParaRPr kumimoji="1" lang="zh-CN" altLang="en-US"/>
          </a:p>
        </p:txBody>
      </p:sp>
      <p:sp>
        <p:nvSpPr>
          <p:cNvPr id="8" name="Footer Placeholder 7"/>
          <p:cNvSpPr>
            <a:spLocks noGrp="1"/>
          </p:cNvSpPr>
          <p:nvPr>
            <p:ph type="ftr" sz="quarter" idx="11"/>
          </p:nvPr>
        </p:nvSpPr>
        <p:spPr/>
        <p:txBody>
          <a:bodyPr/>
          <a:lstStyle/>
          <a:p>
            <a:endParaRPr kumimoji="1" lang="zh-CN" altLang="en-US"/>
          </a:p>
        </p:txBody>
      </p:sp>
      <p:sp>
        <p:nvSpPr>
          <p:cNvPr id="9" name="Slide Number Placeholder 8"/>
          <p:cNvSpPr>
            <a:spLocks noGrp="1"/>
          </p:cNvSpPr>
          <p:nvPr>
            <p:ph type="sldNum" sz="quarter" idx="12"/>
          </p:nvPr>
        </p:nvSpPr>
        <p:spPr/>
        <p:txBody>
          <a:bodyPr/>
          <a:lstStyle/>
          <a:p>
            <a:fld id="{C30B2E13-5769-7C48-967F-9F592C3FED40}" type="slidenum">
              <a:rPr kumimoji="1" lang="zh-CN" altLang="en-US" smtClean="0"/>
            </a:fld>
            <a:endParaRPr kumimoji="1"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7" name="Date Placeholder 2"/>
          <p:cNvSpPr>
            <a:spLocks noGrp="1"/>
          </p:cNvSpPr>
          <p:nvPr>
            <p:ph type="dt" sz="half" idx="10"/>
          </p:nvPr>
        </p:nvSpPr>
        <p:spPr/>
        <p:txBody>
          <a:bodyPr/>
          <a:lstStyle/>
          <a:p>
            <a:fld id="{316EA244-0D5C-4743-84E8-E6DFC6F0C1C4}" type="datetimeFigureOut">
              <a:rPr kumimoji="1" lang="zh-CN" altLang="en-US" smtClean="0"/>
            </a:fld>
            <a:endParaRPr kumimoji="1" lang="zh-CN" altLang="en-US"/>
          </a:p>
        </p:txBody>
      </p:sp>
      <p:sp>
        <p:nvSpPr>
          <p:cNvPr id="5" name="Footer Placeholder 3"/>
          <p:cNvSpPr>
            <a:spLocks noGrp="1"/>
          </p:cNvSpPr>
          <p:nvPr>
            <p:ph type="ftr" sz="quarter" idx="11"/>
          </p:nvPr>
        </p:nvSpPr>
        <p:spPr/>
        <p:txBody>
          <a:bodyPr/>
          <a:lstStyle/>
          <a:p>
            <a:endParaRPr kumimoji="1" lang="zh-CN" altLang="en-US"/>
          </a:p>
        </p:txBody>
      </p:sp>
      <p:sp>
        <p:nvSpPr>
          <p:cNvPr id="6" name="Slide Number Placeholder 4"/>
          <p:cNvSpPr>
            <a:spLocks noGrp="1"/>
          </p:cNvSpPr>
          <p:nvPr>
            <p:ph type="sldNum" sz="quarter" idx="12"/>
          </p:nvPr>
        </p:nvSpPr>
        <p:spPr/>
        <p:txBody>
          <a:bodyPr/>
          <a:lstStyle/>
          <a:p>
            <a:fld id="{C30B2E13-5769-7C48-967F-9F592C3FED40}" type="slidenum">
              <a:rPr kumimoji="1" lang="zh-CN" altLang="en-US" smtClean="0"/>
            </a:fld>
            <a:endParaRPr kumimoji="1"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316EA244-0D5C-4743-84E8-E6DFC6F0C1C4}" type="datetimeFigureOut">
              <a:rPr kumimoji="1" lang="zh-CN" altLang="en-US" smtClean="0"/>
            </a:fld>
            <a:endParaRPr kumimoji="1" lang="zh-CN" altLang="en-US"/>
          </a:p>
        </p:txBody>
      </p:sp>
      <p:sp>
        <p:nvSpPr>
          <p:cNvPr id="5" name="Footer Placeholder 2"/>
          <p:cNvSpPr>
            <a:spLocks noGrp="1"/>
          </p:cNvSpPr>
          <p:nvPr>
            <p:ph type="ftr" sz="quarter" idx="11"/>
          </p:nvPr>
        </p:nvSpPr>
        <p:spPr/>
        <p:txBody>
          <a:bodyPr/>
          <a:lstStyle/>
          <a:p>
            <a:endParaRPr kumimoji="1" lang="zh-CN" altLang="en-US"/>
          </a:p>
        </p:txBody>
      </p:sp>
      <p:sp>
        <p:nvSpPr>
          <p:cNvPr id="6" name="Slide Number Placeholder 3"/>
          <p:cNvSpPr>
            <a:spLocks noGrp="1"/>
          </p:cNvSpPr>
          <p:nvPr>
            <p:ph type="sldNum" sz="quarter" idx="12"/>
          </p:nvPr>
        </p:nvSpPr>
        <p:spPr/>
        <p:txBody>
          <a:bodyPr/>
          <a:lstStyle/>
          <a:p>
            <a:fld id="{C30B2E13-5769-7C48-967F-9F592C3FED40}" type="slidenum">
              <a:rPr kumimoji="1" lang="zh-CN" altLang="en-US" smtClean="0"/>
            </a:fld>
            <a:endParaRPr kumimoji="1"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zh-CN" altLang="en-US"/>
              <a:t>单击此处编辑母版标题样式</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7" name="Date Placeholder 4"/>
          <p:cNvSpPr>
            <a:spLocks noGrp="1"/>
          </p:cNvSpPr>
          <p:nvPr>
            <p:ph type="dt" sz="half" idx="10"/>
          </p:nvPr>
        </p:nvSpPr>
        <p:spPr/>
        <p:txBody>
          <a:bodyPr/>
          <a:lstStyle/>
          <a:p>
            <a:fld id="{316EA244-0D5C-4743-84E8-E6DFC6F0C1C4}" type="datetimeFigureOut">
              <a:rPr kumimoji="1" lang="zh-CN" altLang="en-US" smtClean="0"/>
            </a:fld>
            <a:endParaRPr kumimoji="1" lang="zh-CN" altLang="en-US"/>
          </a:p>
        </p:txBody>
      </p:sp>
      <p:sp>
        <p:nvSpPr>
          <p:cNvPr id="5" name="Footer Placeholder 5"/>
          <p:cNvSpPr>
            <a:spLocks noGrp="1"/>
          </p:cNvSpPr>
          <p:nvPr>
            <p:ph type="ftr" sz="quarter" idx="11"/>
          </p:nvPr>
        </p:nvSpPr>
        <p:spPr/>
        <p:txBody>
          <a:bodyPr/>
          <a:lstStyle/>
          <a:p>
            <a:endParaRPr kumimoji="1" lang="zh-CN" altLang="en-US"/>
          </a:p>
        </p:txBody>
      </p:sp>
      <p:sp>
        <p:nvSpPr>
          <p:cNvPr id="6" name="Slide Number Placeholder 6"/>
          <p:cNvSpPr>
            <a:spLocks noGrp="1"/>
          </p:cNvSpPr>
          <p:nvPr>
            <p:ph type="sldNum" sz="quarter" idx="12"/>
          </p:nvPr>
        </p:nvSpPr>
        <p:spPr/>
        <p:txBody>
          <a:bodyPr/>
          <a:lstStyle/>
          <a:p>
            <a:fld id="{C30B2E13-5769-7C48-967F-9F592C3FED40}" type="slidenum">
              <a:rPr kumimoji="1" lang="zh-CN" altLang="en-US" smtClean="0"/>
            </a:fld>
            <a:endParaRPr kumimoji="1"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zh-CN" altLang="en-US"/>
              <a:t>单击此处编辑母版标题样式</a:t>
            </a:r>
            <a:endParaRPr lang="en-US" dirty="0"/>
          </a:p>
        </p:txBody>
      </p:sp>
      <p:sp>
        <p:nvSpPr>
          <p:cNvPr id="3" name="Picture Placeholder 2"/>
          <p:cNvSpPr>
            <a:spLocks noGrp="1" noChangeAspect="1"/>
          </p:cNvSpPr>
          <p:nvPr>
            <p:ph type="pic" idx="1" hasCustomPrompt="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将图片拖动到占位符，或单击添加图标</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316EA244-0D5C-4743-84E8-E6DFC6F0C1C4}" type="datetimeFigureOut">
              <a:rPr kumimoji="1" lang="zh-CN" altLang="en-US" smtClean="0"/>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C30B2E13-5769-7C48-967F-9F592C3FED40}" type="slidenum">
              <a:rPr kumimoji="1" lang="zh-CN" altLang="en-US" smtClean="0"/>
            </a:fld>
            <a:endParaRPr kumimoji="1"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带标题的全景图片">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zh-CN" altLang="en-US"/>
              <a:t>单击此处编辑母版标题样式</a:t>
            </a:r>
            <a:endParaRPr lang="en-US" dirty="0"/>
          </a:p>
        </p:txBody>
      </p:sp>
      <p:sp>
        <p:nvSpPr>
          <p:cNvPr id="3" name="Picture Placeholder 2"/>
          <p:cNvSpPr>
            <a:spLocks noGrp="1" noChangeAspect="1"/>
          </p:cNvSpPr>
          <p:nvPr>
            <p:ph type="pic" idx="1" hasCustomPrompt="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将图片拖动到占位符，或单击添加图标</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316EA244-0D5C-4743-84E8-E6DFC6F0C1C4}" type="datetimeFigureOut">
              <a:rPr kumimoji="1" lang="zh-CN" altLang="en-US" smtClean="0"/>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C30B2E13-5769-7C48-967F-9F592C3FED40}" type="slidenum">
              <a:rPr kumimoji="1" lang="zh-CN" altLang="en-US" smtClean="0"/>
            </a:fld>
            <a:endParaRPr kumimoji="1"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标题和题注">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zh-CN" altLang="en-US"/>
              <a:t>单击此处编辑母版标题样式</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316EA244-0D5C-4743-84E8-E6DFC6F0C1C4}" type="datetimeFigureOut">
              <a:rPr kumimoji="1" lang="zh-CN" altLang="en-US" smtClean="0"/>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C30B2E13-5769-7C48-967F-9F592C3FED40}" type="slidenum">
              <a:rPr kumimoji="1" lang="zh-CN" altLang="en-US" smtClean="0"/>
            </a:fld>
            <a:endParaRPr kumimoji="1"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带标题的引述">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zh-CN" altLang="en-US"/>
              <a:t>单击此处编辑母版标题样式</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zh-CN" altLang="en-US"/>
              <a:t>单击此处编辑母版文本样式</a:t>
            </a:r>
            <a:endParaRPr lang="zh-CN" altLang="en-US"/>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316EA244-0D5C-4743-84E8-E6DFC6F0C1C4}" type="datetimeFigureOut">
              <a:rPr kumimoji="1" lang="zh-CN" altLang="en-US" smtClean="0"/>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C30B2E13-5769-7C48-967F-9F592C3FED40}" type="slidenum">
              <a:rPr kumimoji="1" lang="zh-CN" altLang="en-US" smtClean="0"/>
            </a:fld>
            <a:endParaRPr kumimoji="1" lang="zh-CN" alt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panose="020B0604020202090204"/>
                <a:ea typeface="+mj-ea"/>
                <a:cs typeface="+mj-cs"/>
              </a:defRPr>
            </a:lvl1pPr>
          </a:lstStyle>
          <a:p>
            <a:pPr lvl="0"/>
            <a:r>
              <a:rPr lang="en-US" dirty="0"/>
              <a:t>“</a:t>
            </a:r>
            <a:endParaRPr lang="en-US" dirty="0"/>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panose="020B0604020202090204"/>
                <a:ea typeface="+mj-ea"/>
                <a:cs typeface="+mj-cs"/>
              </a:defRPr>
            </a:lvl1pPr>
          </a:lstStyle>
          <a:p>
            <a:pPr lvl="0"/>
            <a:r>
              <a:rPr lang="en-US" dirty="0"/>
              <a:t>”</a:t>
            </a:r>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316EA244-0D5C-4743-84E8-E6DFC6F0C1C4}" type="datetimeFigureOut">
              <a:rPr kumimoji="1" lang="zh-CN" altLang="en-US" smtClean="0"/>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C30B2E13-5769-7C48-967F-9F592C3FED40}" type="slidenum">
              <a:rPr kumimoji="1" lang="zh-CN" altLang="en-US" smtClean="0"/>
            </a:fld>
            <a:endParaRPr kumimoji="1"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三栏">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zh-CN" altLang="en-US"/>
              <a:t>单击此处编辑母版标题样式</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316EA244-0D5C-4743-84E8-E6DFC6F0C1C4}" type="datetimeFigureOut">
              <a:rPr kumimoji="1" lang="zh-CN" altLang="en-US" smtClean="0"/>
            </a:fld>
            <a:endParaRPr kumimoji="1" lang="zh-CN" altLang="en-US"/>
          </a:p>
        </p:txBody>
      </p:sp>
      <p:sp>
        <p:nvSpPr>
          <p:cNvPr id="4"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C30B2E13-5769-7C48-967F-9F592C3FED40}" type="slidenum">
              <a:rPr kumimoji="1" lang="zh-CN" altLang="en-US" smtClean="0"/>
            </a:fld>
            <a:endParaRPr kumimoji="1"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三栏图片">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zh-CN" altLang="en-US"/>
              <a:t>单击此处编辑母版标题样式</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29" name="Picture Placeholder 2"/>
          <p:cNvSpPr>
            <a:spLocks noGrp="1" noChangeAspect="1"/>
          </p:cNvSpPr>
          <p:nvPr>
            <p:ph type="pic" idx="15" hasCustomPrompt="1"/>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将图片拖动到占位符，或单击添加图标</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30" name="Picture Placeholder 2"/>
          <p:cNvSpPr>
            <a:spLocks noGrp="1" noChangeAspect="1"/>
          </p:cNvSpPr>
          <p:nvPr>
            <p:ph type="pic" idx="21" hasCustomPrompt="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将图片拖动到占位符，或单击添加图标</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31" name="Picture Placeholder 2"/>
          <p:cNvSpPr>
            <a:spLocks noGrp="1" noChangeAspect="1"/>
          </p:cNvSpPr>
          <p:nvPr>
            <p:ph type="pic" idx="22" hasCustomPrompt="1"/>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将图片拖动到占位符，或单击添加图标</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316EA244-0D5C-4743-84E8-E6DFC6F0C1C4}" type="datetimeFigureOut">
              <a:rPr kumimoji="1" lang="zh-CN" altLang="en-US" smtClean="0"/>
            </a:fld>
            <a:endParaRPr kumimoji="1" lang="zh-CN" altLang="en-US"/>
          </a:p>
        </p:txBody>
      </p:sp>
      <p:sp>
        <p:nvSpPr>
          <p:cNvPr id="4"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C30B2E13-5769-7C48-967F-9F592C3FED40}" type="slidenum">
              <a:rPr kumimoji="1" lang="zh-CN" altLang="en-US" smtClean="0"/>
            </a:fld>
            <a:endParaRPr kumimoji="1"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nchor="t" anchorCtr="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316EA244-0D5C-4743-84E8-E6DFC6F0C1C4}" type="datetimeFigureOut">
              <a:rPr kumimoji="1" lang="zh-CN" altLang="en-US" smtClean="0"/>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C30B2E13-5769-7C48-967F-9F592C3FED40}" type="slidenum">
              <a:rPr kumimoji="1" lang="zh-CN" altLang="en-US" smtClean="0"/>
            </a:fld>
            <a:endParaRPr kumimoji="1"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316EA244-0D5C-4743-84E8-E6DFC6F0C1C4}" type="datetimeFigureOut">
              <a:rPr kumimoji="1" lang="zh-CN" altLang="en-US" smtClean="0"/>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C30B2E13-5769-7C48-967F-9F592C3FED40}" type="slidenum">
              <a:rPr kumimoji="1" lang="zh-CN" altLang="en-US" smtClean="0"/>
            </a:fld>
            <a:endParaRPr kumimoji="1"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2" Type="http://schemas.openxmlformats.org/officeDocument/2006/relationships/theme" Target="../theme/theme1.xml"/><Relationship Id="rId21" Type="http://schemas.openxmlformats.org/officeDocument/2006/relationships/image" Target="../media/image4.png"/><Relationship Id="rId20" Type="http://schemas.openxmlformats.org/officeDocument/2006/relationships/image" Target="../media/image3.png"/><Relationship Id="rId2" Type="http://schemas.openxmlformats.org/officeDocument/2006/relationships/slideLayout" Target="../slideLayouts/slideLayout2.xml"/><Relationship Id="rId19" Type="http://schemas.openxmlformats.org/officeDocument/2006/relationships/image" Target="../media/image2.png"/><Relationship Id="rId18" Type="http://schemas.openxmlformats.org/officeDocument/2006/relationships/image" Target="../media/image1.png"/><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8">
            <a:extLst>
              <a:ext uri="{28A0092B-C50C-407E-A947-70E740481C1C}">
                <a14:useLocalDpi xmlns:a14="http://schemas.microsoft.com/office/drawing/2010/main" val="0"/>
              </a:ext>
            </a:extLst>
          </a:blip>
          <a:srcRect l="3613"/>
          <a:stretch>
            <a:fillRect/>
          </a:stretch>
        </p:blipFill>
        <p:spPr>
          <a:xfrm>
            <a:off x="0" y="2669685"/>
            <a:ext cx="4037012" cy="4188315"/>
          </a:xfrm>
          <a:prstGeom prst="rect">
            <a:avLst/>
          </a:prstGeom>
        </p:spPr>
      </p:pic>
      <p:pic>
        <p:nvPicPr>
          <p:cNvPr id="7" name="Picture 6"/>
          <p:cNvPicPr>
            <a:picLocks noChangeAspect="1"/>
          </p:cNvPicPr>
          <p:nvPr/>
        </p:nvPicPr>
        <p:blipFill rotWithShape="1">
          <a:blip r:embed="rId19">
            <a:extLst>
              <a:ext uri="{28A0092B-C50C-407E-A947-70E740481C1C}">
                <a14:useLocalDpi xmlns:a14="http://schemas.microsoft.com/office/drawing/2010/main" val="0"/>
              </a:ext>
            </a:extLst>
          </a:blip>
          <a:srcRect l="35640"/>
          <a:stretch>
            <a:fillRect/>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0">
            <a:extLst>
              <a:ext uri="{28A0092B-C50C-407E-A947-70E740481C1C}">
                <a14:useLocalDpi xmlns:a14="http://schemas.microsoft.com/office/drawing/2010/main" val="0"/>
              </a:ext>
            </a:extLst>
          </a:blip>
          <a:srcRect t="28813"/>
          <a:stretch>
            <a:fillRect/>
          </a:stretch>
        </p:blipFill>
        <p:spPr>
          <a:xfrm>
            <a:off x="7999412" y="0"/>
            <a:ext cx="1603387" cy="1141407"/>
          </a:xfrm>
          <a:prstGeom prst="rect">
            <a:avLst/>
          </a:prstGeom>
        </p:spPr>
      </p:pic>
      <p:pic>
        <p:nvPicPr>
          <p:cNvPr id="10" name="Picture 9"/>
          <p:cNvPicPr>
            <a:picLocks noChangeAspect="1"/>
          </p:cNvPicPr>
          <p:nvPr/>
        </p:nvPicPr>
        <p:blipFill rotWithShape="1">
          <a:blip r:embed="rId21">
            <a:extLst>
              <a:ext uri="{28A0092B-C50C-407E-A947-70E740481C1C}">
                <a14:useLocalDpi xmlns:a14="http://schemas.microsoft.com/office/drawing/2010/main" val="0"/>
              </a:ext>
            </a:extLst>
          </a:blip>
          <a:srcRect b="23320"/>
          <a:stretch>
            <a:fillRect/>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316EA244-0D5C-4743-84E8-E6DFC6F0C1C4}" type="datetimeFigureOut">
              <a:rPr kumimoji="1" lang="zh-CN" altLang="en-US" smtClean="0"/>
            </a:fld>
            <a:endParaRPr kumimoji="1" lang="zh-CN" alt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kumimoji="1" lang="zh-CN" alt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C30B2E13-5769-7C48-967F-9F592C3FED40}" type="slidenum">
              <a:rPr kumimoji="1" lang="zh-CN" altLang="en-US" smtClean="0"/>
            </a:fld>
            <a:endParaRPr kumimoji="1" lang="zh-CN" alt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0571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2.xml"/><Relationship Id="rId2" Type="http://schemas.openxmlformats.org/officeDocument/2006/relationships/image" Target="../media/image9.jpeg"/><Relationship Id="rId1" Type="http://schemas.openxmlformats.org/officeDocument/2006/relationships/image" Target="../media/image8.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10.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154954" y="1104900"/>
            <a:ext cx="9957546" cy="3672481"/>
          </a:xfrm>
        </p:spPr>
        <p:txBody>
          <a:bodyPr/>
          <a:lstStyle/>
          <a:p>
            <a:pPr algn="ctr"/>
            <a:r>
              <a:rPr kumimoji="1" lang="zh-CN" altLang="en-US" sz="4800" b="1" dirty="0"/>
              <a:t>血液行业规范和标准的解读</a:t>
            </a:r>
            <a:br>
              <a:rPr kumimoji="1" lang="zh-CN" altLang="en-US" sz="6000" b="1" dirty="0"/>
            </a:br>
            <a:r>
              <a:rPr kumimoji="1" lang="zh-CN" altLang="en-US" sz="3600" b="1" dirty="0"/>
              <a:t>（</a:t>
            </a:r>
            <a:r>
              <a:rPr kumimoji="1" lang="en-US" altLang="zh-CN" sz="3600" b="1" dirty="0"/>
              <a:t>2020</a:t>
            </a:r>
            <a:r>
              <a:rPr kumimoji="1" lang="zh-CN" altLang="en-US" sz="3600" b="1" dirty="0"/>
              <a:t>版）</a:t>
            </a:r>
            <a:br>
              <a:rPr kumimoji="1" lang="zh-CN" altLang="en-US" sz="6600" b="1" dirty="0"/>
            </a:br>
            <a:br>
              <a:rPr kumimoji="1" lang="zh-CN" altLang="en-US" sz="4800" b="1" dirty="0"/>
            </a:br>
            <a:endParaRPr kumimoji="1" lang="zh-CN" altLang="en-US" sz="4800" b="1" dirty="0"/>
          </a:p>
        </p:txBody>
      </p:sp>
      <p:sp>
        <p:nvSpPr>
          <p:cNvPr id="3" name="副标题 2"/>
          <p:cNvSpPr>
            <a:spLocks noGrp="1"/>
          </p:cNvSpPr>
          <p:nvPr>
            <p:ph type="subTitle" idx="1"/>
          </p:nvPr>
        </p:nvSpPr>
        <p:spPr>
          <a:xfrm>
            <a:off x="1154954" y="4777380"/>
            <a:ext cx="9957545" cy="1382120"/>
          </a:xfrm>
        </p:spPr>
        <p:txBody>
          <a:bodyPr>
            <a:normAutofit/>
          </a:bodyPr>
          <a:lstStyle/>
          <a:p>
            <a:pPr algn="ctr"/>
            <a:r>
              <a:rPr kumimoji="1" lang="zh-CN" altLang="en-US" sz="2400" b="1" dirty="0"/>
              <a:t>广东穿越医疗科技有限公司</a:t>
            </a:r>
            <a:endParaRPr kumimoji="1" lang="zh-CN" altLang="en-US" sz="2400" b="1" dirty="0"/>
          </a:p>
          <a:p>
            <a:pPr algn="ctr"/>
            <a:r>
              <a:rPr kumimoji="1" lang="zh-CN" altLang="en-US" sz="2400" b="1" dirty="0"/>
              <a:t>陈哲锋</a:t>
            </a:r>
            <a:endParaRPr kumimoji="1" lang="zh-CN" altLang="en-US" sz="24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4000" b="1" dirty="0"/>
              <a:t>目录</a:t>
            </a:r>
            <a:endParaRPr kumimoji="1" lang="zh-CN" altLang="en-US" sz="4000" b="1" dirty="0"/>
          </a:p>
        </p:txBody>
      </p:sp>
      <p:sp>
        <p:nvSpPr>
          <p:cNvPr id="3" name="内容占位符 2"/>
          <p:cNvSpPr>
            <a:spLocks noGrp="1"/>
          </p:cNvSpPr>
          <p:nvPr>
            <p:ph idx="1"/>
          </p:nvPr>
        </p:nvSpPr>
        <p:spPr>
          <a:xfrm>
            <a:off x="1260000" y="1620000"/>
            <a:ext cx="9146743" cy="4195481"/>
          </a:xfrm>
        </p:spPr>
        <p:txBody>
          <a:bodyPr>
            <a:normAutofit lnSpcReduction="10000"/>
          </a:bodyPr>
          <a:lstStyle/>
          <a:p>
            <a:pPr>
              <a:lnSpc>
                <a:spcPct val="160000"/>
              </a:lnSpc>
              <a:buSzPct val="60000"/>
              <a:buFont typeface="Wingdings" panose="05000000000000000000" pitchFamily="2" charset="2"/>
              <a:buChar char="u"/>
              <a:defRPr/>
            </a:pPr>
            <a:r>
              <a:rPr lang="zh-CN" altLang="en-US" sz="2400" b="1" dirty="0">
                <a:latin typeface="+mn-ea"/>
                <a:ea typeface="+mn-ea"/>
              </a:rPr>
              <a:t>法规和标准的理解</a:t>
            </a:r>
            <a:endParaRPr lang="zh-CN" altLang="en-US" sz="2400" b="1" dirty="0">
              <a:latin typeface="+mn-ea"/>
              <a:ea typeface="+mn-ea"/>
            </a:endParaRPr>
          </a:p>
          <a:p>
            <a:pPr>
              <a:lnSpc>
                <a:spcPct val="160000"/>
              </a:lnSpc>
              <a:buSzPct val="60000"/>
              <a:buFont typeface="Wingdings" panose="05000000000000000000" pitchFamily="2" charset="2"/>
              <a:buChar char="u"/>
              <a:defRPr/>
            </a:pPr>
            <a:r>
              <a:rPr lang="en-US" altLang="zh-CN" sz="2400" b="1" dirty="0"/>
              <a:t>《</a:t>
            </a:r>
            <a:r>
              <a:rPr lang="zh-CN" altLang="en-US" sz="2400" b="1" dirty="0"/>
              <a:t>血站技术操作规程（201</a:t>
            </a:r>
            <a:r>
              <a:rPr lang="en-US" altLang="zh-CN" sz="2400" b="1" dirty="0"/>
              <a:t>9</a:t>
            </a:r>
            <a:r>
              <a:rPr lang="zh-CN" altLang="en-US" sz="2400" b="1" dirty="0"/>
              <a:t>版）</a:t>
            </a:r>
            <a:r>
              <a:rPr lang="en-US" altLang="zh-CN" sz="2400" b="1" dirty="0"/>
              <a:t>》</a:t>
            </a:r>
            <a:endParaRPr lang="en-US" altLang="zh-CN" sz="2400" dirty="0">
              <a:latin typeface="微软雅黑" panose="020B0503020204020204" charset="-122"/>
              <a:ea typeface="微软雅黑" panose="020B0503020204020204" charset="-122"/>
              <a:sym typeface="+mn-ea"/>
            </a:endParaRPr>
          </a:p>
          <a:p>
            <a:pPr>
              <a:lnSpc>
                <a:spcPct val="160000"/>
              </a:lnSpc>
              <a:buSzPct val="60000"/>
              <a:buFont typeface="Wingdings" panose="05000000000000000000" pitchFamily="2" charset="2"/>
              <a:buChar char="u"/>
              <a:defRPr/>
            </a:pPr>
            <a:r>
              <a:rPr kumimoji="1" lang="zh-CN" altLang="en-US" sz="2400" b="1" dirty="0"/>
              <a:t>小结</a:t>
            </a:r>
            <a:endParaRPr lang="en-US" altLang="zh-CN" sz="2400" b="1" dirty="0"/>
          </a:p>
          <a:p>
            <a:pPr>
              <a:lnSpc>
                <a:spcPct val="160000"/>
              </a:lnSpc>
              <a:buSzPct val="60000"/>
              <a:buFont typeface="Wingdings" panose="05000000000000000000" pitchFamily="2" charset="2"/>
              <a:buChar char="u"/>
              <a:defRPr/>
            </a:pPr>
            <a:endParaRPr lang="en-US" altLang="zh-CN" sz="2400" b="1" dirty="0"/>
          </a:p>
          <a:p>
            <a:pPr marL="0" indent="0">
              <a:buNone/>
            </a:pPr>
            <a:endParaRPr lang="zh-CN" altLang="en-US" sz="2400" b="1" dirty="0">
              <a:latin typeface="+mn-ea"/>
              <a:ea typeface="+mn-ea"/>
            </a:endParaRPr>
          </a:p>
          <a:p>
            <a:pPr marL="0" indent="0">
              <a:buNone/>
            </a:pPr>
            <a:endParaRPr kumimoji="1" lang="zh-CN" altLang="en-US" sz="2400" b="1" dirty="0">
              <a:latin typeface="+mn-ea"/>
              <a:ea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b="1" dirty="0"/>
              <a:t>回顾</a:t>
            </a:r>
            <a:endParaRPr kumimoji="1" lang="zh-CN" altLang="en-US" b="1" dirty="0"/>
          </a:p>
        </p:txBody>
      </p:sp>
      <p:sp>
        <p:nvSpPr>
          <p:cNvPr id="4" name="Text Box 3"/>
          <p:cNvSpPr txBox="1">
            <a:spLocks noChangeArrowheads="1"/>
          </p:cNvSpPr>
          <p:nvPr/>
        </p:nvSpPr>
        <p:spPr bwMode="auto">
          <a:xfrm>
            <a:off x="1136015" y="1443355"/>
            <a:ext cx="10234295" cy="540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spcBef>
                <a:spcPct val="20000"/>
              </a:spcBef>
              <a:buFont typeface="Arial" panose="020B0604020202090204" pitchFamily="34" charset="0"/>
              <a:buChar char="•"/>
              <a:defRPr sz="2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9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9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9pPr>
          </a:lstStyle>
          <a:p>
            <a:pPr>
              <a:lnSpc>
                <a:spcPct val="150000"/>
              </a:lnSpc>
              <a:spcBef>
                <a:spcPct val="0"/>
              </a:spcBef>
              <a:buSzPct val="60000"/>
              <a:buFont typeface="Wingdings" panose="05000000000000000000" pitchFamily="2" charset="2"/>
              <a:buChar char="u"/>
            </a:pPr>
            <a:r>
              <a:rPr lang="zh-CN" altLang="en-US" sz="2400" b="1" dirty="0">
                <a:latin typeface="+mn-ea"/>
                <a:ea typeface="+mn-ea"/>
              </a:rPr>
              <a:t> 1998年 《中华人民共和国献血法》 和 </a:t>
            </a:r>
            <a:r>
              <a:rPr lang="en-US" altLang="zh-CN" sz="2400" b="1" dirty="0">
                <a:latin typeface="+mn-ea"/>
                <a:ea typeface="+mn-ea"/>
              </a:rPr>
              <a:t>《</a:t>
            </a:r>
            <a:r>
              <a:rPr lang="zh-CN" altLang="en-US" sz="2400" b="1" dirty="0">
                <a:latin typeface="+mn-ea"/>
                <a:ea typeface="+mn-ea"/>
              </a:rPr>
              <a:t>血站管理办法</a:t>
            </a:r>
            <a:r>
              <a:rPr lang="en-US" altLang="zh-CN" sz="2400" b="1" dirty="0">
                <a:latin typeface="+mn-ea"/>
                <a:ea typeface="+mn-ea"/>
              </a:rPr>
              <a:t>》</a:t>
            </a:r>
            <a:endParaRPr lang="zh-CN" altLang="en-US" sz="2400" b="1" dirty="0">
              <a:latin typeface="+mn-ea"/>
              <a:ea typeface="+mn-ea"/>
            </a:endParaRPr>
          </a:p>
          <a:p>
            <a:pPr marL="14605" indent="-14605">
              <a:lnSpc>
                <a:spcPct val="150000"/>
              </a:lnSpc>
              <a:spcBef>
                <a:spcPct val="0"/>
              </a:spcBef>
              <a:buSzPct val="60000"/>
              <a:buFont typeface="Wingdings" panose="05000000000000000000" pitchFamily="2" charset="2"/>
              <a:buChar char="u"/>
            </a:pPr>
            <a:r>
              <a:rPr lang="zh-CN" altLang="en-US" sz="2400" b="1" dirty="0">
                <a:latin typeface="+mn-ea"/>
                <a:ea typeface="+mn-ea"/>
              </a:rPr>
              <a:t> 2001年  国家标准：</a:t>
            </a:r>
            <a:r>
              <a:rPr lang="zh-CN" altLang="en-US" sz="2400" b="1" dirty="0">
                <a:solidFill>
                  <a:schemeClr val="tx1"/>
                </a:solidFill>
                <a:latin typeface="+mn-ea"/>
                <a:ea typeface="+mn-ea"/>
              </a:rPr>
              <a:t>《献血者健康检查要求》《全血及成分血质量要求》</a:t>
            </a:r>
            <a:endParaRPr lang="zh-CN" altLang="en-US" sz="2400" b="1" dirty="0">
              <a:solidFill>
                <a:srgbClr val="FFFF00"/>
              </a:solidFill>
              <a:latin typeface="+mn-ea"/>
              <a:ea typeface="+mn-ea"/>
            </a:endParaRPr>
          </a:p>
          <a:p>
            <a:pPr>
              <a:lnSpc>
                <a:spcPct val="150000"/>
              </a:lnSpc>
              <a:spcBef>
                <a:spcPct val="0"/>
              </a:spcBef>
              <a:buSzPct val="60000"/>
              <a:buFont typeface="Wingdings" panose="05000000000000000000" pitchFamily="2" charset="2"/>
              <a:buChar char="u"/>
            </a:pPr>
            <a:r>
              <a:rPr lang="zh-CN" altLang="en-US" sz="2400" b="1" dirty="0">
                <a:latin typeface="+mn-ea"/>
                <a:ea typeface="+mn-ea"/>
              </a:rPr>
              <a:t> 2006年  一法两规：</a:t>
            </a:r>
            <a:r>
              <a:rPr lang="zh-CN" altLang="en-US" sz="2400" b="1" dirty="0">
                <a:solidFill>
                  <a:srgbClr val="FFFF00"/>
                </a:solidFill>
                <a:latin typeface="+mn-ea"/>
                <a:ea typeface="+mn-ea"/>
              </a:rPr>
              <a:t>《血站管理办法》《血站质量管理规范》《血站实验室质量管理规范》</a:t>
            </a:r>
            <a:endParaRPr lang="zh-CN" altLang="en-US" sz="2400" b="1" dirty="0">
              <a:solidFill>
                <a:srgbClr val="FFFF00"/>
              </a:solidFill>
              <a:latin typeface="+mn-ea"/>
              <a:ea typeface="+mn-ea"/>
            </a:endParaRPr>
          </a:p>
          <a:p>
            <a:pPr>
              <a:lnSpc>
                <a:spcPct val="150000"/>
              </a:lnSpc>
              <a:spcBef>
                <a:spcPct val="0"/>
              </a:spcBef>
              <a:buSzPct val="60000"/>
              <a:buFont typeface="Wingdings" panose="05000000000000000000" pitchFamily="2" charset="2"/>
              <a:buChar char="u"/>
            </a:pPr>
            <a:r>
              <a:rPr lang="zh-CN" altLang="en-US" sz="2400" b="1" dirty="0">
                <a:latin typeface="+mn-ea"/>
                <a:ea typeface="+mn-ea"/>
              </a:rPr>
              <a:t> </a:t>
            </a:r>
            <a:r>
              <a:rPr lang="en-US" altLang="zh-CN" sz="2400" b="1" dirty="0">
                <a:latin typeface="+mn-ea"/>
                <a:ea typeface="+mn-ea"/>
              </a:rPr>
              <a:t>2012</a:t>
            </a:r>
            <a:r>
              <a:rPr lang="zh-CN" altLang="en-US" sz="2400" b="1" dirty="0">
                <a:latin typeface="+mn-ea"/>
                <a:ea typeface="+mn-ea"/>
              </a:rPr>
              <a:t>年  新</a:t>
            </a:r>
            <a:r>
              <a:rPr lang="zh-CN" altLang="en-US" sz="2400" b="1" dirty="0">
                <a:latin typeface="+mn-ea"/>
              </a:rPr>
              <a:t>国家标准：</a:t>
            </a:r>
            <a:r>
              <a:rPr lang="zh-CN" altLang="en-US" sz="2400" b="1" dirty="0">
                <a:solidFill>
                  <a:srgbClr val="FFFF00"/>
                </a:solidFill>
                <a:latin typeface="+mn-ea"/>
              </a:rPr>
              <a:t>《献血者健康检查要求》《全血及成分血质量要求》</a:t>
            </a:r>
            <a:endParaRPr lang="zh-CN" altLang="en-US" sz="2400" b="1" dirty="0">
              <a:solidFill>
                <a:srgbClr val="FFFF00"/>
              </a:solidFill>
              <a:latin typeface="+mn-ea"/>
            </a:endParaRPr>
          </a:p>
          <a:p>
            <a:pPr indent="0">
              <a:lnSpc>
                <a:spcPct val="150000"/>
              </a:lnSpc>
              <a:spcBef>
                <a:spcPct val="0"/>
              </a:spcBef>
              <a:buSzPct val="60000"/>
              <a:buFont typeface="Wingdings" panose="05000000000000000000" pitchFamily="2" charset="2"/>
              <a:buNone/>
            </a:pPr>
            <a:r>
              <a:rPr lang="zh-CN" altLang="en-US" sz="2400" b="1" dirty="0">
                <a:solidFill>
                  <a:schemeClr val="tx1"/>
                </a:solidFill>
                <a:latin typeface="+mn-ea"/>
                <a:ea typeface="+mn-ea"/>
                <a:sym typeface="+mn-ea"/>
              </a:rPr>
              <a:t>《血站技术操作规程（201</a:t>
            </a:r>
            <a:r>
              <a:rPr lang="en-US" altLang="zh-CN" sz="2400" b="1" dirty="0">
                <a:solidFill>
                  <a:schemeClr val="tx1"/>
                </a:solidFill>
                <a:latin typeface="+mn-ea"/>
                <a:ea typeface="+mn-ea"/>
                <a:sym typeface="+mn-ea"/>
              </a:rPr>
              <a:t>2</a:t>
            </a:r>
            <a:r>
              <a:rPr lang="zh-CN" altLang="en-US" sz="2400" b="1" dirty="0">
                <a:solidFill>
                  <a:schemeClr val="tx1"/>
                </a:solidFill>
                <a:latin typeface="+mn-ea"/>
                <a:ea typeface="+mn-ea"/>
                <a:sym typeface="+mn-ea"/>
              </a:rPr>
              <a:t>版）》</a:t>
            </a:r>
            <a:endParaRPr lang="zh-CN" altLang="en-US" sz="2400" b="1" dirty="0">
              <a:solidFill>
                <a:schemeClr val="tx1"/>
              </a:solidFill>
              <a:latin typeface="+mn-ea"/>
              <a:ea typeface="+mn-ea"/>
              <a:sym typeface="+mn-ea"/>
            </a:endParaRPr>
          </a:p>
          <a:p>
            <a:pPr>
              <a:lnSpc>
                <a:spcPct val="150000"/>
              </a:lnSpc>
              <a:spcBef>
                <a:spcPct val="0"/>
              </a:spcBef>
              <a:buSzPct val="60000"/>
              <a:buFont typeface="Wingdings" panose="05000000000000000000" charset="0"/>
              <a:buChar char=""/>
            </a:pPr>
            <a:r>
              <a:rPr lang="zh-CN" altLang="en-US" sz="2400" b="1" dirty="0">
                <a:latin typeface="+mn-ea"/>
                <a:ea typeface="+mn-ea"/>
                <a:sym typeface="+mn-ea"/>
              </a:rPr>
              <a:t> 201</a:t>
            </a:r>
            <a:r>
              <a:rPr lang="en-US" altLang="zh-CN" sz="2400" b="1" dirty="0">
                <a:latin typeface="+mn-ea"/>
                <a:ea typeface="+mn-ea"/>
                <a:sym typeface="+mn-ea"/>
              </a:rPr>
              <a:t>5</a:t>
            </a:r>
            <a:r>
              <a:rPr lang="zh-CN" altLang="en-US" sz="2400" b="1" dirty="0">
                <a:latin typeface="+mn-ea"/>
                <a:ea typeface="+mn-ea"/>
                <a:sym typeface="+mn-ea"/>
              </a:rPr>
              <a:t>年  新规范：</a:t>
            </a:r>
            <a:r>
              <a:rPr lang="zh-CN" altLang="en-US" sz="2400" b="1" dirty="0">
                <a:solidFill>
                  <a:schemeClr val="tx1"/>
                </a:solidFill>
                <a:latin typeface="+mn-ea"/>
                <a:ea typeface="+mn-ea"/>
                <a:sym typeface="+mn-ea"/>
              </a:rPr>
              <a:t>《血站技术操作规程（201</a:t>
            </a:r>
            <a:r>
              <a:rPr lang="en-US" altLang="zh-CN" sz="2400" b="1" dirty="0">
                <a:solidFill>
                  <a:schemeClr val="tx1"/>
                </a:solidFill>
                <a:latin typeface="+mn-ea"/>
                <a:ea typeface="+mn-ea"/>
                <a:sym typeface="+mn-ea"/>
              </a:rPr>
              <a:t>5</a:t>
            </a:r>
            <a:r>
              <a:rPr lang="zh-CN" altLang="en-US" sz="2400" b="1" dirty="0">
                <a:solidFill>
                  <a:schemeClr val="tx1"/>
                </a:solidFill>
                <a:latin typeface="+mn-ea"/>
                <a:ea typeface="+mn-ea"/>
                <a:sym typeface="+mn-ea"/>
              </a:rPr>
              <a:t>版）》</a:t>
            </a:r>
            <a:endParaRPr lang="en-US" altLang="zh-CN" sz="2400" b="1" dirty="0">
              <a:latin typeface="+mn-ea"/>
              <a:ea typeface="+mn-ea"/>
            </a:endParaRPr>
          </a:p>
          <a:p>
            <a:pPr>
              <a:lnSpc>
                <a:spcPct val="150000"/>
              </a:lnSpc>
              <a:spcBef>
                <a:spcPct val="0"/>
              </a:spcBef>
              <a:buSzPct val="60000"/>
              <a:buFont typeface="Wingdings" panose="05000000000000000000" pitchFamily="2" charset="2"/>
              <a:buChar char="u"/>
            </a:pPr>
            <a:r>
              <a:rPr lang="zh-CN" altLang="en-US" sz="2400" b="1" dirty="0">
                <a:latin typeface="+mn-ea"/>
                <a:ea typeface="+mn-ea"/>
              </a:rPr>
              <a:t> 201</a:t>
            </a:r>
            <a:r>
              <a:rPr lang="en-US" altLang="zh-CN" sz="2400" b="1" dirty="0">
                <a:latin typeface="+mn-ea"/>
                <a:ea typeface="+mn-ea"/>
              </a:rPr>
              <a:t>9</a:t>
            </a:r>
            <a:r>
              <a:rPr lang="zh-CN" altLang="en-US" sz="2400" b="1" dirty="0">
                <a:latin typeface="+mn-ea"/>
                <a:ea typeface="+mn-ea"/>
              </a:rPr>
              <a:t>年  新规范：</a:t>
            </a:r>
            <a:r>
              <a:rPr lang="zh-CN" altLang="en-US" sz="2400" b="1" dirty="0">
                <a:solidFill>
                  <a:srgbClr val="FFFF00"/>
                </a:solidFill>
                <a:latin typeface="+mn-ea"/>
                <a:ea typeface="+mn-ea"/>
              </a:rPr>
              <a:t>《血站技术操作规程（201</a:t>
            </a:r>
            <a:r>
              <a:rPr lang="en-US" altLang="zh-CN" sz="2400" b="1" dirty="0">
                <a:solidFill>
                  <a:srgbClr val="FFFF00"/>
                </a:solidFill>
                <a:latin typeface="+mn-ea"/>
                <a:ea typeface="+mn-ea"/>
              </a:rPr>
              <a:t>9</a:t>
            </a:r>
            <a:r>
              <a:rPr lang="zh-CN" altLang="en-US" sz="2400" b="1" dirty="0">
                <a:solidFill>
                  <a:srgbClr val="FFFF00"/>
                </a:solidFill>
                <a:latin typeface="+mn-ea"/>
                <a:ea typeface="+mn-ea"/>
              </a:rPr>
              <a:t>版）》</a:t>
            </a:r>
            <a:endParaRPr lang="en-US" altLang="zh-CN" sz="2400" b="1" dirty="0">
              <a:solidFill>
                <a:srgbClr val="FFFF00"/>
              </a:solidFill>
              <a:latin typeface="+mn-ea"/>
              <a:ea typeface="+mn-ea"/>
            </a:endParaRPr>
          </a:p>
          <a:p>
            <a:pPr algn="l" eaLnBrk="1" hangingPunct="1">
              <a:lnSpc>
                <a:spcPct val="150000"/>
              </a:lnSpc>
              <a:spcBef>
                <a:spcPct val="0"/>
              </a:spcBef>
              <a:buSzPct val="60000"/>
              <a:buFont typeface="Wingdings" panose="05000000000000000000" pitchFamily="2" charset="2"/>
              <a:buNone/>
            </a:pPr>
            <a:endParaRPr lang="en-US" altLang="zh-CN" sz="1800" dirty="0">
              <a:latin typeface="Microsoft YaHei" panose="020B0503020204020204" pitchFamily="34" charset="-122"/>
              <a:ea typeface="Microsoft YaHei" panose="020B0503020204020204" pitchFamily="34" charset="-122"/>
              <a:sym typeface="+mn-ea"/>
            </a:endParaRPr>
          </a:p>
          <a:p>
            <a:pPr algn="l" eaLnBrk="1" hangingPunct="1">
              <a:lnSpc>
                <a:spcPct val="150000"/>
              </a:lnSpc>
              <a:spcBef>
                <a:spcPct val="0"/>
              </a:spcBef>
              <a:buSzPct val="60000"/>
              <a:buFont typeface="Wingdings" panose="05000000000000000000" pitchFamily="2" charset="2"/>
              <a:buNone/>
            </a:pPr>
            <a:r>
              <a:rPr lang="en-US" altLang="zh-CN" sz="2000" dirty="0">
                <a:latin typeface="Microsoft YaHei" panose="020B0503020204020204" pitchFamily="34" charset="-122"/>
                <a:ea typeface="Microsoft YaHei" panose="020B0503020204020204" pitchFamily="34" charset="-122"/>
                <a:sym typeface="+mn-ea"/>
              </a:rPr>
              <a:t>* </a:t>
            </a:r>
            <a:r>
              <a:rPr lang="zh-CN" altLang="en-US" sz="2000" dirty="0">
                <a:latin typeface="Microsoft YaHei" panose="020B0503020204020204" pitchFamily="34" charset="-122"/>
                <a:ea typeface="Microsoft YaHei" panose="020B0503020204020204" pitchFamily="34" charset="-122"/>
                <a:sym typeface="+mn-ea"/>
              </a:rPr>
              <a:t>中国输血协会官网法律法规  https://www.csbt.org.cn/plus/list.php?tid=22</a:t>
            </a:r>
            <a:endParaRPr lang="en-US" altLang="zh-CN" sz="2000" b="1" dirty="0">
              <a:latin typeface="+mn-ea"/>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fill="hold"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900" decel="100000" fill="hold"/>
                                        <p:tgtEl>
                                          <p:spTgt spid="4">
                                            <p:txEl>
                                              <p:pRg st="0" end="0"/>
                                            </p:txEl>
                                          </p:spTgt>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4">
                                            <p:txEl>
                                              <p:pRg st="0" end="0"/>
                                            </p:txEl>
                                          </p:spTgt>
                                        </p:tgtEl>
                                        <p:attrNameLst>
                                          <p:attrName>ppt_y</p:attrName>
                                        </p:attrNameLst>
                                      </p:cBhvr>
                                      <p:tavLst>
                                        <p:tav tm="0">
                                          <p:val>
                                            <p:strVal val="#ppt_y-.03"/>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37"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animEffect transition="in" filter="fade">
                                      <p:cBhvr>
                                        <p:cTn id="15" dur="1000"/>
                                        <p:tgtEl>
                                          <p:spTgt spid="4">
                                            <p:txEl>
                                              <p:pRg st="1" end="1"/>
                                            </p:txEl>
                                          </p:spTgt>
                                        </p:tgtEl>
                                      </p:cBhvr>
                                    </p:animEffect>
                                    <p:anim calcmode="lin" valueType="num">
                                      <p:cBhvr>
                                        <p:cTn id="16"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7" dur="900" decel="100000" fill="hold"/>
                                        <p:tgtEl>
                                          <p:spTgt spid="4">
                                            <p:txEl>
                                              <p:pRg st="1" end="1"/>
                                            </p:txEl>
                                          </p:spTgt>
                                        </p:tgtEl>
                                        <p:attrNameLst>
                                          <p:attrName>ppt_y</p:attrName>
                                        </p:attrNameLst>
                                      </p:cBhvr>
                                      <p:tavLst>
                                        <p:tav tm="0">
                                          <p:val>
                                            <p:strVal val="#ppt_y+1"/>
                                          </p:val>
                                        </p:tav>
                                        <p:tav tm="100000">
                                          <p:val>
                                            <p:strVal val="#ppt_y-.03"/>
                                          </p:val>
                                        </p:tav>
                                      </p:tavLst>
                                    </p:anim>
                                    <p:anim calcmode="lin" valueType="num">
                                      <p:cBhvr>
                                        <p:cTn id="18" dur="100" accel="100000" fill="hold">
                                          <p:stCondLst>
                                            <p:cond delay="900"/>
                                          </p:stCondLst>
                                        </p:cTn>
                                        <p:tgtEl>
                                          <p:spTgt spid="4">
                                            <p:txEl>
                                              <p:pRg st="1" end="1"/>
                                            </p:txEl>
                                          </p:spTgt>
                                        </p:tgtEl>
                                        <p:attrNameLst>
                                          <p:attrName>ppt_y</p:attrName>
                                        </p:attrNameLst>
                                      </p:cBhvr>
                                      <p:tavLst>
                                        <p:tav tm="0">
                                          <p:val>
                                            <p:strVal val="#ppt_y-.03"/>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7" presetClass="entr" presetSubtype="0" fill="hold"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animEffect transition="in" filter="fade">
                                      <p:cBhvr>
                                        <p:cTn id="23" dur="1000"/>
                                        <p:tgtEl>
                                          <p:spTgt spid="4">
                                            <p:txEl>
                                              <p:pRg st="2" end="2"/>
                                            </p:txEl>
                                          </p:spTgt>
                                        </p:tgtEl>
                                      </p:cBhvr>
                                    </p:animEffect>
                                    <p:anim calcmode="lin" valueType="num">
                                      <p:cBhvr>
                                        <p:cTn id="24"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5" dur="900" decel="100000" fill="hold"/>
                                        <p:tgtEl>
                                          <p:spTgt spid="4">
                                            <p:txEl>
                                              <p:pRg st="2" end="2"/>
                                            </p:txEl>
                                          </p:spTgt>
                                        </p:tgtEl>
                                        <p:attrNameLst>
                                          <p:attrName>ppt_y</p:attrName>
                                        </p:attrNameLst>
                                      </p:cBhvr>
                                      <p:tavLst>
                                        <p:tav tm="0">
                                          <p:val>
                                            <p:strVal val="#ppt_y+1"/>
                                          </p:val>
                                        </p:tav>
                                        <p:tav tm="100000">
                                          <p:val>
                                            <p:strVal val="#ppt_y-.03"/>
                                          </p:val>
                                        </p:tav>
                                      </p:tavLst>
                                    </p:anim>
                                    <p:anim calcmode="lin" valueType="num">
                                      <p:cBhvr>
                                        <p:cTn id="26" dur="100" accel="100000" fill="hold">
                                          <p:stCondLst>
                                            <p:cond delay="900"/>
                                          </p:stCondLst>
                                        </p:cTn>
                                        <p:tgtEl>
                                          <p:spTgt spid="4">
                                            <p:txEl>
                                              <p:pRg st="2" end="2"/>
                                            </p:txEl>
                                          </p:spTgt>
                                        </p:tgtEl>
                                        <p:attrNameLst>
                                          <p:attrName>ppt_y</p:attrName>
                                        </p:attrNameLst>
                                      </p:cBhvr>
                                      <p:tavLst>
                                        <p:tav tm="0">
                                          <p:val>
                                            <p:strVal val="#ppt_y-.03"/>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37" presetClass="entr" presetSubtype="0" fill="hold" nodeType="clickEffect">
                                  <p:stCondLst>
                                    <p:cond delay="0"/>
                                  </p:stCondLst>
                                  <p:childTnLst>
                                    <p:set>
                                      <p:cBhvr>
                                        <p:cTn id="30" dur="1" fill="hold">
                                          <p:stCondLst>
                                            <p:cond delay="0"/>
                                          </p:stCondLst>
                                        </p:cTn>
                                        <p:tgtEl>
                                          <p:spTgt spid="4">
                                            <p:txEl>
                                              <p:pRg st="3" end="3"/>
                                            </p:txEl>
                                          </p:spTgt>
                                        </p:tgtEl>
                                        <p:attrNameLst>
                                          <p:attrName>style.visibility</p:attrName>
                                        </p:attrNameLst>
                                      </p:cBhvr>
                                      <p:to>
                                        <p:strVal val="visible"/>
                                      </p:to>
                                    </p:set>
                                    <p:animEffect transition="in" filter="fade">
                                      <p:cBhvr>
                                        <p:cTn id="31" dur="1000"/>
                                        <p:tgtEl>
                                          <p:spTgt spid="4">
                                            <p:txEl>
                                              <p:pRg st="3" end="3"/>
                                            </p:txEl>
                                          </p:spTgt>
                                        </p:tgtEl>
                                      </p:cBhvr>
                                    </p:animEffect>
                                    <p:anim calcmode="lin" valueType="num">
                                      <p:cBhvr>
                                        <p:cTn id="32"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3" dur="900" decel="100000" fill="hold"/>
                                        <p:tgtEl>
                                          <p:spTgt spid="4">
                                            <p:txEl>
                                              <p:pRg st="3" end="3"/>
                                            </p:txEl>
                                          </p:spTgt>
                                        </p:tgtEl>
                                        <p:attrNameLst>
                                          <p:attrName>ppt_y</p:attrName>
                                        </p:attrNameLst>
                                      </p:cBhvr>
                                      <p:tavLst>
                                        <p:tav tm="0">
                                          <p:val>
                                            <p:strVal val="#ppt_y+1"/>
                                          </p:val>
                                        </p:tav>
                                        <p:tav tm="100000">
                                          <p:val>
                                            <p:strVal val="#ppt_y-.03"/>
                                          </p:val>
                                        </p:tav>
                                      </p:tavLst>
                                    </p:anim>
                                    <p:anim calcmode="lin" valueType="num">
                                      <p:cBhvr>
                                        <p:cTn id="34" dur="100" accel="100000" fill="hold">
                                          <p:stCondLst>
                                            <p:cond delay="900"/>
                                          </p:stCondLst>
                                        </p:cTn>
                                        <p:tgtEl>
                                          <p:spTgt spid="4">
                                            <p:txEl>
                                              <p:pRg st="3" end="3"/>
                                            </p:txEl>
                                          </p:spTgt>
                                        </p:tgtEl>
                                        <p:attrNameLst>
                                          <p:attrName>ppt_y</p:attrName>
                                        </p:attrNameLst>
                                      </p:cBhvr>
                                      <p:tavLst>
                                        <p:tav tm="0">
                                          <p:val>
                                            <p:strVal val="#ppt_y-.03"/>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37" presetClass="entr" presetSubtype="0" fill="hold" nodeType="clickEffect">
                                  <p:stCondLst>
                                    <p:cond delay="0"/>
                                  </p:stCondLst>
                                  <p:childTnLst>
                                    <p:set>
                                      <p:cBhvr>
                                        <p:cTn id="38" dur="1" fill="hold">
                                          <p:stCondLst>
                                            <p:cond delay="0"/>
                                          </p:stCondLst>
                                        </p:cTn>
                                        <p:tgtEl>
                                          <p:spTgt spid="4">
                                            <p:txEl>
                                              <p:pRg st="4" end="4"/>
                                            </p:txEl>
                                          </p:spTgt>
                                        </p:tgtEl>
                                        <p:attrNameLst>
                                          <p:attrName>style.visibility</p:attrName>
                                        </p:attrNameLst>
                                      </p:cBhvr>
                                      <p:to>
                                        <p:strVal val="visible"/>
                                      </p:to>
                                    </p:set>
                                    <p:animEffect transition="in" filter="fade">
                                      <p:cBhvr>
                                        <p:cTn id="39" dur="1000"/>
                                        <p:tgtEl>
                                          <p:spTgt spid="4">
                                            <p:txEl>
                                              <p:pRg st="4" end="4"/>
                                            </p:txEl>
                                          </p:spTgt>
                                        </p:tgtEl>
                                      </p:cBhvr>
                                    </p:animEffect>
                                    <p:anim calcmode="lin" valueType="num">
                                      <p:cBhvr>
                                        <p:cTn id="40"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41" dur="900" decel="100000" fill="hold"/>
                                        <p:tgtEl>
                                          <p:spTgt spid="4">
                                            <p:txEl>
                                              <p:pRg st="4" end="4"/>
                                            </p:txEl>
                                          </p:spTgt>
                                        </p:tgtEl>
                                        <p:attrNameLst>
                                          <p:attrName>ppt_y</p:attrName>
                                        </p:attrNameLst>
                                      </p:cBhvr>
                                      <p:tavLst>
                                        <p:tav tm="0">
                                          <p:val>
                                            <p:strVal val="#ppt_y+1"/>
                                          </p:val>
                                        </p:tav>
                                        <p:tav tm="100000">
                                          <p:val>
                                            <p:strVal val="#ppt_y-.03"/>
                                          </p:val>
                                        </p:tav>
                                      </p:tavLst>
                                    </p:anim>
                                    <p:anim calcmode="lin" valueType="num">
                                      <p:cBhvr>
                                        <p:cTn id="42" dur="100" accel="100000" fill="hold">
                                          <p:stCondLst>
                                            <p:cond delay="900"/>
                                          </p:stCondLst>
                                        </p:cTn>
                                        <p:tgtEl>
                                          <p:spTgt spid="4">
                                            <p:txEl>
                                              <p:pRg st="4" end="4"/>
                                            </p:txEl>
                                          </p:spTgt>
                                        </p:tgtEl>
                                        <p:attrNameLst>
                                          <p:attrName>ppt_y</p:attrName>
                                        </p:attrNameLst>
                                      </p:cBhvr>
                                      <p:tavLst>
                                        <p:tav tm="0">
                                          <p:val>
                                            <p:strVal val="#ppt_y-.03"/>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37" presetClass="entr" presetSubtype="0" fill="hold" nodeType="clickEffect">
                                  <p:stCondLst>
                                    <p:cond delay="0"/>
                                  </p:stCondLst>
                                  <p:childTnLst>
                                    <p:set>
                                      <p:cBhvr>
                                        <p:cTn id="46" dur="1" fill="hold">
                                          <p:stCondLst>
                                            <p:cond delay="0"/>
                                          </p:stCondLst>
                                        </p:cTn>
                                        <p:tgtEl>
                                          <p:spTgt spid="4">
                                            <p:txEl>
                                              <p:pRg st="5" end="5"/>
                                            </p:txEl>
                                          </p:spTgt>
                                        </p:tgtEl>
                                        <p:attrNameLst>
                                          <p:attrName>style.visibility</p:attrName>
                                        </p:attrNameLst>
                                      </p:cBhvr>
                                      <p:to>
                                        <p:strVal val="visible"/>
                                      </p:to>
                                    </p:set>
                                    <p:animEffect transition="in" filter="fade">
                                      <p:cBhvr>
                                        <p:cTn id="47" dur="1000"/>
                                        <p:tgtEl>
                                          <p:spTgt spid="4">
                                            <p:txEl>
                                              <p:pRg st="5" end="5"/>
                                            </p:txEl>
                                          </p:spTgt>
                                        </p:tgtEl>
                                      </p:cBhvr>
                                    </p:animEffect>
                                    <p:anim calcmode="lin" valueType="num">
                                      <p:cBhvr>
                                        <p:cTn id="48"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49" dur="900" decel="100000" fill="hold"/>
                                        <p:tgtEl>
                                          <p:spTgt spid="4">
                                            <p:txEl>
                                              <p:pRg st="5" end="5"/>
                                            </p:txEl>
                                          </p:spTgt>
                                        </p:tgtEl>
                                        <p:attrNameLst>
                                          <p:attrName>ppt_y</p:attrName>
                                        </p:attrNameLst>
                                      </p:cBhvr>
                                      <p:tavLst>
                                        <p:tav tm="0">
                                          <p:val>
                                            <p:strVal val="#ppt_y+1"/>
                                          </p:val>
                                        </p:tav>
                                        <p:tav tm="100000">
                                          <p:val>
                                            <p:strVal val="#ppt_y-.03"/>
                                          </p:val>
                                        </p:tav>
                                      </p:tavLst>
                                    </p:anim>
                                    <p:anim calcmode="lin" valueType="num">
                                      <p:cBhvr>
                                        <p:cTn id="50" dur="100" accel="100000" fill="hold">
                                          <p:stCondLst>
                                            <p:cond delay="900"/>
                                          </p:stCondLst>
                                        </p:cTn>
                                        <p:tgtEl>
                                          <p:spTgt spid="4">
                                            <p:txEl>
                                              <p:pRg st="5" end="5"/>
                                            </p:txEl>
                                          </p:spTgt>
                                        </p:tgtEl>
                                        <p:attrNameLst>
                                          <p:attrName>ppt_y</p:attrName>
                                        </p:attrNameLst>
                                      </p:cBhvr>
                                      <p:tavLst>
                                        <p:tav tm="0">
                                          <p:val>
                                            <p:strVal val="#ppt_y-.03"/>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37" presetClass="entr" presetSubtype="0" fill="hold" nodeType="clickEffect">
                                  <p:stCondLst>
                                    <p:cond delay="0"/>
                                  </p:stCondLst>
                                  <p:childTnLst>
                                    <p:set>
                                      <p:cBhvr>
                                        <p:cTn id="54" dur="1" fill="hold">
                                          <p:stCondLst>
                                            <p:cond delay="0"/>
                                          </p:stCondLst>
                                        </p:cTn>
                                        <p:tgtEl>
                                          <p:spTgt spid="4">
                                            <p:txEl>
                                              <p:pRg st="6" end="6"/>
                                            </p:txEl>
                                          </p:spTgt>
                                        </p:tgtEl>
                                        <p:attrNameLst>
                                          <p:attrName>style.visibility</p:attrName>
                                        </p:attrNameLst>
                                      </p:cBhvr>
                                      <p:to>
                                        <p:strVal val="visible"/>
                                      </p:to>
                                    </p:set>
                                    <p:animEffect transition="in" filter="fade">
                                      <p:cBhvr>
                                        <p:cTn id="55" dur="1000"/>
                                        <p:tgtEl>
                                          <p:spTgt spid="4">
                                            <p:txEl>
                                              <p:pRg st="6" end="6"/>
                                            </p:txEl>
                                          </p:spTgt>
                                        </p:tgtEl>
                                      </p:cBhvr>
                                    </p:animEffect>
                                    <p:anim calcmode="lin" valueType="num">
                                      <p:cBhvr>
                                        <p:cTn id="56"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57" dur="900" decel="100000" fill="hold"/>
                                        <p:tgtEl>
                                          <p:spTgt spid="4">
                                            <p:txEl>
                                              <p:pRg st="6" end="6"/>
                                            </p:txEl>
                                          </p:spTgt>
                                        </p:tgtEl>
                                        <p:attrNameLst>
                                          <p:attrName>ppt_y</p:attrName>
                                        </p:attrNameLst>
                                      </p:cBhvr>
                                      <p:tavLst>
                                        <p:tav tm="0">
                                          <p:val>
                                            <p:strVal val="#ppt_y+1"/>
                                          </p:val>
                                        </p:tav>
                                        <p:tav tm="100000">
                                          <p:val>
                                            <p:strVal val="#ppt_y-.03"/>
                                          </p:val>
                                        </p:tav>
                                      </p:tavLst>
                                    </p:anim>
                                    <p:anim calcmode="lin" valueType="num">
                                      <p:cBhvr>
                                        <p:cTn id="58" dur="100" accel="100000" fill="hold">
                                          <p:stCondLst>
                                            <p:cond delay="900"/>
                                          </p:stCondLst>
                                        </p:cTn>
                                        <p:tgtEl>
                                          <p:spTgt spid="4">
                                            <p:txEl>
                                              <p:pRg st="6" end="6"/>
                                            </p:txEl>
                                          </p:spTgt>
                                        </p:tgtEl>
                                        <p:attrNameLst>
                                          <p:attrName>ppt_y</p:attrName>
                                        </p:attrNameLst>
                                      </p:cBhvr>
                                      <p:tavLst>
                                        <p:tav tm="0">
                                          <p:val>
                                            <p:strVal val="#ppt_y-.03"/>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37" presetClass="entr" presetSubtype="0" fill="hold" nodeType="clickEffect">
                                  <p:stCondLst>
                                    <p:cond delay="0"/>
                                  </p:stCondLst>
                                  <p:childTnLst>
                                    <p:set>
                                      <p:cBhvr>
                                        <p:cTn id="62" dur="1" fill="hold">
                                          <p:stCondLst>
                                            <p:cond delay="0"/>
                                          </p:stCondLst>
                                        </p:cTn>
                                        <p:tgtEl>
                                          <p:spTgt spid="4">
                                            <p:txEl>
                                              <p:pRg st="8" end="8"/>
                                            </p:txEl>
                                          </p:spTgt>
                                        </p:tgtEl>
                                        <p:attrNameLst>
                                          <p:attrName>style.visibility</p:attrName>
                                        </p:attrNameLst>
                                      </p:cBhvr>
                                      <p:to>
                                        <p:strVal val="visible"/>
                                      </p:to>
                                    </p:set>
                                    <p:animEffect transition="in" filter="fade">
                                      <p:cBhvr>
                                        <p:cTn id="63" dur="1000"/>
                                        <p:tgtEl>
                                          <p:spTgt spid="4">
                                            <p:txEl>
                                              <p:pRg st="8" end="8"/>
                                            </p:txEl>
                                          </p:spTgt>
                                        </p:tgtEl>
                                      </p:cBhvr>
                                    </p:animEffect>
                                    <p:anim calcmode="lin" valueType="num">
                                      <p:cBhvr>
                                        <p:cTn id="64"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65" dur="900" decel="100000" fill="hold"/>
                                        <p:tgtEl>
                                          <p:spTgt spid="4">
                                            <p:txEl>
                                              <p:pRg st="8" end="8"/>
                                            </p:txEl>
                                          </p:spTgt>
                                        </p:tgtEl>
                                        <p:attrNameLst>
                                          <p:attrName>ppt_y</p:attrName>
                                        </p:attrNameLst>
                                      </p:cBhvr>
                                      <p:tavLst>
                                        <p:tav tm="0">
                                          <p:val>
                                            <p:strVal val="#ppt_y+1"/>
                                          </p:val>
                                        </p:tav>
                                        <p:tav tm="100000">
                                          <p:val>
                                            <p:strVal val="#ppt_y-.03"/>
                                          </p:val>
                                        </p:tav>
                                      </p:tavLst>
                                    </p:anim>
                                    <p:anim calcmode="lin" valueType="num">
                                      <p:cBhvr>
                                        <p:cTn id="66" dur="100" accel="100000" fill="hold">
                                          <p:stCondLst>
                                            <p:cond delay="900"/>
                                          </p:stCondLst>
                                        </p:cTn>
                                        <p:tgtEl>
                                          <p:spTgt spid="4">
                                            <p:txEl>
                                              <p:pRg st="8" end="8"/>
                                            </p:txEl>
                                          </p:spTgt>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400" b="1" dirty="0"/>
              <a:t>法规和标准的理解</a:t>
            </a:r>
            <a:endParaRPr kumimoji="1" lang="zh-CN" altLang="en-US" b="1" dirty="0"/>
          </a:p>
        </p:txBody>
      </p:sp>
      <p:pic>
        <p:nvPicPr>
          <p:cNvPr id="3" name="图片 2" descr="法规和标准"/>
          <p:cNvPicPr>
            <a:picLocks noChangeAspect="1"/>
          </p:cNvPicPr>
          <p:nvPr/>
        </p:nvPicPr>
        <p:blipFill>
          <a:blip r:embed="rId1"/>
          <a:stretch>
            <a:fillRect/>
          </a:stretch>
        </p:blipFill>
        <p:spPr>
          <a:xfrm>
            <a:off x="2228215" y="1337945"/>
            <a:ext cx="7734935" cy="547179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400" b="1" dirty="0"/>
              <a:t>法规和标准的理解</a:t>
            </a:r>
            <a:endParaRPr kumimoji="1" lang="zh-CN" altLang="en-US" b="1" dirty="0"/>
          </a:p>
        </p:txBody>
      </p:sp>
      <p:sp>
        <p:nvSpPr>
          <p:cNvPr id="5" name="Text Box 3"/>
          <p:cNvSpPr txBox="1">
            <a:spLocks noChangeArrowheads="1"/>
          </p:cNvSpPr>
          <p:nvPr/>
        </p:nvSpPr>
        <p:spPr bwMode="auto">
          <a:xfrm>
            <a:off x="1149985" y="1592580"/>
            <a:ext cx="10234295" cy="2861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spcBef>
                <a:spcPct val="20000"/>
              </a:spcBef>
              <a:buFont typeface="Arial" panose="020B0604020202090204" pitchFamily="34" charset="0"/>
              <a:buChar char="•"/>
              <a:defRPr sz="2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9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9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9pPr>
          </a:lstStyle>
          <a:p>
            <a:pPr>
              <a:lnSpc>
                <a:spcPct val="150000"/>
              </a:lnSpc>
              <a:spcBef>
                <a:spcPct val="0"/>
              </a:spcBef>
              <a:buSzPct val="60000"/>
              <a:buFont typeface="Wingdings" panose="05000000000000000000" pitchFamily="2" charset="2"/>
              <a:buChar char="u"/>
            </a:pPr>
            <a:r>
              <a:rPr lang="zh-CN" altLang="en-US" sz="2400" b="1" dirty="0">
                <a:latin typeface="+mn-ea"/>
                <a:ea typeface="+mn-ea"/>
              </a:rPr>
              <a:t> 法规和标准解决是什么的问题 （</a:t>
            </a:r>
            <a:r>
              <a:rPr lang="en-US" altLang="zh-CN" sz="2400" b="1" dirty="0">
                <a:latin typeface="+mn-ea"/>
                <a:ea typeface="+mn-ea"/>
              </a:rPr>
              <a:t>What</a:t>
            </a:r>
            <a:r>
              <a:rPr lang="zh-CN" altLang="en-US" sz="2400" b="1" dirty="0">
                <a:latin typeface="+mn-ea"/>
                <a:ea typeface="+mn-ea"/>
              </a:rPr>
              <a:t>？）</a:t>
            </a:r>
            <a:endParaRPr lang="zh-CN" altLang="en-US" sz="2400" b="1" dirty="0">
              <a:latin typeface="+mn-ea"/>
              <a:ea typeface="+mn-ea"/>
            </a:endParaRPr>
          </a:p>
          <a:p>
            <a:pPr marL="14605" indent="-14605">
              <a:lnSpc>
                <a:spcPct val="150000"/>
              </a:lnSpc>
              <a:spcBef>
                <a:spcPct val="0"/>
              </a:spcBef>
              <a:buSzPct val="60000"/>
              <a:buFont typeface="Wingdings" panose="05000000000000000000" pitchFamily="2" charset="2"/>
              <a:buChar char="u"/>
            </a:pPr>
            <a:r>
              <a:rPr lang="zh-CN" altLang="en-US" sz="2400" b="1" dirty="0">
                <a:latin typeface="+mn-ea"/>
                <a:ea typeface="+mn-ea"/>
              </a:rPr>
              <a:t> </a:t>
            </a:r>
            <a:r>
              <a:rPr lang="zh-CN" altLang="en-US" sz="2400" b="1" dirty="0">
                <a:solidFill>
                  <a:schemeClr val="tx1"/>
                </a:solidFill>
                <a:latin typeface="+mn-ea"/>
                <a:ea typeface="+mn-ea"/>
              </a:rPr>
              <a:t>《血站技术操作规程》解决怎么做的问题 （</a:t>
            </a:r>
            <a:r>
              <a:rPr lang="en-US" altLang="zh-CN" sz="2400" b="1" dirty="0">
                <a:solidFill>
                  <a:schemeClr val="tx1"/>
                </a:solidFill>
                <a:latin typeface="+mn-ea"/>
                <a:ea typeface="+mn-ea"/>
              </a:rPr>
              <a:t>How</a:t>
            </a:r>
            <a:r>
              <a:rPr lang="zh-CN" altLang="en-US" sz="2400" b="1" dirty="0">
                <a:solidFill>
                  <a:schemeClr val="tx1"/>
                </a:solidFill>
                <a:latin typeface="+mn-ea"/>
                <a:ea typeface="+mn-ea"/>
              </a:rPr>
              <a:t>？）</a:t>
            </a:r>
            <a:endParaRPr lang="zh-CN" altLang="en-US" sz="2400" b="1" dirty="0">
              <a:solidFill>
                <a:schemeClr val="tx1"/>
              </a:solidFill>
              <a:latin typeface="+mn-ea"/>
              <a:ea typeface="+mn-ea"/>
            </a:endParaRPr>
          </a:p>
          <a:p>
            <a:pPr marL="14605" indent="-14605">
              <a:lnSpc>
                <a:spcPct val="150000"/>
              </a:lnSpc>
              <a:spcBef>
                <a:spcPct val="0"/>
              </a:spcBef>
              <a:buSzPct val="60000"/>
              <a:buFont typeface="Wingdings" panose="05000000000000000000" pitchFamily="2" charset="2"/>
              <a:buChar char="u"/>
            </a:pPr>
            <a:r>
              <a:rPr lang="zh-CN" altLang="en-US" sz="2400" b="1" dirty="0">
                <a:solidFill>
                  <a:schemeClr val="tx1"/>
                </a:solidFill>
                <a:latin typeface="+mn-ea"/>
                <a:ea typeface="+mn-ea"/>
              </a:rPr>
              <a:t> 专业人士解读即是答疑解惑，解答为什么的问题 （</a:t>
            </a:r>
            <a:r>
              <a:rPr lang="en-US" altLang="zh-CN" sz="2400" b="1" dirty="0">
                <a:solidFill>
                  <a:schemeClr val="tx1"/>
                </a:solidFill>
                <a:latin typeface="+mn-ea"/>
                <a:ea typeface="+mn-ea"/>
              </a:rPr>
              <a:t>Why</a:t>
            </a:r>
            <a:r>
              <a:rPr lang="zh-CN" altLang="en-US" sz="2400" b="1" dirty="0">
                <a:solidFill>
                  <a:schemeClr val="tx1"/>
                </a:solidFill>
                <a:latin typeface="+mn-ea"/>
                <a:ea typeface="+mn-ea"/>
              </a:rPr>
              <a:t>？）</a:t>
            </a:r>
            <a:endParaRPr lang="zh-CN" altLang="en-US" sz="2400" b="1" dirty="0">
              <a:solidFill>
                <a:schemeClr val="tx1"/>
              </a:solidFill>
              <a:latin typeface="+mn-ea"/>
              <a:ea typeface="+mn-ea"/>
            </a:endParaRPr>
          </a:p>
          <a:p>
            <a:pPr indent="0">
              <a:lnSpc>
                <a:spcPct val="150000"/>
              </a:lnSpc>
              <a:spcBef>
                <a:spcPct val="0"/>
              </a:spcBef>
              <a:buSzPct val="60000"/>
              <a:buFont typeface="Wingdings" panose="05000000000000000000" pitchFamily="2" charset="2"/>
              <a:buNone/>
            </a:pPr>
            <a:endParaRPr lang="en-US" altLang="zh-CN" sz="2400" b="1" dirty="0">
              <a:latin typeface="+mn-ea"/>
              <a:ea typeface="+mn-ea"/>
            </a:endParaRPr>
          </a:p>
          <a:p>
            <a:pPr indent="0">
              <a:lnSpc>
                <a:spcPct val="150000"/>
              </a:lnSpc>
              <a:spcBef>
                <a:spcPct val="0"/>
              </a:spcBef>
              <a:buSzPct val="60000"/>
              <a:buFont typeface="Wingdings" panose="05000000000000000000" pitchFamily="2" charset="2"/>
              <a:buNone/>
            </a:pPr>
            <a:r>
              <a:rPr lang="zh-CN" altLang="en-US" sz="2400" b="1" dirty="0">
                <a:latin typeface="+mn-ea"/>
                <a:ea typeface="+mn-ea"/>
              </a:rPr>
              <a:t>把专业人士的解答结合穿越系统，为血站信息化建设</a:t>
            </a:r>
            <a:r>
              <a:rPr lang="zh-CN" altLang="en-US" sz="2400" b="1" dirty="0">
                <a:latin typeface="+mn-ea"/>
                <a:ea typeface="+mn-ea"/>
                <a:sym typeface="+mn-ea"/>
              </a:rPr>
              <a:t>服务</a:t>
            </a:r>
            <a:r>
              <a:rPr lang="zh-CN" altLang="en-US" sz="2400" b="1" dirty="0">
                <a:latin typeface="+mn-ea"/>
                <a:ea typeface="+mn-ea"/>
              </a:rPr>
              <a:t>。</a:t>
            </a:r>
            <a:endParaRPr lang="zh-CN" altLang="en-US" sz="2400" b="1" dirty="0">
              <a:latin typeface="+mn-ea"/>
              <a:ea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500"/>
                                        <p:tgtEl>
                                          <p:spTgt spid="5">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fade">
                                      <p:cBhvr>
                                        <p:cTn id="13" dur="500"/>
                                        <p:tgtEl>
                                          <p:spTgt spid="5">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5">
                                            <p:txEl>
                                              <p:pRg st="4" end="4"/>
                                            </p:txEl>
                                          </p:spTgt>
                                        </p:tgtEl>
                                        <p:attrNameLst>
                                          <p:attrName>style.visibility</p:attrName>
                                        </p:attrNameLst>
                                      </p:cBhvr>
                                      <p:to>
                                        <p:strVal val="visible"/>
                                      </p:to>
                                    </p:set>
                                    <p:animEffect transition="in" filter="fade">
                                      <p:cBhvr>
                                        <p:cTn id="18"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160000" y="2519999"/>
            <a:ext cx="7920000" cy="1014730"/>
          </a:xfrm>
          <a:prstGeom prst="rect">
            <a:avLst/>
          </a:prstGeom>
        </p:spPr>
        <p:txBody>
          <a:bodyPr wrap="square">
            <a:spAutoFit/>
          </a:bodyPr>
          <a:lstStyle/>
          <a:p>
            <a:pPr algn="ctr">
              <a:lnSpc>
                <a:spcPct val="150000"/>
              </a:lnSpc>
            </a:pPr>
            <a:r>
              <a:rPr lang="en-US" altLang="zh-CN" sz="4000" b="1" dirty="0"/>
              <a:t>《</a:t>
            </a:r>
            <a:r>
              <a:rPr lang="zh-CN" altLang="en-US" sz="4000" b="1" dirty="0"/>
              <a:t>血站技术操作规程（201</a:t>
            </a:r>
            <a:r>
              <a:rPr lang="en-US" altLang="zh-CN" sz="4000" b="1" dirty="0"/>
              <a:t>9</a:t>
            </a:r>
            <a:r>
              <a:rPr lang="zh-CN" altLang="en-US" sz="4000" b="1" dirty="0"/>
              <a:t>版）</a:t>
            </a:r>
            <a:r>
              <a:rPr lang="en-US" altLang="zh-CN" sz="4000" b="1" dirty="0"/>
              <a:t>》</a:t>
            </a:r>
            <a:endParaRPr lang="zh-CN" altLang="en-US" sz="4000" dirty="0">
              <a:latin typeface="微软雅黑" panose="020B0503020204020204" charset="-122"/>
              <a:ea typeface="微软雅黑" panose="020B0503020204020204" charset="-122"/>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46111" y="452718"/>
            <a:ext cx="9404723" cy="900000"/>
          </a:xfrm>
        </p:spPr>
        <p:txBody>
          <a:bodyPr/>
          <a:lstStyle/>
          <a:p>
            <a:r>
              <a:rPr kumimoji="1" lang="zh-CN" altLang="en-US" b="1" dirty="0"/>
              <a:t>新规程</a:t>
            </a:r>
            <a:endParaRPr kumimoji="1" lang="zh-CN" altLang="en-US" b="1" dirty="0"/>
          </a:p>
        </p:txBody>
      </p:sp>
      <p:sp>
        <p:nvSpPr>
          <p:cNvPr id="3" name="文本框 2"/>
          <p:cNvSpPr txBox="1"/>
          <p:nvPr/>
        </p:nvSpPr>
        <p:spPr>
          <a:xfrm>
            <a:off x="799465" y="1352550"/>
            <a:ext cx="10188575" cy="534035"/>
          </a:xfrm>
          <a:prstGeom prst="rect">
            <a:avLst/>
          </a:prstGeom>
          <a:noFill/>
        </p:spPr>
        <p:txBody>
          <a:bodyPr wrap="none" rtlCol="0" anchor="t">
            <a:spAutoFit/>
          </a:bodyPr>
          <a:p>
            <a:pPr>
              <a:lnSpc>
                <a:spcPct val="120000"/>
              </a:lnSpc>
              <a:spcBef>
                <a:spcPts val="0"/>
              </a:spcBef>
              <a:spcAft>
                <a:spcPts val="0"/>
              </a:spcAft>
            </a:pPr>
            <a:r>
              <a:rPr kumimoji="1" lang="zh-CN" altLang="en-US" sz="2400" b="1" dirty="0">
                <a:latin typeface="+mj-ea"/>
                <a:sym typeface="+mn-ea"/>
              </a:rPr>
              <a:t>国家卫健委 </a:t>
            </a:r>
            <a:r>
              <a:rPr kumimoji="1" lang="en-US" altLang="zh-CN" sz="2400" b="1" dirty="0">
                <a:latin typeface="+mj-ea"/>
                <a:sym typeface="+mn-ea"/>
              </a:rPr>
              <a:t>2019</a:t>
            </a:r>
            <a:r>
              <a:rPr kumimoji="1" lang="zh-CN" altLang="en-US" sz="2400" b="1" dirty="0">
                <a:latin typeface="+mj-ea"/>
                <a:sym typeface="+mn-ea"/>
              </a:rPr>
              <a:t>年</a:t>
            </a:r>
            <a:r>
              <a:rPr kumimoji="1" lang="en-US" altLang="zh-CN" sz="2400" b="1" dirty="0">
                <a:latin typeface="+mj-ea"/>
                <a:sym typeface="+mn-ea"/>
              </a:rPr>
              <a:t>4</a:t>
            </a:r>
            <a:r>
              <a:rPr kumimoji="1" lang="zh-CN" altLang="en-US" sz="2400" b="1" dirty="0">
                <a:latin typeface="+mj-ea"/>
                <a:sym typeface="+mn-ea"/>
              </a:rPr>
              <a:t>月</a:t>
            </a:r>
            <a:r>
              <a:rPr kumimoji="1" lang="en-US" altLang="zh-CN" sz="2400" b="1" dirty="0">
                <a:latin typeface="+mj-ea"/>
                <a:sym typeface="+mn-ea"/>
              </a:rPr>
              <a:t>28</a:t>
            </a:r>
            <a:r>
              <a:rPr kumimoji="1" lang="zh-CN" altLang="en-US" sz="2400" b="1" dirty="0">
                <a:latin typeface="+mj-ea"/>
                <a:sym typeface="+mn-ea"/>
              </a:rPr>
              <a:t>日发布了</a:t>
            </a:r>
            <a:r>
              <a:rPr kumimoji="1" lang="en-US" altLang="zh-CN" sz="2400" b="1" dirty="0">
                <a:latin typeface="+mj-ea"/>
                <a:sym typeface="+mn-ea"/>
              </a:rPr>
              <a:t>《</a:t>
            </a:r>
            <a:r>
              <a:rPr kumimoji="1" lang="zh-CN" altLang="en-US" sz="2400" b="1" dirty="0">
                <a:latin typeface="+mj-ea"/>
                <a:sym typeface="+mn-ea"/>
              </a:rPr>
              <a:t>血站技术操作规程（</a:t>
            </a:r>
            <a:r>
              <a:rPr kumimoji="1" lang="en-US" altLang="zh-CN" sz="2400" b="1" dirty="0">
                <a:latin typeface="+mj-ea"/>
                <a:sym typeface="+mn-ea"/>
              </a:rPr>
              <a:t>2019</a:t>
            </a:r>
            <a:r>
              <a:rPr kumimoji="1" lang="zh-CN" altLang="en-US" sz="2400" b="1" dirty="0">
                <a:latin typeface="+mj-ea"/>
                <a:sym typeface="+mn-ea"/>
              </a:rPr>
              <a:t>版）</a:t>
            </a:r>
            <a:r>
              <a:rPr kumimoji="1" lang="en-US" altLang="zh-CN" sz="2400" b="1" dirty="0">
                <a:latin typeface="+mj-ea"/>
                <a:sym typeface="+mn-ea"/>
              </a:rPr>
              <a:t>》</a:t>
            </a:r>
            <a:r>
              <a:rPr kumimoji="1" lang="zh-CN" altLang="en-US" sz="2400" b="1" dirty="0">
                <a:latin typeface="+mj-ea"/>
                <a:sym typeface="+mn-ea"/>
              </a:rPr>
              <a:t>，包括</a:t>
            </a:r>
            <a:endParaRPr kumimoji="1" lang="zh-CN" altLang="en-US" sz="2400" b="1" dirty="0">
              <a:latin typeface="+mj-ea"/>
              <a:sym typeface="+mn-ea"/>
            </a:endParaRPr>
          </a:p>
        </p:txBody>
      </p:sp>
      <p:grpSp>
        <p:nvGrpSpPr>
          <p:cNvPr id="9" name="组合 8"/>
          <p:cNvGrpSpPr/>
          <p:nvPr/>
        </p:nvGrpSpPr>
        <p:grpSpPr>
          <a:xfrm>
            <a:off x="3478530" y="2108200"/>
            <a:ext cx="4931410" cy="4469130"/>
            <a:chOff x="5110" y="3320"/>
            <a:chExt cx="7766" cy="7038"/>
          </a:xfrm>
        </p:grpSpPr>
        <p:sp>
          <p:nvSpPr>
            <p:cNvPr id="17" name="矩形 14"/>
            <p:cNvSpPr>
              <a:spLocks noChangeArrowheads="1"/>
            </p:cNvSpPr>
            <p:nvPr/>
          </p:nvSpPr>
          <p:spPr bwMode="auto">
            <a:xfrm>
              <a:off x="5588" y="3345"/>
              <a:ext cx="7287" cy="788"/>
            </a:xfrm>
            <a:prstGeom prst="rect">
              <a:avLst/>
            </a:prstGeom>
            <a:solidFill>
              <a:srgbClr val="D7E4BD"/>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90204" pitchFamily="34" charset="0"/>
                <a:buChar char="•"/>
                <a:defRPr sz="2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9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9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 typeface="Arial" panose="020B0604020202090204" pitchFamily="34" charset="0"/>
                <a:buNone/>
              </a:pPr>
              <a:endParaRPr lang="zh-CN" altLang="en-US" sz="1800">
                <a:solidFill>
                  <a:schemeClr val="bg1"/>
                </a:solidFill>
                <a:latin typeface="Microsoft YaHei" panose="020B0503020204020204" pitchFamily="34" charset="-122"/>
                <a:ea typeface="Microsoft YaHei" panose="020B0503020204020204" pitchFamily="34" charset="-122"/>
              </a:endParaRPr>
            </a:p>
          </p:txBody>
        </p:sp>
        <p:sp>
          <p:nvSpPr>
            <p:cNvPr id="18" name="椭圆 9"/>
            <p:cNvSpPr>
              <a:spLocks noChangeArrowheads="1"/>
            </p:cNvSpPr>
            <p:nvPr/>
          </p:nvSpPr>
          <p:spPr bwMode="auto">
            <a:xfrm>
              <a:off x="5138" y="3320"/>
              <a:ext cx="787" cy="788"/>
            </a:xfrm>
            <a:prstGeom prst="ellipse">
              <a:avLst/>
            </a:prstGeom>
            <a:gradFill rotWithShape="1">
              <a:gsLst>
                <a:gs pos="0">
                  <a:srgbClr val="DAFDA7"/>
                </a:gs>
                <a:gs pos="35001">
                  <a:srgbClr val="E4FDC2"/>
                </a:gs>
                <a:gs pos="100000">
                  <a:srgbClr val="F5FFE6"/>
                </a:gs>
              </a:gsLst>
              <a:lin ang="5400000" scaled="1"/>
            </a:gradFill>
            <a:ln w="9525" cmpd="sng">
              <a:solidFill>
                <a:srgbClr val="98B954"/>
              </a:solidFill>
              <a:round/>
            </a:ln>
            <a:effectLst>
              <a:outerShdw blurRad="63500" dist="20000" dir="5400000" algn="ctr" rotWithShape="0">
                <a:srgbClr val="000000">
                  <a:alpha val="28000"/>
                </a:srgbClr>
              </a:outerShdw>
            </a:effectLst>
          </p:spPr>
          <p:txBody>
            <a:bodyPr anchor="ctr"/>
            <a:lstStyle>
              <a:lvl1pPr eaLnBrk="0" hangingPunct="0">
                <a:defRPr>
                  <a:solidFill>
                    <a:schemeClr val="tx1"/>
                  </a:solidFill>
                  <a:latin typeface="Arial" panose="020B0604020202090204" pitchFamily="34" charset="0"/>
                  <a:ea typeface="宋体" charset="0"/>
                </a:defRPr>
              </a:lvl1pPr>
              <a:lvl2pPr marL="742950" indent="-285750" eaLnBrk="0" hangingPunct="0">
                <a:defRPr>
                  <a:solidFill>
                    <a:schemeClr val="tx1"/>
                  </a:solidFill>
                  <a:latin typeface="Arial" panose="020B0604020202090204" pitchFamily="34" charset="0"/>
                  <a:ea typeface="宋体" charset="0"/>
                </a:defRPr>
              </a:lvl2pPr>
              <a:lvl3pPr marL="1143000" indent="-228600" eaLnBrk="0" hangingPunct="0">
                <a:defRPr>
                  <a:solidFill>
                    <a:schemeClr val="tx1"/>
                  </a:solidFill>
                  <a:latin typeface="Arial" panose="020B0604020202090204" pitchFamily="34" charset="0"/>
                  <a:ea typeface="宋体" charset="0"/>
                </a:defRPr>
              </a:lvl3pPr>
              <a:lvl4pPr marL="1600200" indent="-228600" eaLnBrk="0" hangingPunct="0">
                <a:defRPr>
                  <a:solidFill>
                    <a:schemeClr val="tx1"/>
                  </a:solidFill>
                  <a:latin typeface="Arial" panose="020B0604020202090204" pitchFamily="34" charset="0"/>
                  <a:ea typeface="宋体" charset="0"/>
                </a:defRPr>
              </a:lvl4pPr>
              <a:lvl5pPr marL="2057400" indent="-228600" eaLnBrk="0" hangingPunct="0">
                <a:defRPr>
                  <a:solidFill>
                    <a:schemeClr val="tx1"/>
                  </a:solidFill>
                  <a:latin typeface="Arial" panose="020B0604020202090204" pitchFamily="34" charset="0"/>
                  <a:ea typeface="宋体" charset="0"/>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9pPr>
            </a:lstStyle>
            <a:p>
              <a:pPr algn="ctr" eaLnBrk="1" hangingPunct="1">
                <a:buFont typeface="Arial" panose="020B0604020202090204" pitchFamily="34" charset="0"/>
                <a:buNone/>
                <a:defRPr/>
              </a:pPr>
              <a:r>
                <a:rPr lang="en-US" altLang="zh-CN" sz="2200" b="1">
                  <a:solidFill>
                    <a:schemeClr val="bg1"/>
                  </a:solidFill>
                  <a:latin typeface="Microsoft YaHei" panose="020B0503020204020204" pitchFamily="34" charset="-122"/>
                  <a:ea typeface="Microsoft YaHei" panose="020B0503020204020204" pitchFamily="34" charset="-122"/>
                </a:rPr>
                <a:t>1</a:t>
              </a:r>
              <a:endParaRPr lang="zh-CN" altLang="en-US" sz="2200" b="1">
                <a:solidFill>
                  <a:schemeClr val="bg1"/>
                </a:solidFill>
                <a:latin typeface="Microsoft YaHei" panose="020B0503020204020204" pitchFamily="34" charset="-122"/>
                <a:ea typeface="Microsoft YaHei" panose="020B0503020204020204" pitchFamily="34" charset="-122"/>
              </a:endParaRPr>
            </a:p>
          </p:txBody>
        </p:sp>
        <p:sp>
          <p:nvSpPr>
            <p:cNvPr id="19" name="矩形 15"/>
            <p:cNvSpPr>
              <a:spLocks noChangeArrowheads="1"/>
            </p:cNvSpPr>
            <p:nvPr/>
          </p:nvSpPr>
          <p:spPr bwMode="auto">
            <a:xfrm>
              <a:off x="5588" y="4614"/>
              <a:ext cx="7286" cy="78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90204" pitchFamily="34" charset="0"/>
                <a:buChar char="•"/>
                <a:defRPr sz="2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9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9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 typeface="Arial" panose="020B0604020202090204" pitchFamily="34" charset="0"/>
                <a:buNone/>
              </a:pPr>
              <a:endParaRPr lang="zh-CN" altLang="en-US" sz="1800">
                <a:solidFill>
                  <a:schemeClr val="bg1"/>
                </a:solidFill>
                <a:latin typeface="Microsoft YaHei" panose="020B0503020204020204" pitchFamily="34" charset="-122"/>
                <a:ea typeface="Microsoft YaHei" panose="020B0503020204020204" pitchFamily="34" charset="-122"/>
              </a:endParaRPr>
            </a:p>
          </p:txBody>
        </p:sp>
        <p:sp>
          <p:nvSpPr>
            <p:cNvPr id="20" name="椭圆 10"/>
            <p:cNvSpPr>
              <a:spLocks noChangeArrowheads="1"/>
            </p:cNvSpPr>
            <p:nvPr/>
          </p:nvSpPr>
          <p:spPr bwMode="auto">
            <a:xfrm>
              <a:off x="5138" y="4593"/>
              <a:ext cx="787" cy="785"/>
            </a:xfrm>
            <a:prstGeom prst="ellipse">
              <a:avLst/>
            </a:prstGeom>
            <a:gradFill rotWithShape="1">
              <a:gsLst>
                <a:gs pos="0">
                  <a:srgbClr val="FFFF80"/>
                </a:gs>
                <a:gs pos="50000">
                  <a:srgbClr val="FFFFB3"/>
                </a:gs>
                <a:gs pos="100000">
                  <a:srgbClr val="FFFFDA"/>
                </a:gs>
              </a:gsLst>
              <a:lin ang="5400000" scaled="1"/>
            </a:gradFill>
            <a:ln w="9525" cmpd="sng">
              <a:solidFill>
                <a:srgbClr val="FFFF00"/>
              </a:solidFill>
              <a:round/>
            </a:ln>
            <a:effectLst>
              <a:outerShdw blurRad="63500" dist="20000" dir="5400000" algn="ctr" rotWithShape="0">
                <a:srgbClr val="000000">
                  <a:alpha val="28000"/>
                </a:srgbClr>
              </a:outerShdw>
            </a:effectLst>
          </p:spPr>
          <p:txBody>
            <a:bodyPr anchor="ctr"/>
            <a:lstStyle>
              <a:lvl1pPr eaLnBrk="0" hangingPunct="0">
                <a:defRPr>
                  <a:solidFill>
                    <a:schemeClr val="tx1"/>
                  </a:solidFill>
                  <a:latin typeface="Arial" panose="020B0604020202090204" pitchFamily="34" charset="0"/>
                  <a:ea typeface="宋体" charset="0"/>
                </a:defRPr>
              </a:lvl1pPr>
              <a:lvl2pPr marL="742950" indent="-285750" eaLnBrk="0" hangingPunct="0">
                <a:defRPr>
                  <a:solidFill>
                    <a:schemeClr val="tx1"/>
                  </a:solidFill>
                  <a:latin typeface="Arial" panose="020B0604020202090204" pitchFamily="34" charset="0"/>
                  <a:ea typeface="宋体" charset="0"/>
                </a:defRPr>
              </a:lvl2pPr>
              <a:lvl3pPr marL="1143000" indent="-228600" eaLnBrk="0" hangingPunct="0">
                <a:defRPr>
                  <a:solidFill>
                    <a:schemeClr val="tx1"/>
                  </a:solidFill>
                  <a:latin typeface="Arial" panose="020B0604020202090204" pitchFamily="34" charset="0"/>
                  <a:ea typeface="宋体" charset="0"/>
                </a:defRPr>
              </a:lvl3pPr>
              <a:lvl4pPr marL="1600200" indent="-228600" eaLnBrk="0" hangingPunct="0">
                <a:defRPr>
                  <a:solidFill>
                    <a:schemeClr val="tx1"/>
                  </a:solidFill>
                  <a:latin typeface="Arial" panose="020B0604020202090204" pitchFamily="34" charset="0"/>
                  <a:ea typeface="宋体" charset="0"/>
                </a:defRPr>
              </a:lvl4pPr>
              <a:lvl5pPr marL="2057400" indent="-228600" eaLnBrk="0" hangingPunct="0">
                <a:defRPr>
                  <a:solidFill>
                    <a:schemeClr val="tx1"/>
                  </a:solidFill>
                  <a:latin typeface="Arial" panose="020B0604020202090204" pitchFamily="34" charset="0"/>
                  <a:ea typeface="宋体" charset="0"/>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9pPr>
            </a:lstStyle>
            <a:p>
              <a:pPr algn="ctr" eaLnBrk="1" hangingPunct="1">
                <a:buFont typeface="Arial" panose="020B0604020202090204" pitchFamily="34" charset="0"/>
                <a:buNone/>
                <a:defRPr/>
              </a:pPr>
              <a:r>
                <a:rPr lang="en-US" altLang="zh-CN" sz="2200" b="1">
                  <a:solidFill>
                    <a:schemeClr val="bg1"/>
                  </a:solidFill>
                  <a:latin typeface="Microsoft YaHei" panose="020B0503020204020204" pitchFamily="34" charset="-122"/>
                  <a:ea typeface="Microsoft YaHei" panose="020B0503020204020204" pitchFamily="34" charset="-122"/>
                </a:rPr>
                <a:t>2</a:t>
              </a:r>
              <a:endParaRPr lang="zh-CN" altLang="en-US" sz="2200" b="1">
                <a:solidFill>
                  <a:schemeClr val="bg1"/>
                </a:solidFill>
                <a:latin typeface="Microsoft YaHei" panose="020B0503020204020204" pitchFamily="34" charset="-122"/>
                <a:ea typeface="Microsoft YaHei" panose="020B0503020204020204" pitchFamily="34" charset="-122"/>
              </a:endParaRPr>
            </a:p>
          </p:txBody>
        </p:sp>
        <p:sp>
          <p:nvSpPr>
            <p:cNvPr id="21" name="矩形 16"/>
            <p:cNvSpPr>
              <a:spLocks noChangeArrowheads="1"/>
            </p:cNvSpPr>
            <p:nvPr/>
          </p:nvSpPr>
          <p:spPr bwMode="auto">
            <a:xfrm>
              <a:off x="5560" y="5856"/>
              <a:ext cx="7314" cy="790"/>
            </a:xfrm>
            <a:prstGeom prst="rect">
              <a:avLst/>
            </a:prstGeom>
            <a:solidFill>
              <a:srgbClr val="F2DCDB"/>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90204" pitchFamily="34" charset="0"/>
                <a:buChar char="•"/>
                <a:defRPr sz="2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9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9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 typeface="Arial" panose="020B0604020202090204" pitchFamily="34" charset="0"/>
                <a:buNone/>
              </a:pPr>
              <a:endParaRPr lang="zh-CN" altLang="en-US" sz="1800">
                <a:solidFill>
                  <a:schemeClr val="bg1"/>
                </a:solidFill>
                <a:latin typeface="Microsoft YaHei" panose="020B0503020204020204" pitchFamily="34" charset="-122"/>
                <a:ea typeface="Microsoft YaHei" panose="020B0503020204020204" pitchFamily="34" charset="-122"/>
              </a:endParaRPr>
            </a:p>
          </p:txBody>
        </p:sp>
        <p:sp>
          <p:nvSpPr>
            <p:cNvPr id="22" name="椭圆 11"/>
            <p:cNvSpPr>
              <a:spLocks noChangeArrowheads="1"/>
            </p:cNvSpPr>
            <p:nvPr/>
          </p:nvSpPr>
          <p:spPr bwMode="auto">
            <a:xfrm>
              <a:off x="5110" y="5840"/>
              <a:ext cx="788" cy="785"/>
            </a:xfrm>
            <a:prstGeom prst="ellipse">
              <a:avLst/>
            </a:prstGeom>
            <a:gradFill rotWithShape="1">
              <a:gsLst>
                <a:gs pos="0">
                  <a:srgbClr val="FFA2A1"/>
                </a:gs>
                <a:gs pos="35001">
                  <a:srgbClr val="FFBEBD"/>
                </a:gs>
                <a:gs pos="100000">
                  <a:srgbClr val="FFE5E5"/>
                </a:gs>
              </a:gsLst>
              <a:lin ang="5400000" scaled="1"/>
            </a:gradFill>
            <a:ln w="9525" cmpd="sng">
              <a:solidFill>
                <a:srgbClr val="BE4B48"/>
              </a:solidFill>
              <a:round/>
            </a:ln>
            <a:effectLst>
              <a:outerShdw blurRad="63500" dist="20000" dir="5400000" algn="ctr" rotWithShape="0">
                <a:srgbClr val="000000">
                  <a:alpha val="28000"/>
                </a:srgbClr>
              </a:outerShdw>
            </a:effectLst>
          </p:spPr>
          <p:txBody>
            <a:bodyPr anchor="ctr"/>
            <a:lstStyle>
              <a:lvl1pPr eaLnBrk="0" hangingPunct="0">
                <a:defRPr>
                  <a:solidFill>
                    <a:schemeClr val="tx1"/>
                  </a:solidFill>
                  <a:latin typeface="Arial" panose="020B0604020202090204" pitchFamily="34" charset="0"/>
                  <a:ea typeface="宋体" charset="0"/>
                </a:defRPr>
              </a:lvl1pPr>
              <a:lvl2pPr marL="742950" indent="-285750" eaLnBrk="0" hangingPunct="0">
                <a:defRPr>
                  <a:solidFill>
                    <a:schemeClr val="tx1"/>
                  </a:solidFill>
                  <a:latin typeface="Arial" panose="020B0604020202090204" pitchFamily="34" charset="0"/>
                  <a:ea typeface="宋体" charset="0"/>
                </a:defRPr>
              </a:lvl2pPr>
              <a:lvl3pPr marL="1143000" indent="-228600" eaLnBrk="0" hangingPunct="0">
                <a:defRPr>
                  <a:solidFill>
                    <a:schemeClr val="tx1"/>
                  </a:solidFill>
                  <a:latin typeface="Arial" panose="020B0604020202090204" pitchFamily="34" charset="0"/>
                  <a:ea typeface="宋体" charset="0"/>
                </a:defRPr>
              </a:lvl3pPr>
              <a:lvl4pPr marL="1600200" indent="-228600" eaLnBrk="0" hangingPunct="0">
                <a:defRPr>
                  <a:solidFill>
                    <a:schemeClr val="tx1"/>
                  </a:solidFill>
                  <a:latin typeface="Arial" panose="020B0604020202090204" pitchFamily="34" charset="0"/>
                  <a:ea typeface="宋体" charset="0"/>
                </a:defRPr>
              </a:lvl4pPr>
              <a:lvl5pPr marL="2057400" indent="-228600" eaLnBrk="0" hangingPunct="0">
                <a:defRPr>
                  <a:solidFill>
                    <a:schemeClr val="tx1"/>
                  </a:solidFill>
                  <a:latin typeface="Arial" panose="020B0604020202090204" pitchFamily="34" charset="0"/>
                  <a:ea typeface="宋体" charset="0"/>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9pPr>
            </a:lstStyle>
            <a:p>
              <a:pPr algn="ctr" eaLnBrk="1" hangingPunct="1">
                <a:buFont typeface="Arial" panose="020B0604020202090204" pitchFamily="34" charset="0"/>
                <a:buNone/>
                <a:defRPr/>
              </a:pPr>
              <a:r>
                <a:rPr lang="en-US" altLang="zh-CN" sz="2200" b="1">
                  <a:solidFill>
                    <a:schemeClr val="bg1"/>
                  </a:solidFill>
                  <a:latin typeface="Microsoft YaHei" panose="020B0503020204020204" pitchFamily="34" charset="-122"/>
                  <a:ea typeface="Microsoft YaHei" panose="020B0503020204020204" pitchFamily="34" charset="-122"/>
                </a:rPr>
                <a:t>3</a:t>
              </a:r>
              <a:endParaRPr lang="zh-CN" altLang="en-US" sz="2200" b="1">
                <a:solidFill>
                  <a:schemeClr val="bg1"/>
                </a:solidFill>
                <a:latin typeface="Microsoft YaHei" panose="020B0503020204020204" pitchFamily="34" charset="-122"/>
                <a:ea typeface="Microsoft YaHei" panose="020B0503020204020204" pitchFamily="34" charset="-122"/>
              </a:endParaRPr>
            </a:p>
          </p:txBody>
        </p:sp>
        <p:sp>
          <p:nvSpPr>
            <p:cNvPr id="23" name="矩形 17"/>
            <p:cNvSpPr>
              <a:spLocks noChangeArrowheads="1"/>
            </p:cNvSpPr>
            <p:nvPr/>
          </p:nvSpPr>
          <p:spPr bwMode="auto">
            <a:xfrm>
              <a:off x="5588" y="7098"/>
              <a:ext cx="7286" cy="791"/>
            </a:xfrm>
            <a:prstGeom prst="rect">
              <a:avLst/>
            </a:prstGeom>
            <a:solidFill>
              <a:srgbClr val="DBEEF4"/>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90204" pitchFamily="34" charset="0"/>
                <a:buChar char="•"/>
                <a:defRPr sz="2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9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9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 typeface="Arial" panose="020B0604020202090204" pitchFamily="34" charset="0"/>
                <a:buNone/>
              </a:pPr>
              <a:endParaRPr lang="zh-CN" altLang="en-US" sz="1800">
                <a:solidFill>
                  <a:schemeClr val="bg1"/>
                </a:solidFill>
                <a:latin typeface="Microsoft YaHei" panose="020B0503020204020204" pitchFamily="34" charset="-122"/>
                <a:ea typeface="Microsoft YaHei" panose="020B0503020204020204" pitchFamily="34" charset="-122"/>
              </a:endParaRPr>
            </a:p>
          </p:txBody>
        </p:sp>
        <p:sp>
          <p:nvSpPr>
            <p:cNvPr id="24" name="椭圆 12"/>
            <p:cNvSpPr>
              <a:spLocks noChangeArrowheads="1"/>
            </p:cNvSpPr>
            <p:nvPr/>
          </p:nvSpPr>
          <p:spPr bwMode="auto">
            <a:xfrm>
              <a:off x="5138" y="7082"/>
              <a:ext cx="787" cy="788"/>
            </a:xfrm>
            <a:prstGeom prst="ellipse">
              <a:avLst/>
            </a:prstGeom>
            <a:gradFill rotWithShape="1">
              <a:gsLst>
                <a:gs pos="0">
                  <a:srgbClr val="A3C4FF"/>
                </a:gs>
                <a:gs pos="35001">
                  <a:srgbClr val="BFD5FF"/>
                </a:gs>
                <a:gs pos="100000">
                  <a:srgbClr val="E5EEFF"/>
                </a:gs>
              </a:gsLst>
              <a:lin ang="5400000" scaled="1"/>
            </a:gradFill>
            <a:ln w="9525" cmpd="sng">
              <a:solidFill>
                <a:srgbClr val="4A7EBB"/>
              </a:solidFill>
              <a:round/>
            </a:ln>
            <a:effectLst>
              <a:outerShdw blurRad="63500" dist="20000" dir="5400000" algn="ctr" rotWithShape="0">
                <a:srgbClr val="000000">
                  <a:alpha val="28000"/>
                </a:srgbClr>
              </a:outerShdw>
            </a:effectLst>
          </p:spPr>
          <p:txBody>
            <a:bodyPr anchor="ctr"/>
            <a:lstStyle>
              <a:lvl1pPr eaLnBrk="0" hangingPunct="0">
                <a:defRPr>
                  <a:solidFill>
                    <a:schemeClr val="tx1"/>
                  </a:solidFill>
                  <a:latin typeface="Arial" panose="020B0604020202090204" pitchFamily="34" charset="0"/>
                  <a:ea typeface="宋体" charset="0"/>
                </a:defRPr>
              </a:lvl1pPr>
              <a:lvl2pPr marL="742950" indent="-285750" eaLnBrk="0" hangingPunct="0">
                <a:defRPr>
                  <a:solidFill>
                    <a:schemeClr val="tx1"/>
                  </a:solidFill>
                  <a:latin typeface="Arial" panose="020B0604020202090204" pitchFamily="34" charset="0"/>
                  <a:ea typeface="宋体" charset="0"/>
                </a:defRPr>
              </a:lvl2pPr>
              <a:lvl3pPr marL="1143000" indent="-228600" eaLnBrk="0" hangingPunct="0">
                <a:defRPr>
                  <a:solidFill>
                    <a:schemeClr val="tx1"/>
                  </a:solidFill>
                  <a:latin typeface="Arial" panose="020B0604020202090204" pitchFamily="34" charset="0"/>
                  <a:ea typeface="宋体" charset="0"/>
                </a:defRPr>
              </a:lvl3pPr>
              <a:lvl4pPr marL="1600200" indent="-228600" eaLnBrk="0" hangingPunct="0">
                <a:defRPr>
                  <a:solidFill>
                    <a:schemeClr val="tx1"/>
                  </a:solidFill>
                  <a:latin typeface="Arial" panose="020B0604020202090204" pitchFamily="34" charset="0"/>
                  <a:ea typeface="宋体" charset="0"/>
                </a:defRPr>
              </a:lvl4pPr>
              <a:lvl5pPr marL="2057400" indent="-228600" eaLnBrk="0" hangingPunct="0">
                <a:defRPr>
                  <a:solidFill>
                    <a:schemeClr val="tx1"/>
                  </a:solidFill>
                  <a:latin typeface="Arial" panose="020B0604020202090204" pitchFamily="34" charset="0"/>
                  <a:ea typeface="宋体" charset="0"/>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9pPr>
            </a:lstStyle>
            <a:p>
              <a:pPr algn="ctr" eaLnBrk="1" hangingPunct="1">
                <a:buFont typeface="Arial" panose="020B0604020202090204" pitchFamily="34" charset="0"/>
                <a:buNone/>
                <a:defRPr/>
              </a:pPr>
              <a:r>
                <a:rPr lang="en-US" altLang="zh-CN" sz="2200" b="1">
                  <a:solidFill>
                    <a:schemeClr val="bg1"/>
                  </a:solidFill>
                  <a:latin typeface="Microsoft YaHei" panose="020B0503020204020204" pitchFamily="34" charset="-122"/>
                  <a:ea typeface="Microsoft YaHei" panose="020B0503020204020204" pitchFamily="34" charset="-122"/>
                </a:rPr>
                <a:t>4</a:t>
              </a:r>
              <a:endParaRPr lang="zh-CN" altLang="en-US" sz="2200" b="1">
                <a:solidFill>
                  <a:schemeClr val="bg1"/>
                </a:solidFill>
                <a:latin typeface="Microsoft YaHei" panose="020B0503020204020204" pitchFamily="34" charset="-122"/>
                <a:ea typeface="Microsoft YaHei" panose="020B0503020204020204" pitchFamily="34" charset="-122"/>
              </a:endParaRPr>
            </a:p>
          </p:txBody>
        </p:sp>
        <p:sp>
          <p:nvSpPr>
            <p:cNvPr id="25" name="矩形 14"/>
            <p:cNvSpPr>
              <a:spLocks noChangeArrowheads="1"/>
            </p:cNvSpPr>
            <p:nvPr/>
          </p:nvSpPr>
          <p:spPr bwMode="auto">
            <a:xfrm>
              <a:off x="5588" y="8355"/>
              <a:ext cx="7286" cy="788"/>
            </a:xfrm>
            <a:prstGeom prst="rect">
              <a:avLst/>
            </a:prstGeom>
            <a:solidFill>
              <a:srgbClr val="D7E4BD"/>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nchor="ctr"/>
            <a:lstStyle>
              <a:lvl1pPr eaLnBrk="0" hangingPunct="0">
                <a:defRPr>
                  <a:solidFill>
                    <a:schemeClr val="tx1"/>
                  </a:solidFill>
                  <a:latin typeface="Arial" panose="020B0604020202090204" pitchFamily="34" charset="0"/>
                  <a:ea typeface="宋体" charset="0"/>
                </a:defRPr>
              </a:lvl1pPr>
              <a:lvl2pPr marL="742950" indent="-285750" eaLnBrk="0" hangingPunct="0">
                <a:defRPr>
                  <a:solidFill>
                    <a:schemeClr val="tx1"/>
                  </a:solidFill>
                  <a:latin typeface="Arial" panose="020B0604020202090204" pitchFamily="34" charset="0"/>
                  <a:ea typeface="宋体" charset="0"/>
                </a:defRPr>
              </a:lvl2pPr>
              <a:lvl3pPr marL="1143000" indent="-228600" eaLnBrk="0" hangingPunct="0">
                <a:defRPr>
                  <a:solidFill>
                    <a:schemeClr val="tx1"/>
                  </a:solidFill>
                  <a:latin typeface="Arial" panose="020B0604020202090204" pitchFamily="34" charset="0"/>
                  <a:ea typeface="宋体" charset="0"/>
                </a:defRPr>
              </a:lvl3pPr>
              <a:lvl4pPr marL="1600200" indent="-228600" eaLnBrk="0" hangingPunct="0">
                <a:defRPr>
                  <a:solidFill>
                    <a:schemeClr val="tx1"/>
                  </a:solidFill>
                  <a:latin typeface="Arial" panose="020B0604020202090204" pitchFamily="34" charset="0"/>
                  <a:ea typeface="宋体" charset="0"/>
                </a:defRPr>
              </a:lvl4pPr>
              <a:lvl5pPr marL="2057400" indent="-228600" eaLnBrk="0" hangingPunct="0">
                <a:defRPr>
                  <a:solidFill>
                    <a:schemeClr val="tx1"/>
                  </a:solidFill>
                  <a:latin typeface="Arial" panose="020B0604020202090204" pitchFamily="34" charset="0"/>
                  <a:ea typeface="宋体" charset="0"/>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9pPr>
            </a:lstStyle>
            <a:p>
              <a:pPr algn="ctr" eaLnBrk="1" hangingPunct="1">
                <a:buFont typeface="Arial" panose="020B0604020202090204" pitchFamily="34" charset="0"/>
                <a:buNone/>
                <a:defRPr/>
              </a:pPr>
              <a:endParaRPr lang="zh-CN" altLang="en-US">
                <a:solidFill>
                  <a:schemeClr val="bg1"/>
                </a:solidFill>
                <a:latin typeface="Microsoft YaHei" panose="020B0503020204020204" pitchFamily="34" charset="-122"/>
                <a:ea typeface="Microsoft YaHei" panose="020B0503020204020204" pitchFamily="34" charset="-122"/>
              </a:endParaRPr>
            </a:p>
          </p:txBody>
        </p:sp>
        <p:sp>
          <p:nvSpPr>
            <p:cNvPr id="26" name="椭圆 9"/>
            <p:cNvSpPr>
              <a:spLocks noChangeArrowheads="1"/>
            </p:cNvSpPr>
            <p:nvPr/>
          </p:nvSpPr>
          <p:spPr bwMode="auto">
            <a:xfrm>
              <a:off x="5138" y="8330"/>
              <a:ext cx="787" cy="788"/>
            </a:xfrm>
            <a:prstGeom prst="ellipse">
              <a:avLst/>
            </a:prstGeom>
            <a:gradFill rotWithShape="1">
              <a:gsLst>
                <a:gs pos="0">
                  <a:srgbClr val="DAFDA7"/>
                </a:gs>
                <a:gs pos="35001">
                  <a:srgbClr val="E4FDC2"/>
                </a:gs>
                <a:gs pos="100000">
                  <a:srgbClr val="F5FFE6"/>
                </a:gs>
              </a:gsLst>
              <a:lin ang="5400000" scaled="1"/>
            </a:gradFill>
            <a:ln w="9525" cmpd="sng">
              <a:solidFill>
                <a:srgbClr val="98B954"/>
              </a:solidFill>
              <a:round/>
            </a:ln>
            <a:effectLst>
              <a:outerShdw blurRad="63500" dist="20000" dir="5400000" algn="ctr" rotWithShape="0">
                <a:srgbClr val="000000">
                  <a:alpha val="28000"/>
                </a:srgbClr>
              </a:outerShdw>
            </a:effectLst>
          </p:spPr>
          <p:txBody>
            <a:bodyPr anchor="ctr"/>
            <a:lstStyle>
              <a:lvl1pPr>
                <a:spcBef>
                  <a:spcPct val="20000"/>
                </a:spcBef>
                <a:buFont typeface="Arial" panose="020B0604020202090204" pitchFamily="34" charset="0"/>
                <a:buChar char="•"/>
                <a:defRPr sz="2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9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9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 typeface="Arial" panose="020B0604020202090204" pitchFamily="34" charset="0"/>
                <a:buNone/>
              </a:pPr>
              <a:r>
                <a:rPr lang="zh-CN" altLang="en-US" b="1">
                  <a:solidFill>
                    <a:schemeClr val="bg1"/>
                  </a:solidFill>
                  <a:latin typeface="Microsoft YaHei" panose="020B0503020204020204" pitchFamily="34" charset="-122"/>
                  <a:ea typeface="Microsoft YaHei" panose="020B0503020204020204" pitchFamily="34" charset="-122"/>
                </a:rPr>
                <a:t>5</a:t>
              </a:r>
              <a:endParaRPr lang="zh-CN" altLang="en-US" b="1">
                <a:solidFill>
                  <a:schemeClr val="bg1"/>
                </a:solidFill>
                <a:latin typeface="Microsoft YaHei" panose="020B0503020204020204" pitchFamily="34" charset="-122"/>
                <a:ea typeface="Microsoft YaHei" panose="020B0503020204020204" pitchFamily="34" charset="-122"/>
              </a:endParaRPr>
            </a:p>
          </p:txBody>
        </p:sp>
        <p:sp>
          <p:nvSpPr>
            <p:cNvPr id="31" name="Text Box 18"/>
            <p:cNvSpPr txBox="1">
              <a:spLocks noChangeArrowheads="1"/>
            </p:cNvSpPr>
            <p:nvPr/>
          </p:nvSpPr>
          <p:spPr bwMode="auto">
            <a:xfrm>
              <a:off x="6155" y="4634"/>
              <a:ext cx="2208" cy="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90204" pitchFamily="34" charset="0"/>
                <a:buChar char="•"/>
                <a:defRPr sz="2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9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9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9pPr>
            </a:lstStyle>
            <a:p>
              <a:pPr algn="l" eaLnBrk="1" hangingPunct="1">
                <a:spcBef>
                  <a:spcPct val="0"/>
                </a:spcBef>
                <a:buFont typeface="Arial" panose="020B0604020202090204" pitchFamily="34" charset="0"/>
                <a:buNone/>
              </a:pPr>
              <a:r>
                <a:rPr lang="zh-CN" altLang="en-US" sz="2400">
                  <a:solidFill>
                    <a:schemeClr val="bg1"/>
                  </a:solidFill>
                  <a:latin typeface="Microsoft YaHei" panose="020B0503020204020204" pitchFamily="34" charset="-122"/>
                  <a:ea typeface="Microsoft YaHei" panose="020B0503020204020204" pitchFamily="34" charset="-122"/>
                </a:rPr>
                <a:t>血液采集</a:t>
              </a:r>
              <a:endParaRPr lang="zh-CN" altLang="en-US" sz="2400">
                <a:solidFill>
                  <a:schemeClr val="bg1"/>
                </a:solidFill>
                <a:latin typeface="Microsoft YaHei" panose="020B0503020204020204" pitchFamily="34" charset="-122"/>
                <a:ea typeface="Microsoft YaHei" panose="020B0503020204020204" pitchFamily="34" charset="-122"/>
              </a:endParaRPr>
            </a:p>
          </p:txBody>
        </p:sp>
        <p:sp>
          <p:nvSpPr>
            <p:cNvPr id="33" name="Text Box 20"/>
            <p:cNvSpPr txBox="1">
              <a:spLocks noChangeArrowheads="1"/>
            </p:cNvSpPr>
            <p:nvPr/>
          </p:nvSpPr>
          <p:spPr bwMode="auto">
            <a:xfrm>
              <a:off x="6155" y="8448"/>
              <a:ext cx="5088" cy="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lvl1pPr eaLnBrk="0" hangingPunct="0">
                <a:defRPr>
                  <a:solidFill>
                    <a:schemeClr val="tx1"/>
                  </a:solidFill>
                  <a:latin typeface="Arial" panose="020B0604020202090204" pitchFamily="34" charset="0"/>
                  <a:ea typeface="宋体" charset="0"/>
                </a:defRPr>
              </a:lvl1pPr>
              <a:lvl2pPr marL="742950" indent="-285750" eaLnBrk="0" hangingPunct="0">
                <a:defRPr>
                  <a:solidFill>
                    <a:schemeClr val="tx1"/>
                  </a:solidFill>
                  <a:latin typeface="Arial" panose="020B0604020202090204" pitchFamily="34" charset="0"/>
                  <a:ea typeface="宋体" charset="0"/>
                </a:defRPr>
              </a:lvl2pPr>
              <a:lvl3pPr marL="1143000" indent="-228600" eaLnBrk="0" hangingPunct="0">
                <a:defRPr>
                  <a:solidFill>
                    <a:schemeClr val="tx1"/>
                  </a:solidFill>
                  <a:latin typeface="Arial" panose="020B0604020202090204" pitchFamily="34" charset="0"/>
                  <a:ea typeface="宋体" charset="0"/>
                </a:defRPr>
              </a:lvl3pPr>
              <a:lvl4pPr marL="1600200" indent="-228600" eaLnBrk="0" hangingPunct="0">
                <a:defRPr>
                  <a:solidFill>
                    <a:schemeClr val="tx1"/>
                  </a:solidFill>
                  <a:latin typeface="Arial" panose="020B0604020202090204" pitchFamily="34" charset="0"/>
                  <a:ea typeface="宋体" charset="0"/>
                </a:defRPr>
              </a:lvl4pPr>
              <a:lvl5pPr marL="2057400" indent="-228600" eaLnBrk="0" hangingPunct="0">
                <a:defRPr>
                  <a:solidFill>
                    <a:schemeClr val="tx1"/>
                  </a:solidFill>
                  <a:latin typeface="Arial" panose="020B0604020202090204" pitchFamily="34" charset="0"/>
                  <a:ea typeface="宋体" charset="0"/>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9pPr>
            </a:lstStyle>
            <a:p>
              <a:pPr algn="l" eaLnBrk="1" hangingPunct="1">
                <a:buFont typeface="Arial" panose="020B0604020202090204" pitchFamily="34" charset="0"/>
                <a:buNone/>
                <a:defRPr/>
              </a:pPr>
              <a:r>
                <a:rPr lang="zh-CN" altLang="zh-CN" sz="2400">
                  <a:solidFill>
                    <a:schemeClr val="bg1"/>
                  </a:solidFill>
                  <a:latin typeface="Microsoft YaHei" panose="020B0503020204020204" pitchFamily="34" charset="-122"/>
                  <a:ea typeface="Microsoft YaHei" panose="020B0503020204020204" pitchFamily="34" charset="-122"/>
                </a:rPr>
                <a:t>血液储存、发放与运输</a:t>
              </a:r>
              <a:endParaRPr lang="zh-CN" altLang="zh-CN" sz="2400">
                <a:solidFill>
                  <a:schemeClr val="bg1"/>
                </a:solidFill>
                <a:latin typeface="Microsoft YaHei" panose="020B0503020204020204" pitchFamily="34" charset="-122"/>
                <a:ea typeface="Microsoft YaHei" panose="020B0503020204020204" pitchFamily="34" charset="-122"/>
              </a:endParaRPr>
            </a:p>
          </p:txBody>
        </p:sp>
        <p:sp>
          <p:nvSpPr>
            <p:cNvPr id="34" name="Text Box 21"/>
            <p:cNvSpPr txBox="1">
              <a:spLocks noChangeArrowheads="1"/>
            </p:cNvSpPr>
            <p:nvPr/>
          </p:nvSpPr>
          <p:spPr bwMode="auto">
            <a:xfrm>
              <a:off x="6155" y="3367"/>
              <a:ext cx="3648" cy="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90204" pitchFamily="34" charset="0"/>
                <a:buChar char="•"/>
                <a:defRPr sz="2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9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9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9pPr>
            </a:lstStyle>
            <a:p>
              <a:pPr algn="l" eaLnBrk="1" hangingPunct="1">
                <a:spcBef>
                  <a:spcPct val="0"/>
                </a:spcBef>
                <a:buFont typeface="Arial" panose="020B0604020202090204" pitchFamily="34" charset="0"/>
                <a:buNone/>
              </a:pPr>
              <a:r>
                <a:rPr lang="zh-CN" altLang="zh-CN" sz="2400" dirty="0">
                  <a:solidFill>
                    <a:schemeClr val="bg1"/>
                  </a:solidFill>
                  <a:latin typeface="Microsoft YaHei" panose="020B0503020204020204" pitchFamily="34" charset="-122"/>
                  <a:ea typeface="Microsoft YaHei" panose="020B0503020204020204" pitchFamily="34" charset="-122"/>
                </a:rPr>
                <a:t>献血者健康检查</a:t>
              </a:r>
              <a:endParaRPr lang="zh-CN" altLang="zh-CN" sz="2400" dirty="0">
                <a:solidFill>
                  <a:schemeClr val="bg1"/>
                </a:solidFill>
                <a:latin typeface="Microsoft YaHei" panose="020B0503020204020204" pitchFamily="34" charset="-122"/>
                <a:ea typeface="Microsoft YaHei" panose="020B0503020204020204" pitchFamily="34" charset="-122"/>
              </a:endParaRPr>
            </a:p>
          </p:txBody>
        </p:sp>
        <p:sp>
          <p:nvSpPr>
            <p:cNvPr id="35" name="Text Box 22"/>
            <p:cNvSpPr txBox="1">
              <a:spLocks noChangeArrowheads="1"/>
            </p:cNvSpPr>
            <p:nvPr/>
          </p:nvSpPr>
          <p:spPr bwMode="auto">
            <a:xfrm>
              <a:off x="6155" y="5913"/>
              <a:ext cx="3168" cy="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90204" pitchFamily="34" charset="0"/>
                <a:buChar char="•"/>
                <a:defRPr sz="2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9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9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9pPr>
            </a:lstStyle>
            <a:p>
              <a:pPr algn="l" eaLnBrk="1" hangingPunct="1">
                <a:spcBef>
                  <a:spcPct val="0"/>
                </a:spcBef>
                <a:buFont typeface="Arial" panose="020B0604020202090204" pitchFamily="34" charset="0"/>
                <a:buNone/>
              </a:pPr>
              <a:r>
                <a:rPr lang="zh-CN" altLang="zh-CN" sz="2400">
                  <a:solidFill>
                    <a:schemeClr val="bg1"/>
                  </a:solidFill>
                  <a:latin typeface="Microsoft YaHei" panose="020B0503020204020204" pitchFamily="34" charset="-122"/>
                  <a:ea typeface="Microsoft YaHei" panose="020B0503020204020204" pitchFamily="34" charset="-122"/>
                </a:rPr>
                <a:t>血液成分制备</a:t>
              </a:r>
              <a:endParaRPr lang="zh-CN" altLang="zh-CN" sz="2400">
                <a:solidFill>
                  <a:schemeClr val="bg1"/>
                </a:solidFill>
                <a:latin typeface="Microsoft YaHei" panose="020B0503020204020204" pitchFamily="34" charset="-122"/>
                <a:ea typeface="Microsoft YaHei" panose="020B0503020204020204" pitchFamily="34" charset="-122"/>
              </a:endParaRPr>
            </a:p>
          </p:txBody>
        </p:sp>
        <p:sp>
          <p:nvSpPr>
            <p:cNvPr id="36" name="Text Box 23"/>
            <p:cNvSpPr txBox="1">
              <a:spLocks noChangeArrowheads="1"/>
            </p:cNvSpPr>
            <p:nvPr/>
          </p:nvSpPr>
          <p:spPr bwMode="auto">
            <a:xfrm>
              <a:off x="6155" y="7200"/>
              <a:ext cx="2208" cy="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90204" pitchFamily="34" charset="0"/>
                <a:buChar char="•"/>
                <a:defRPr sz="2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9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9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9pPr>
            </a:lstStyle>
            <a:p>
              <a:pPr algn="l" eaLnBrk="1" hangingPunct="1">
                <a:spcBef>
                  <a:spcPct val="0"/>
                </a:spcBef>
                <a:buFont typeface="Arial" panose="020B0604020202090204" pitchFamily="34" charset="0"/>
                <a:buNone/>
              </a:pPr>
              <a:r>
                <a:rPr lang="zh-CN" altLang="zh-CN" sz="2400">
                  <a:solidFill>
                    <a:schemeClr val="bg1"/>
                  </a:solidFill>
                  <a:latin typeface="Microsoft YaHei" panose="020B0503020204020204" pitchFamily="34" charset="-122"/>
                  <a:ea typeface="Microsoft YaHei" panose="020B0503020204020204" pitchFamily="34" charset="-122"/>
                </a:rPr>
                <a:t>血液检测</a:t>
              </a:r>
              <a:endParaRPr lang="zh-CN" altLang="zh-CN" sz="2400">
                <a:solidFill>
                  <a:schemeClr val="bg1"/>
                </a:solidFill>
                <a:latin typeface="Microsoft YaHei" panose="020B0503020204020204" pitchFamily="34" charset="-122"/>
                <a:ea typeface="Microsoft YaHei" panose="020B0503020204020204" pitchFamily="34" charset="-122"/>
              </a:endParaRPr>
            </a:p>
          </p:txBody>
        </p:sp>
        <p:sp>
          <p:nvSpPr>
            <p:cNvPr id="6" name="矩形 15"/>
            <p:cNvSpPr>
              <a:spLocks noChangeArrowheads="1"/>
            </p:cNvSpPr>
            <p:nvPr/>
          </p:nvSpPr>
          <p:spPr bwMode="auto">
            <a:xfrm>
              <a:off x="5611" y="9570"/>
              <a:ext cx="7265" cy="78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90204" pitchFamily="34" charset="0"/>
                <a:buChar char="•"/>
                <a:defRPr sz="2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9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9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 typeface="Arial" panose="020B0604020202090204" pitchFamily="34" charset="0"/>
                <a:buNone/>
              </a:pPr>
              <a:endParaRPr lang="zh-CN" altLang="en-US" sz="1800">
                <a:solidFill>
                  <a:schemeClr val="bg1"/>
                </a:solidFill>
                <a:latin typeface="Microsoft YaHei" panose="020B0503020204020204" pitchFamily="34" charset="-122"/>
                <a:ea typeface="Microsoft YaHei" panose="020B0503020204020204" pitchFamily="34" charset="-122"/>
              </a:endParaRPr>
            </a:p>
          </p:txBody>
        </p:sp>
        <p:sp>
          <p:nvSpPr>
            <p:cNvPr id="7" name="椭圆 10"/>
            <p:cNvSpPr>
              <a:spLocks noChangeArrowheads="1"/>
            </p:cNvSpPr>
            <p:nvPr/>
          </p:nvSpPr>
          <p:spPr bwMode="auto">
            <a:xfrm>
              <a:off x="5161" y="9549"/>
              <a:ext cx="787" cy="785"/>
            </a:xfrm>
            <a:prstGeom prst="ellipse">
              <a:avLst/>
            </a:prstGeom>
            <a:gradFill rotWithShape="1">
              <a:gsLst>
                <a:gs pos="0">
                  <a:srgbClr val="FFFF80"/>
                </a:gs>
                <a:gs pos="50000">
                  <a:srgbClr val="FFFFB3"/>
                </a:gs>
                <a:gs pos="100000">
                  <a:srgbClr val="FFFFDA"/>
                </a:gs>
              </a:gsLst>
              <a:lin ang="5400000" scaled="1"/>
            </a:gradFill>
            <a:ln w="9525" cmpd="sng">
              <a:solidFill>
                <a:srgbClr val="FFFF00"/>
              </a:solidFill>
              <a:round/>
            </a:ln>
            <a:effectLst>
              <a:outerShdw blurRad="63500" dist="20000" dir="5400000" algn="ctr" rotWithShape="0">
                <a:srgbClr val="000000">
                  <a:alpha val="28000"/>
                </a:srgbClr>
              </a:outerShdw>
            </a:effectLst>
          </p:spPr>
          <p:txBody>
            <a:bodyPr anchor="ctr"/>
            <a:lstStyle>
              <a:lvl1pPr eaLnBrk="0" hangingPunct="0">
                <a:defRPr>
                  <a:solidFill>
                    <a:schemeClr val="tx1"/>
                  </a:solidFill>
                  <a:latin typeface="Arial" panose="020B0604020202090204" pitchFamily="34" charset="0"/>
                  <a:ea typeface="宋体" charset="0"/>
                </a:defRPr>
              </a:lvl1pPr>
              <a:lvl2pPr marL="742950" indent="-285750" eaLnBrk="0" hangingPunct="0">
                <a:defRPr>
                  <a:solidFill>
                    <a:schemeClr val="tx1"/>
                  </a:solidFill>
                  <a:latin typeface="Arial" panose="020B0604020202090204" pitchFamily="34" charset="0"/>
                  <a:ea typeface="宋体" charset="0"/>
                </a:defRPr>
              </a:lvl2pPr>
              <a:lvl3pPr marL="1143000" indent="-228600" eaLnBrk="0" hangingPunct="0">
                <a:defRPr>
                  <a:solidFill>
                    <a:schemeClr val="tx1"/>
                  </a:solidFill>
                  <a:latin typeface="Arial" panose="020B0604020202090204" pitchFamily="34" charset="0"/>
                  <a:ea typeface="宋体" charset="0"/>
                </a:defRPr>
              </a:lvl3pPr>
              <a:lvl4pPr marL="1600200" indent="-228600" eaLnBrk="0" hangingPunct="0">
                <a:defRPr>
                  <a:solidFill>
                    <a:schemeClr val="tx1"/>
                  </a:solidFill>
                  <a:latin typeface="Arial" panose="020B0604020202090204" pitchFamily="34" charset="0"/>
                  <a:ea typeface="宋体" charset="0"/>
                </a:defRPr>
              </a:lvl4pPr>
              <a:lvl5pPr marL="2057400" indent="-228600" eaLnBrk="0" hangingPunct="0">
                <a:defRPr>
                  <a:solidFill>
                    <a:schemeClr val="tx1"/>
                  </a:solidFill>
                  <a:latin typeface="Arial" panose="020B0604020202090204" pitchFamily="34" charset="0"/>
                  <a:ea typeface="宋体" charset="0"/>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9pPr>
            </a:lstStyle>
            <a:p>
              <a:pPr algn="ctr" eaLnBrk="1" hangingPunct="1">
                <a:buFont typeface="Arial" panose="020B0604020202090204" pitchFamily="34" charset="0"/>
                <a:buNone/>
                <a:defRPr/>
              </a:pPr>
              <a:r>
                <a:rPr lang="en-US" altLang="zh-CN" sz="2200" b="1">
                  <a:solidFill>
                    <a:schemeClr val="bg1"/>
                  </a:solidFill>
                  <a:latin typeface="Microsoft YaHei" panose="020B0503020204020204" pitchFamily="34" charset="-122"/>
                  <a:ea typeface="Microsoft YaHei" panose="020B0503020204020204" pitchFamily="34" charset="-122"/>
                </a:rPr>
                <a:t>6</a:t>
              </a:r>
              <a:endParaRPr lang="en-US" altLang="zh-CN" sz="2200" b="1">
                <a:solidFill>
                  <a:schemeClr val="bg1"/>
                </a:solidFill>
                <a:latin typeface="Microsoft YaHei" panose="020B0503020204020204" pitchFamily="34" charset="-122"/>
                <a:ea typeface="Microsoft YaHei" panose="020B0503020204020204" pitchFamily="34" charset="-122"/>
              </a:endParaRPr>
            </a:p>
          </p:txBody>
        </p:sp>
        <p:sp>
          <p:nvSpPr>
            <p:cNvPr id="8" name="Text Box 21"/>
            <p:cNvSpPr txBox="1">
              <a:spLocks noChangeArrowheads="1"/>
            </p:cNvSpPr>
            <p:nvPr/>
          </p:nvSpPr>
          <p:spPr bwMode="auto">
            <a:xfrm>
              <a:off x="6155" y="9589"/>
              <a:ext cx="2208" cy="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90204" pitchFamily="34" charset="0"/>
                <a:buChar char="•"/>
                <a:defRPr sz="2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9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9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9pPr>
            </a:lstStyle>
            <a:p>
              <a:pPr algn="l" eaLnBrk="1" hangingPunct="1">
                <a:spcBef>
                  <a:spcPct val="0"/>
                </a:spcBef>
                <a:buFont typeface="Arial" panose="020B0604020202090204" pitchFamily="34" charset="0"/>
                <a:buNone/>
              </a:pPr>
              <a:r>
                <a:rPr lang="zh-CN" altLang="zh-CN" sz="2400" dirty="0">
                  <a:solidFill>
                    <a:schemeClr val="bg1"/>
                  </a:solidFill>
                  <a:latin typeface="Microsoft YaHei" panose="020B0503020204020204" pitchFamily="34" charset="-122"/>
                  <a:ea typeface="Microsoft YaHei" panose="020B0503020204020204" pitchFamily="34" charset="-122"/>
                  <a:sym typeface="+mn-ea"/>
                </a:rPr>
                <a:t>质量控制</a:t>
              </a:r>
              <a:endParaRPr lang="zh-CN" altLang="zh-CN" sz="2400" dirty="0">
                <a:solidFill>
                  <a:schemeClr val="bg1"/>
                </a:solidFill>
                <a:latin typeface="Microsoft YaHei" panose="020B0503020204020204" pitchFamily="34" charset="-122"/>
                <a:ea typeface="Microsoft YaHei" panose="020B0503020204020204" pitchFamily="34" charset="-122"/>
              </a:endParaRPr>
            </a:p>
          </p:txBody>
        </p:sp>
      </p:gr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46111" y="452718"/>
            <a:ext cx="9404723" cy="900000"/>
          </a:xfrm>
        </p:spPr>
        <p:txBody>
          <a:bodyPr/>
          <a:lstStyle/>
          <a:p>
            <a:r>
              <a:rPr kumimoji="1" lang="zh-CN" altLang="en-US" b="1" dirty="0"/>
              <a:t>新规程解读</a:t>
            </a:r>
            <a:endParaRPr kumimoji="1" lang="zh-CN" altLang="en-US" b="1" dirty="0"/>
          </a:p>
        </p:txBody>
      </p:sp>
      <p:grpSp>
        <p:nvGrpSpPr>
          <p:cNvPr id="4" name="组合 3"/>
          <p:cNvGrpSpPr/>
          <p:nvPr/>
        </p:nvGrpSpPr>
        <p:grpSpPr>
          <a:xfrm>
            <a:off x="3244850" y="1883410"/>
            <a:ext cx="5702935" cy="4469130"/>
            <a:chOff x="5110" y="2966"/>
            <a:chExt cx="8981" cy="7038"/>
          </a:xfrm>
        </p:grpSpPr>
        <p:sp>
          <p:nvSpPr>
            <p:cNvPr id="17" name="矩形 14"/>
            <p:cNvSpPr>
              <a:spLocks noChangeArrowheads="1"/>
            </p:cNvSpPr>
            <p:nvPr/>
          </p:nvSpPr>
          <p:spPr bwMode="auto">
            <a:xfrm>
              <a:off x="5588" y="2991"/>
              <a:ext cx="8503" cy="788"/>
            </a:xfrm>
            <a:prstGeom prst="rect">
              <a:avLst/>
            </a:prstGeom>
            <a:solidFill>
              <a:srgbClr val="D7E4BD"/>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90204" pitchFamily="34" charset="0"/>
                <a:buChar char="•"/>
                <a:defRPr sz="2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9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9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 typeface="Arial" panose="020B0604020202090204" pitchFamily="34" charset="0"/>
                <a:buNone/>
              </a:pPr>
              <a:endParaRPr lang="zh-CN" altLang="en-US" sz="1800">
                <a:solidFill>
                  <a:schemeClr val="bg1"/>
                </a:solidFill>
                <a:latin typeface="Microsoft YaHei" panose="020B0503020204020204" pitchFamily="34" charset="-122"/>
                <a:ea typeface="Microsoft YaHei" panose="020B0503020204020204" pitchFamily="34" charset="-122"/>
              </a:endParaRPr>
            </a:p>
          </p:txBody>
        </p:sp>
        <p:sp>
          <p:nvSpPr>
            <p:cNvPr id="18" name="椭圆 9"/>
            <p:cNvSpPr>
              <a:spLocks noChangeArrowheads="1"/>
            </p:cNvSpPr>
            <p:nvPr/>
          </p:nvSpPr>
          <p:spPr bwMode="auto">
            <a:xfrm>
              <a:off x="5138" y="2966"/>
              <a:ext cx="787" cy="788"/>
            </a:xfrm>
            <a:prstGeom prst="ellipse">
              <a:avLst/>
            </a:prstGeom>
            <a:gradFill rotWithShape="1">
              <a:gsLst>
                <a:gs pos="0">
                  <a:srgbClr val="DAFDA7"/>
                </a:gs>
                <a:gs pos="35001">
                  <a:srgbClr val="E4FDC2"/>
                </a:gs>
                <a:gs pos="100000">
                  <a:srgbClr val="F5FFE6"/>
                </a:gs>
              </a:gsLst>
              <a:lin ang="5400000" scaled="1"/>
            </a:gradFill>
            <a:ln w="9525" cmpd="sng">
              <a:solidFill>
                <a:srgbClr val="98B954"/>
              </a:solidFill>
              <a:round/>
            </a:ln>
            <a:effectLst>
              <a:outerShdw blurRad="63500" dist="20000" dir="5400000" algn="ctr" rotWithShape="0">
                <a:srgbClr val="000000">
                  <a:alpha val="28000"/>
                </a:srgbClr>
              </a:outerShdw>
            </a:effectLst>
          </p:spPr>
          <p:txBody>
            <a:bodyPr anchor="ctr"/>
            <a:lstStyle>
              <a:lvl1pPr eaLnBrk="0" hangingPunct="0">
                <a:defRPr>
                  <a:solidFill>
                    <a:schemeClr val="tx1"/>
                  </a:solidFill>
                  <a:latin typeface="Arial" panose="020B0604020202090204" pitchFamily="34" charset="0"/>
                  <a:ea typeface="宋体" charset="0"/>
                </a:defRPr>
              </a:lvl1pPr>
              <a:lvl2pPr marL="742950" indent="-285750" eaLnBrk="0" hangingPunct="0">
                <a:defRPr>
                  <a:solidFill>
                    <a:schemeClr val="tx1"/>
                  </a:solidFill>
                  <a:latin typeface="Arial" panose="020B0604020202090204" pitchFamily="34" charset="0"/>
                  <a:ea typeface="宋体" charset="0"/>
                </a:defRPr>
              </a:lvl2pPr>
              <a:lvl3pPr marL="1143000" indent="-228600" eaLnBrk="0" hangingPunct="0">
                <a:defRPr>
                  <a:solidFill>
                    <a:schemeClr val="tx1"/>
                  </a:solidFill>
                  <a:latin typeface="Arial" panose="020B0604020202090204" pitchFamily="34" charset="0"/>
                  <a:ea typeface="宋体" charset="0"/>
                </a:defRPr>
              </a:lvl3pPr>
              <a:lvl4pPr marL="1600200" indent="-228600" eaLnBrk="0" hangingPunct="0">
                <a:defRPr>
                  <a:solidFill>
                    <a:schemeClr val="tx1"/>
                  </a:solidFill>
                  <a:latin typeface="Arial" panose="020B0604020202090204" pitchFamily="34" charset="0"/>
                  <a:ea typeface="宋体" charset="0"/>
                </a:defRPr>
              </a:lvl4pPr>
              <a:lvl5pPr marL="2057400" indent="-228600" eaLnBrk="0" hangingPunct="0">
                <a:defRPr>
                  <a:solidFill>
                    <a:schemeClr val="tx1"/>
                  </a:solidFill>
                  <a:latin typeface="Arial" panose="020B0604020202090204" pitchFamily="34" charset="0"/>
                  <a:ea typeface="宋体" charset="0"/>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9pPr>
            </a:lstStyle>
            <a:p>
              <a:pPr algn="ctr" eaLnBrk="1" hangingPunct="1">
                <a:buFont typeface="Arial" panose="020B0604020202090204" pitchFamily="34" charset="0"/>
                <a:buNone/>
                <a:defRPr/>
              </a:pPr>
              <a:r>
                <a:rPr lang="en-US" altLang="zh-CN" sz="2200" b="1">
                  <a:solidFill>
                    <a:schemeClr val="bg1"/>
                  </a:solidFill>
                  <a:latin typeface="Microsoft YaHei" panose="020B0503020204020204" pitchFamily="34" charset="-122"/>
                  <a:ea typeface="Microsoft YaHei" panose="020B0503020204020204" pitchFamily="34" charset="-122"/>
                </a:rPr>
                <a:t>1</a:t>
              </a:r>
              <a:endParaRPr lang="zh-CN" altLang="en-US" sz="2200" b="1">
                <a:solidFill>
                  <a:schemeClr val="bg1"/>
                </a:solidFill>
                <a:latin typeface="Microsoft YaHei" panose="020B0503020204020204" pitchFamily="34" charset="-122"/>
                <a:ea typeface="Microsoft YaHei" panose="020B0503020204020204" pitchFamily="34" charset="-122"/>
              </a:endParaRPr>
            </a:p>
          </p:txBody>
        </p:sp>
        <p:sp>
          <p:nvSpPr>
            <p:cNvPr id="19" name="矩形 15"/>
            <p:cNvSpPr>
              <a:spLocks noChangeArrowheads="1"/>
            </p:cNvSpPr>
            <p:nvPr/>
          </p:nvSpPr>
          <p:spPr bwMode="auto">
            <a:xfrm>
              <a:off x="5588" y="4260"/>
              <a:ext cx="8480" cy="78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90204" pitchFamily="34" charset="0"/>
                <a:buChar char="•"/>
                <a:defRPr sz="2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9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9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 typeface="Arial" panose="020B0604020202090204" pitchFamily="34" charset="0"/>
                <a:buNone/>
              </a:pPr>
              <a:endParaRPr lang="zh-CN" altLang="en-US" sz="1800">
                <a:solidFill>
                  <a:schemeClr val="bg1"/>
                </a:solidFill>
                <a:latin typeface="Microsoft YaHei" panose="020B0503020204020204" pitchFamily="34" charset="-122"/>
                <a:ea typeface="Microsoft YaHei" panose="020B0503020204020204" pitchFamily="34" charset="-122"/>
              </a:endParaRPr>
            </a:p>
          </p:txBody>
        </p:sp>
        <p:sp>
          <p:nvSpPr>
            <p:cNvPr id="20" name="椭圆 10"/>
            <p:cNvSpPr>
              <a:spLocks noChangeArrowheads="1"/>
            </p:cNvSpPr>
            <p:nvPr/>
          </p:nvSpPr>
          <p:spPr bwMode="auto">
            <a:xfrm>
              <a:off x="5138" y="4239"/>
              <a:ext cx="787" cy="785"/>
            </a:xfrm>
            <a:prstGeom prst="ellipse">
              <a:avLst/>
            </a:prstGeom>
            <a:gradFill rotWithShape="1">
              <a:gsLst>
                <a:gs pos="0">
                  <a:srgbClr val="FFFF80"/>
                </a:gs>
                <a:gs pos="50000">
                  <a:srgbClr val="FFFFB3"/>
                </a:gs>
                <a:gs pos="100000">
                  <a:srgbClr val="FFFFDA"/>
                </a:gs>
              </a:gsLst>
              <a:lin ang="5400000" scaled="1"/>
            </a:gradFill>
            <a:ln w="9525" cmpd="sng">
              <a:solidFill>
                <a:srgbClr val="FFFF00"/>
              </a:solidFill>
              <a:round/>
            </a:ln>
            <a:effectLst>
              <a:outerShdw blurRad="63500" dist="20000" dir="5400000" algn="ctr" rotWithShape="0">
                <a:srgbClr val="000000">
                  <a:alpha val="28000"/>
                </a:srgbClr>
              </a:outerShdw>
            </a:effectLst>
          </p:spPr>
          <p:txBody>
            <a:bodyPr anchor="ctr"/>
            <a:lstStyle>
              <a:lvl1pPr eaLnBrk="0" hangingPunct="0">
                <a:defRPr>
                  <a:solidFill>
                    <a:schemeClr val="tx1"/>
                  </a:solidFill>
                  <a:latin typeface="Arial" panose="020B0604020202090204" pitchFamily="34" charset="0"/>
                  <a:ea typeface="宋体" charset="0"/>
                </a:defRPr>
              </a:lvl1pPr>
              <a:lvl2pPr marL="742950" indent="-285750" eaLnBrk="0" hangingPunct="0">
                <a:defRPr>
                  <a:solidFill>
                    <a:schemeClr val="tx1"/>
                  </a:solidFill>
                  <a:latin typeface="Arial" panose="020B0604020202090204" pitchFamily="34" charset="0"/>
                  <a:ea typeface="宋体" charset="0"/>
                </a:defRPr>
              </a:lvl2pPr>
              <a:lvl3pPr marL="1143000" indent="-228600" eaLnBrk="0" hangingPunct="0">
                <a:defRPr>
                  <a:solidFill>
                    <a:schemeClr val="tx1"/>
                  </a:solidFill>
                  <a:latin typeface="Arial" panose="020B0604020202090204" pitchFamily="34" charset="0"/>
                  <a:ea typeface="宋体" charset="0"/>
                </a:defRPr>
              </a:lvl3pPr>
              <a:lvl4pPr marL="1600200" indent="-228600" eaLnBrk="0" hangingPunct="0">
                <a:defRPr>
                  <a:solidFill>
                    <a:schemeClr val="tx1"/>
                  </a:solidFill>
                  <a:latin typeface="Arial" panose="020B0604020202090204" pitchFamily="34" charset="0"/>
                  <a:ea typeface="宋体" charset="0"/>
                </a:defRPr>
              </a:lvl4pPr>
              <a:lvl5pPr marL="2057400" indent="-228600" eaLnBrk="0" hangingPunct="0">
                <a:defRPr>
                  <a:solidFill>
                    <a:schemeClr val="tx1"/>
                  </a:solidFill>
                  <a:latin typeface="Arial" panose="020B0604020202090204" pitchFamily="34" charset="0"/>
                  <a:ea typeface="宋体" charset="0"/>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9pPr>
            </a:lstStyle>
            <a:p>
              <a:pPr algn="ctr" eaLnBrk="1" hangingPunct="1">
                <a:buFont typeface="Arial" panose="020B0604020202090204" pitchFamily="34" charset="0"/>
                <a:buNone/>
                <a:defRPr/>
              </a:pPr>
              <a:r>
                <a:rPr lang="en-US" altLang="zh-CN" sz="2200" b="1">
                  <a:solidFill>
                    <a:schemeClr val="bg1"/>
                  </a:solidFill>
                  <a:latin typeface="Microsoft YaHei" panose="020B0503020204020204" pitchFamily="34" charset="-122"/>
                  <a:ea typeface="Microsoft YaHei" panose="020B0503020204020204" pitchFamily="34" charset="-122"/>
                </a:rPr>
                <a:t>2</a:t>
              </a:r>
              <a:endParaRPr lang="zh-CN" altLang="en-US" sz="2200" b="1">
                <a:solidFill>
                  <a:schemeClr val="bg1"/>
                </a:solidFill>
                <a:latin typeface="Microsoft YaHei" panose="020B0503020204020204" pitchFamily="34" charset="-122"/>
                <a:ea typeface="Microsoft YaHei" panose="020B0503020204020204" pitchFamily="34" charset="-122"/>
              </a:endParaRPr>
            </a:p>
          </p:txBody>
        </p:sp>
        <p:sp>
          <p:nvSpPr>
            <p:cNvPr id="21" name="矩形 16"/>
            <p:cNvSpPr>
              <a:spLocks noChangeArrowheads="1"/>
            </p:cNvSpPr>
            <p:nvPr/>
          </p:nvSpPr>
          <p:spPr bwMode="auto">
            <a:xfrm>
              <a:off x="5560" y="5502"/>
              <a:ext cx="8508" cy="790"/>
            </a:xfrm>
            <a:prstGeom prst="rect">
              <a:avLst/>
            </a:prstGeom>
            <a:solidFill>
              <a:srgbClr val="F2DCDB"/>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90204" pitchFamily="34" charset="0"/>
                <a:buChar char="•"/>
                <a:defRPr sz="2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9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9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 typeface="Arial" panose="020B0604020202090204" pitchFamily="34" charset="0"/>
                <a:buNone/>
              </a:pPr>
              <a:endParaRPr lang="zh-CN" altLang="en-US" sz="1800">
                <a:solidFill>
                  <a:schemeClr val="bg1"/>
                </a:solidFill>
                <a:latin typeface="Microsoft YaHei" panose="020B0503020204020204" pitchFamily="34" charset="-122"/>
                <a:ea typeface="Microsoft YaHei" panose="020B0503020204020204" pitchFamily="34" charset="-122"/>
              </a:endParaRPr>
            </a:p>
          </p:txBody>
        </p:sp>
        <p:sp>
          <p:nvSpPr>
            <p:cNvPr id="22" name="椭圆 11"/>
            <p:cNvSpPr>
              <a:spLocks noChangeArrowheads="1"/>
            </p:cNvSpPr>
            <p:nvPr/>
          </p:nvSpPr>
          <p:spPr bwMode="auto">
            <a:xfrm>
              <a:off x="5110" y="5486"/>
              <a:ext cx="788" cy="785"/>
            </a:xfrm>
            <a:prstGeom prst="ellipse">
              <a:avLst/>
            </a:prstGeom>
            <a:gradFill rotWithShape="1">
              <a:gsLst>
                <a:gs pos="0">
                  <a:srgbClr val="FFA2A1"/>
                </a:gs>
                <a:gs pos="35001">
                  <a:srgbClr val="FFBEBD"/>
                </a:gs>
                <a:gs pos="100000">
                  <a:srgbClr val="FFE5E5"/>
                </a:gs>
              </a:gsLst>
              <a:lin ang="5400000" scaled="1"/>
            </a:gradFill>
            <a:ln w="9525" cmpd="sng">
              <a:solidFill>
                <a:srgbClr val="BE4B48"/>
              </a:solidFill>
              <a:round/>
            </a:ln>
            <a:effectLst>
              <a:outerShdw blurRad="63500" dist="20000" dir="5400000" algn="ctr" rotWithShape="0">
                <a:srgbClr val="000000">
                  <a:alpha val="28000"/>
                </a:srgbClr>
              </a:outerShdw>
            </a:effectLst>
          </p:spPr>
          <p:txBody>
            <a:bodyPr anchor="ctr"/>
            <a:lstStyle>
              <a:lvl1pPr eaLnBrk="0" hangingPunct="0">
                <a:defRPr>
                  <a:solidFill>
                    <a:schemeClr val="tx1"/>
                  </a:solidFill>
                  <a:latin typeface="Arial" panose="020B0604020202090204" pitchFamily="34" charset="0"/>
                  <a:ea typeface="宋体" charset="0"/>
                </a:defRPr>
              </a:lvl1pPr>
              <a:lvl2pPr marL="742950" indent="-285750" eaLnBrk="0" hangingPunct="0">
                <a:defRPr>
                  <a:solidFill>
                    <a:schemeClr val="tx1"/>
                  </a:solidFill>
                  <a:latin typeface="Arial" panose="020B0604020202090204" pitchFamily="34" charset="0"/>
                  <a:ea typeface="宋体" charset="0"/>
                </a:defRPr>
              </a:lvl2pPr>
              <a:lvl3pPr marL="1143000" indent="-228600" eaLnBrk="0" hangingPunct="0">
                <a:defRPr>
                  <a:solidFill>
                    <a:schemeClr val="tx1"/>
                  </a:solidFill>
                  <a:latin typeface="Arial" panose="020B0604020202090204" pitchFamily="34" charset="0"/>
                  <a:ea typeface="宋体" charset="0"/>
                </a:defRPr>
              </a:lvl3pPr>
              <a:lvl4pPr marL="1600200" indent="-228600" eaLnBrk="0" hangingPunct="0">
                <a:defRPr>
                  <a:solidFill>
                    <a:schemeClr val="tx1"/>
                  </a:solidFill>
                  <a:latin typeface="Arial" panose="020B0604020202090204" pitchFamily="34" charset="0"/>
                  <a:ea typeface="宋体" charset="0"/>
                </a:defRPr>
              </a:lvl4pPr>
              <a:lvl5pPr marL="2057400" indent="-228600" eaLnBrk="0" hangingPunct="0">
                <a:defRPr>
                  <a:solidFill>
                    <a:schemeClr val="tx1"/>
                  </a:solidFill>
                  <a:latin typeface="Arial" panose="020B0604020202090204" pitchFamily="34" charset="0"/>
                  <a:ea typeface="宋体" charset="0"/>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9pPr>
            </a:lstStyle>
            <a:p>
              <a:pPr algn="ctr" eaLnBrk="1" hangingPunct="1">
                <a:buFont typeface="Arial" panose="020B0604020202090204" pitchFamily="34" charset="0"/>
                <a:buNone/>
                <a:defRPr/>
              </a:pPr>
              <a:r>
                <a:rPr lang="en-US" altLang="zh-CN" sz="2200" b="1">
                  <a:solidFill>
                    <a:schemeClr val="bg1"/>
                  </a:solidFill>
                  <a:latin typeface="Microsoft YaHei" panose="020B0503020204020204" pitchFamily="34" charset="-122"/>
                  <a:ea typeface="Microsoft YaHei" panose="020B0503020204020204" pitchFamily="34" charset="-122"/>
                </a:rPr>
                <a:t>3</a:t>
              </a:r>
              <a:endParaRPr lang="zh-CN" altLang="en-US" sz="2200" b="1">
                <a:solidFill>
                  <a:schemeClr val="bg1"/>
                </a:solidFill>
                <a:latin typeface="Microsoft YaHei" panose="020B0503020204020204" pitchFamily="34" charset="-122"/>
                <a:ea typeface="Microsoft YaHei" panose="020B0503020204020204" pitchFamily="34" charset="-122"/>
              </a:endParaRPr>
            </a:p>
          </p:txBody>
        </p:sp>
        <p:sp>
          <p:nvSpPr>
            <p:cNvPr id="23" name="矩形 17"/>
            <p:cNvSpPr>
              <a:spLocks noChangeArrowheads="1"/>
            </p:cNvSpPr>
            <p:nvPr/>
          </p:nvSpPr>
          <p:spPr bwMode="auto">
            <a:xfrm>
              <a:off x="5588" y="6744"/>
              <a:ext cx="8480" cy="791"/>
            </a:xfrm>
            <a:prstGeom prst="rect">
              <a:avLst/>
            </a:prstGeom>
            <a:solidFill>
              <a:srgbClr val="DBEEF4"/>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90204" pitchFamily="34" charset="0"/>
                <a:buChar char="•"/>
                <a:defRPr sz="2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9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9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 typeface="Arial" panose="020B0604020202090204" pitchFamily="34" charset="0"/>
                <a:buNone/>
              </a:pPr>
              <a:endParaRPr lang="zh-CN" altLang="en-US" sz="1800">
                <a:solidFill>
                  <a:schemeClr val="bg1"/>
                </a:solidFill>
                <a:latin typeface="Microsoft YaHei" panose="020B0503020204020204" pitchFamily="34" charset="-122"/>
                <a:ea typeface="Microsoft YaHei" panose="020B0503020204020204" pitchFamily="34" charset="-122"/>
              </a:endParaRPr>
            </a:p>
          </p:txBody>
        </p:sp>
        <p:sp>
          <p:nvSpPr>
            <p:cNvPr id="24" name="椭圆 12"/>
            <p:cNvSpPr>
              <a:spLocks noChangeArrowheads="1"/>
            </p:cNvSpPr>
            <p:nvPr/>
          </p:nvSpPr>
          <p:spPr bwMode="auto">
            <a:xfrm>
              <a:off x="5138" y="6728"/>
              <a:ext cx="787" cy="788"/>
            </a:xfrm>
            <a:prstGeom prst="ellipse">
              <a:avLst/>
            </a:prstGeom>
            <a:gradFill rotWithShape="1">
              <a:gsLst>
                <a:gs pos="0">
                  <a:srgbClr val="A3C4FF"/>
                </a:gs>
                <a:gs pos="35001">
                  <a:srgbClr val="BFD5FF"/>
                </a:gs>
                <a:gs pos="100000">
                  <a:srgbClr val="E5EEFF"/>
                </a:gs>
              </a:gsLst>
              <a:lin ang="5400000" scaled="1"/>
            </a:gradFill>
            <a:ln w="9525" cmpd="sng">
              <a:solidFill>
                <a:srgbClr val="4A7EBB"/>
              </a:solidFill>
              <a:round/>
            </a:ln>
            <a:effectLst>
              <a:outerShdw blurRad="63500" dist="20000" dir="5400000" algn="ctr" rotWithShape="0">
                <a:srgbClr val="000000">
                  <a:alpha val="28000"/>
                </a:srgbClr>
              </a:outerShdw>
            </a:effectLst>
          </p:spPr>
          <p:txBody>
            <a:bodyPr anchor="ctr"/>
            <a:lstStyle>
              <a:lvl1pPr eaLnBrk="0" hangingPunct="0">
                <a:defRPr>
                  <a:solidFill>
                    <a:schemeClr val="tx1"/>
                  </a:solidFill>
                  <a:latin typeface="Arial" panose="020B0604020202090204" pitchFamily="34" charset="0"/>
                  <a:ea typeface="宋体" charset="0"/>
                </a:defRPr>
              </a:lvl1pPr>
              <a:lvl2pPr marL="742950" indent="-285750" eaLnBrk="0" hangingPunct="0">
                <a:defRPr>
                  <a:solidFill>
                    <a:schemeClr val="tx1"/>
                  </a:solidFill>
                  <a:latin typeface="Arial" panose="020B0604020202090204" pitchFamily="34" charset="0"/>
                  <a:ea typeface="宋体" charset="0"/>
                </a:defRPr>
              </a:lvl2pPr>
              <a:lvl3pPr marL="1143000" indent="-228600" eaLnBrk="0" hangingPunct="0">
                <a:defRPr>
                  <a:solidFill>
                    <a:schemeClr val="tx1"/>
                  </a:solidFill>
                  <a:latin typeface="Arial" panose="020B0604020202090204" pitchFamily="34" charset="0"/>
                  <a:ea typeface="宋体" charset="0"/>
                </a:defRPr>
              </a:lvl3pPr>
              <a:lvl4pPr marL="1600200" indent="-228600" eaLnBrk="0" hangingPunct="0">
                <a:defRPr>
                  <a:solidFill>
                    <a:schemeClr val="tx1"/>
                  </a:solidFill>
                  <a:latin typeface="Arial" panose="020B0604020202090204" pitchFamily="34" charset="0"/>
                  <a:ea typeface="宋体" charset="0"/>
                </a:defRPr>
              </a:lvl4pPr>
              <a:lvl5pPr marL="2057400" indent="-228600" eaLnBrk="0" hangingPunct="0">
                <a:defRPr>
                  <a:solidFill>
                    <a:schemeClr val="tx1"/>
                  </a:solidFill>
                  <a:latin typeface="Arial" panose="020B0604020202090204" pitchFamily="34" charset="0"/>
                  <a:ea typeface="宋体" charset="0"/>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9pPr>
            </a:lstStyle>
            <a:p>
              <a:pPr algn="ctr" eaLnBrk="1" hangingPunct="1">
                <a:buFont typeface="Arial" panose="020B0604020202090204" pitchFamily="34" charset="0"/>
                <a:buNone/>
                <a:defRPr/>
              </a:pPr>
              <a:r>
                <a:rPr lang="en-US" altLang="zh-CN" sz="2200" b="1">
                  <a:solidFill>
                    <a:schemeClr val="bg1"/>
                  </a:solidFill>
                  <a:latin typeface="Microsoft YaHei" panose="020B0503020204020204" pitchFamily="34" charset="-122"/>
                  <a:ea typeface="Microsoft YaHei" panose="020B0503020204020204" pitchFamily="34" charset="-122"/>
                </a:rPr>
                <a:t>4</a:t>
              </a:r>
              <a:endParaRPr lang="zh-CN" altLang="en-US" sz="2200" b="1">
                <a:solidFill>
                  <a:schemeClr val="bg1"/>
                </a:solidFill>
                <a:latin typeface="Microsoft YaHei" panose="020B0503020204020204" pitchFamily="34" charset="-122"/>
                <a:ea typeface="Microsoft YaHei" panose="020B0503020204020204" pitchFamily="34" charset="-122"/>
              </a:endParaRPr>
            </a:p>
          </p:txBody>
        </p:sp>
        <p:sp>
          <p:nvSpPr>
            <p:cNvPr id="25" name="矩形 14"/>
            <p:cNvSpPr>
              <a:spLocks noChangeArrowheads="1"/>
            </p:cNvSpPr>
            <p:nvPr/>
          </p:nvSpPr>
          <p:spPr bwMode="auto">
            <a:xfrm>
              <a:off x="5588" y="8001"/>
              <a:ext cx="8502" cy="788"/>
            </a:xfrm>
            <a:prstGeom prst="rect">
              <a:avLst/>
            </a:prstGeom>
            <a:solidFill>
              <a:srgbClr val="D7E4BD"/>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nchor="ctr"/>
            <a:lstStyle>
              <a:lvl1pPr eaLnBrk="0" hangingPunct="0">
                <a:defRPr>
                  <a:solidFill>
                    <a:schemeClr val="tx1"/>
                  </a:solidFill>
                  <a:latin typeface="Arial" panose="020B0604020202090204" pitchFamily="34" charset="0"/>
                  <a:ea typeface="宋体" charset="0"/>
                </a:defRPr>
              </a:lvl1pPr>
              <a:lvl2pPr marL="742950" indent="-285750" eaLnBrk="0" hangingPunct="0">
                <a:defRPr>
                  <a:solidFill>
                    <a:schemeClr val="tx1"/>
                  </a:solidFill>
                  <a:latin typeface="Arial" panose="020B0604020202090204" pitchFamily="34" charset="0"/>
                  <a:ea typeface="宋体" charset="0"/>
                </a:defRPr>
              </a:lvl2pPr>
              <a:lvl3pPr marL="1143000" indent="-228600" eaLnBrk="0" hangingPunct="0">
                <a:defRPr>
                  <a:solidFill>
                    <a:schemeClr val="tx1"/>
                  </a:solidFill>
                  <a:latin typeface="Arial" panose="020B0604020202090204" pitchFamily="34" charset="0"/>
                  <a:ea typeface="宋体" charset="0"/>
                </a:defRPr>
              </a:lvl3pPr>
              <a:lvl4pPr marL="1600200" indent="-228600" eaLnBrk="0" hangingPunct="0">
                <a:defRPr>
                  <a:solidFill>
                    <a:schemeClr val="tx1"/>
                  </a:solidFill>
                  <a:latin typeface="Arial" panose="020B0604020202090204" pitchFamily="34" charset="0"/>
                  <a:ea typeface="宋体" charset="0"/>
                </a:defRPr>
              </a:lvl4pPr>
              <a:lvl5pPr marL="2057400" indent="-228600" eaLnBrk="0" hangingPunct="0">
                <a:defRPr>
                  <a:solidFill>
                    <a:schemeClr val="tx1"/>
                  </a:solidFill>
                  <a:latin typeface="Arial" panose="020B0604020202090204" pitchFamily="34" charset="0"/>
                  <a:ea typeface="宋体" charset="0"/>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9pPr>
            </a:lstStyle>
            <a:p>
              <a:pPr algn="ctr" eaLnBrk="1" hangingPunct="1">
                <a:buFont typeface="Arial" panose="020B0604020202090204" pitchFamily="34" charset="0"/>
                <a:buNone/>
                <a:defRPr/>
              </a:pPr>
              <a:endParaRPr lang="zh-CN" altLang="en-US">
                <a:solidFill>
                  <a:schemeClr val="bg1"/>
                </a:solidFill>
                <a:latin typeface="Microsoft YaHei" panose="020B0503020204020204" pitchFamily="34" charset="-122"/>
                <a:ea typeface="Microsoft YaHei" panose="020B0503020204020204" pitchFamily="34" charset="-122"/>
              </a:endParaRPr>
            </a:p>
          </p:txBody>
        </p:sp>
        <p:sp>
          <p:nvSpPr>
            <p:cNvPr id="26" name="椭圆 9"/>
            <p:cNvSpPr>
              <a:spLocks noChangeArrowheads="1"/>
            </p:cNvSpPr>
            <p:nvPr/>
          </p:nvSpPr>
          <p:spPr bwMode="auto">
            <a:xfrm>
              <a:off x="5138" y="7976"/>
              <a:ext cx="787" cy="788"/>
            </a:xfrm>
            <a:prstGeom prst="ellipse">
              <a:avLst/>
            </a:prstGeom>
            <a:gradFill rotWithShape="1">
              <a:gsLst>
                <a:gs pos="0">
                  <a:srgbClr val="DAFDA7"/>
                </a:gs>
                <a:gs pos="35001">
                  <a:srgbClr val="E4FDC2"/>
                </a:gs>
                <a:gs pos="100000">
                  <a:srgbClr val="F5FFE6"/>
                </a:gs>
              </a:gsLst>
              <a:lin ang="5400000" scaled="1"/>
            </a:gradFill>
            <a:ln w="9525" cmpd="sng">
              <a:solidFill>
                <a:srgbClr val="98B954"/>
              </a:solidFill>
              <a:round/>
            </a:ln>
            <a:effectLst>
              <a:outerShdw blurRad="63500" dist="20000" dir="5400000" algn="ctr" rotWithShape="0">
                <a:srgbClr val="000000">
                  <a:alpha val="28000"/>
                </a:srgbClr>
              </a:outerShdw>
            </a:effectLst>
          </p:spPr>
          <p:txBody>
            <a:bodyPr anchor="ctr"/>
            <a:lstStyle>
              <a:lvl1pPr>
                <a:spcBef>
                  <a:spcPct val="20000"/>
                </a:spcBef>
                <a:buFont typeface="Arial" panose="020B0604020202090204" pitchFamily="34" charset="0"/>
                <a:buChar char="•"/>
                <a:defRPr sz="2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9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9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 typeface="Arial" panose="020B0604020202090204" pitchFamily="34" charset="0"/>
                <a:buNone/>
              </a:pPr>
              <a:r>
                <a:rPr lang="zh-CN" altLang="en-US" b="1">
                  <a:solidFill>
                    <a:schemeClr val="bg1"/>
                  </a:solidFill>
                  <a:latin typeface="Microsoft YaHei" panose="020B0503020204020204" pitchFamily="34" charset="-122"/>
                  <a:ea typeface="Microsoft YaHei" panose="020B0503020204020204" pitchFamily="34" charset="-122"/>
                </a:rPr>
                <a:t>5</a:t>
              </a:r>
              <a:endParaRPr lang="zh-CN" altLang="en-US" b="1">
                <a:solidFill>
                  <a:schemeClr val="bg1"/>
                </a:solidFill>
                <a:latin typeface="Microsoft YaHei" panose="020B0503020204020204" pitchFamily="34" charset="-122"/>
                <a:ea typeface="Microsoft YaHei" panose="020B0503020204020204" pitchFamily="34" charset="-122"/>
              </a:endParaRPr>
            </a:p>
          </p:txBody>
        </p:sp>
        <p:sp>
          <p:nvSpPr>
            <p:cNvPr id="31" name="Text Box 18"/>
            <p:cNvSpPr txBox="1">
              <a:spLocks noChangeArrowheads="1"/>
            </p:cNvSpPr>
            <p:nvPr/>
          </p:nvSpPr>
          <p:spPr bwMode="auto">
            <a:xfrm>
              <a:off x="6155" y="4236"/>
              <a:ext cx="5088" cy="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90204" pitchFamily="34" charset="0"/>
                <a:buChar char="•"/>
                <a:defRPr sz="2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9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9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9pPr>
            </a:lstStyle>
            <a:p>
              <a:pPr algn="l" eaLnBrk="1" hangingPunct="1">
                <a:spcBef>
                  <a:spcPct val="0"/>
                </a:spcBef>
                <a:buFont typeface="Arial" panose="020B0604020202090204" pitchFamily="34" charset="0"/>
                <a:buNone/>
              </a:pPr>
              <a:r>
                <a:rPr lang="zh-CN" altLang="en-US" sz="2400">
                  <a:solidFill>
                    <a:schemeClr val="bg1"/>
                  </a:solidFill>
                  <a:latin typeface="Microsoft YaHei" panose="020B0503020204020204" pitchFamily="34" charset="-122"/>
                  <a:ea typeface="Microsoft YaHei" panose="020B0503020204020204" pitchFamily="34" charset="-122"/>
                </a:rPr>
                <a:t>提高血液采集技术要求</a:t>
              </a:r>
              <a:endParaRPr lang="zh-CN" altLang="en-US" sz="2400">
                <a:solidFill>
                  <a:schemeClr val="bg1"/>
                </a:solidFill>
                <a:latin typeface="Microsoft YaHei" panose="020B0503020204020204" pitchFamily="34" charset="-122"/>
                <a:ea typeface="Microsoft YaHei" panose="020B0503020204020204" pitchFamily="34" charset="-122"/>
              </a:endParaRPr>
            </a:p>
          </p:txBody>
        </p:sp>
        <p:sp>
          <p:nvSpPr>
            <p:cNvPr id="33" name="Text Box 20"/>
            <p:cNvSpPr txBox="1">
              <a:spLocks noChangeArrowheads="1"/>
            </p:cNvSpPr>
            <p:nvPr/>
          </p:nvSpPr>
          <p:spPr bwMode="auto">
            <a:xfrm>
              <a:off x="6155" y="8094"/>
              <a:ext cx="7008" cy="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lvl1pPr eaLnBrk="0" hangingPunct="0">
                <a:defRPr>
                  <a:solidFill>
                    <a:schemeClr val="tx1"/>
                  </a:solidFill>
                  <a:latin typeface="Arial" panose="020B0604020202090204" pitchFamily="34" charset="0"/>
                  <a:ea typeface="宋体" charset="0"/>
                </a:defRPr>
              </a:lvl1pPr>
              <a:lvl2pPr marL="742950" indent="-285750" eaLnBrk="0" hangingPunct="0">
                <a:defRPr>
                  <a:solidFill>
                    <a:schemeClr val="tx1"/>
                  </a:solidFill>
                  <a:latin typeface="Arial" panose="020B0604020202090204" pitchFamily="34" charset="0"/>
                  <a:ea typeface="宋体" charset="0"/>
                </a:defRPr>
              </a:lvl2pPr>
              <a:lvl3pPr marL="1143000" indent="-228600" eaLnBrk="0" hangingPunct="0">
                <a:defRPr>
                  <a:solidFill>
                    <a:schemeClr val="tx1"/>
                  </a:solidFill>
                  <a:latin typeface="Arial" panose="020B0604020202090204" pitchFamily="34" charset="0"/>
                  <a:ea typeface="宋体" charset="0"/>
                </a:defRPr>
              </a:lvl3pPr>
              <a:lvl4pPr marL="1600200" indent="-228600" eaLnBrk="0" hangingPunct="0">
                <a:defRPr>
                  <a:solidFill>
                    <a:schemeClr val="tx1"/>
                  </a:solidFill>
                  <a:latin typeface="Arial" panose="020B0604020202090204" pitchFamily="34" charset="0"/>
                  <a:ea typeface="宋体" charset="0"/>
                </a:defRPr>
              </a:lvl4pPr>
              <a:lvl5pPr marL="2057400" indent="-228600" eaLnBrk="0" hangingPunct="0">
                <a:defRPr>
                  <a:solidFill>
                    <a:schemeClr val="tx1"/>
                  </a:solidFill>
                  <a:latin typeface="Arial" panose="020B0604020202090204" pitchFamily="34" charset="0"/>
                  <a:ea typeface="宋体" charset="0"/>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9pPr>
            </a:lstStyle>
            <a:p>
              <a:pPr algn="l" eaLnBrk="1" hangingPunct="1">
                <a:buFont typeface="Arial" panose="020B0604020202090204" pitchFamily="34" charset="0"/>
                <a:buNone/>
                <a:defRPr/>
              </a:pPr>
              <a:r>
                <a:rPr lang="zh-CN" altLang="zh-CN" sz="2400">
                  <a:solidFill>
                    <a:schemeClr val="bg1"/>
                  </a:solidFill>
                  <a:latin typeface="Microsoft YaHei" panose="020B0503020204020204" pitchFamily="34" charset="-122"/>
                  <a:ea typeface="Microsoft YaHei" panose="020B0503020204020204" pitchFamily="34" charset="-122"/>
                </a:rPr>
                <a:t>加强血液存储、发放与运输管理</a:t>
              </a:r>
              <a:endParaRPr lang="zh-CN" altLang="zh-CN" sz="2400">
                <a:solidFill>
                  <a:schemeClr val="bg1"/>
                </a:solidFill>
                <a:latin typeface="Microsoft YaHei" panose="020B0503020204020204" pitchFamily="34" charset="-122"/>
                <a:ea typeface="Microsoft YaHei" panose="020B0503020204020204" pitchFamily="34" charset="-122"/>
              </a:endParaRPr>
            </a:p>
          </p:txBody>
        </p:sp>
        <p:sp>
          <p:nvSpPr>
            <p:cNvPr id="34" name="Text Box 21"/>
            <p:cNvSpPr txBox="1">
              <a:spLocks noChangeArrowheads="1"/>
            </p:cNvSpPr>
            <p:nvPr/>
          </p:nvSpPr>
          <p:spPr bwMode="auto">
            <a:xfrm>
              <a:off x="6155" y="2991"/>
              <a:ext cx="4608" cy="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90204" pitchFamily="34" charset="0"/>
                <a:buChar char="•"/>
                <a:defRPr sz="2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9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9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9pPr>
            </a:lstStyle>
            <a:p>
              <a:pPr algn="l" eaLnBrk="1" hangingPunct="1">
                <a:spcBef>
                  <a:spcPct val="0"/>
                </a:spcBef>
                <a:buFont typeface="Arial" panose="020B0604020202090204" pitchFamily="34" charset="0"/>
                <a:buNone/>
              </a:pPr>
              <a:r>
                <a:rPr lang="zh-CN" altLang="zh-CN" sz="2400" dirty="0">
                  <a:solidFill>
                    <a:schemeClr val="bg1"/>
                  </a:solidFill>
                  <a:latin typeface="Microsoft YaHei" panose="020B0503020204020204" pitchFamily="34" charset="-122"/>
                  <a:ea typeface="Microsoft YaHei" panose="020B0503020204020204" pitchFamily="34" charset="-122"/>
                </a:rPr>
                <a:t>加强献血者权益保护</a:t>
              </a:r>
              <a:endParaRPr lang="zh-CN" altLang="zh-CN" sz="2400" dirty="0">
                <a:solidFill>
                  <a:schemeClr val="bg1"/>
                </a:solidFill>
                <a:latin typeface="Microsoft YaHei" panose="020B0503020204020204" pitchFamily="34" charset="-122"/>
                <a:ea typeface="Microsoft YaHei" panose="020B0503020204020204" pitchFamily="34" charset="-122"/>
              </a:endParaRPr>
            </a:p>
          </p:txBody>
        </p:sp>
        <p:sp>
          <p:nvSpPr>
            <p:cNvPr id="35" name="Text Box 22"/>
            <p:cNvSpPr txBox="1">
              <a:spLocks noChangeArrowheads="1"/>
            </p:cNvSpPr>
            <p:nvPr/>
          </p:nvSpPr>
          <p:spPr bwMode="auto">
            <a:xfrm>
              <a:off x="6155" y="5559"/>
              <a:ext cx="6048" cy="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90204" pitchFamily="34" charset="0"/>
                <a:buChar char="•"/>
                <a:defRPr sz="2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9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9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9pPr>
            </a:lstStyle>
            <a:p>
              <a:pPr algn="l" eaLnBrk="1" hangingPunct="1">
                <a:spcBef>
                  <a:spcPct val="0"/>
                </a:spcBef>
                <a:buFont typeface="Arial" panose="020B0604020202090204" pitchFamily="34" charset="0"/>
                <a:buNone/>
              </a:pPr>
              <a:r>
                <a:rPr lang="zh-CN" altLang="zh-CN" sz="2400">
                  <a:solidFill>
                    <a:schemeClr val="bg1"/>
                  </a:solidFill>
                  <a:latin typeface="Microsoft YaHei" panose="020B0503020204020204" pitchFamily="34" charset="-122"/>
                  <a:ea typeface="Microsoft YaHei" panose="020B0503020204020204" pitchFamily="34" charset="-122"/>
                </a:rPr>
                <a:t>细化血液成分制备技术要求</a:t>
              </a:r>
              <a:endParaRPr lang="zh-CN" altLang="zh-CN" sz="2400">
                <a:solidFill>
                  <a:schemeClr val="bg1"/>
                </a:solidFill>
                <a:latin typeface="Microsoft YaHei" panose="020B0503020204020204" pitchFamily="34" charset="-122"/>
                <a:ea typeface="Microsoft YaHei" panose="020B0503020204020204" pitchFamily="34" charset="-122"/>
              </a:endParaRPr>
            </a:p>
          </p:txBody>
        </p:sp>
        <p:sp>
          <p:nvSpPr>
            <p:cNvPr id="36" name="Text Box 23"/>
            <p:cNvSpPr txBox="1">
              <a:spLocks noChangeArrowheads="1"/>
            </p:cNvSpPr>
            <p:nvPr/>
          </p:nvSpPr>
          <p:spPr bwMode="auto">
            <a:xfrm>
              <a:off x="6155" y="6846"/>
              <a:ext cx="5088" cy="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90204" pitchFamily="34" charset="0"/>
                <a:buChar char="•"/>
                <a:defRPr sz="2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9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9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9pPr>
            </a:lstStyle>
            <a:p>
              <a:pPr algn="l" eaLnBrk="1" hangingPunct="1">
                <a:spcBef>
                  <a:spcPct val="0"/>
                </a:spcBef>
                <a:buFont typeface="Arial" panose="020B0604020202090204" pitchFamily="34" charset="0"/>
                <a:buNone/>
              </a:pPr>
              <a:r>
                <a:rPr lang="zh-CN" altLang="zh-CN" sz="2400">
                  <a:solidFill>
                    <a:schemeClr val="bg1"/>
                  </a:solidFill>
                  <a:latin typeface="Microsoft YaHei" panose="020B0503020204020204" pitchFamily="34" charset="-122"/>
                  <a:ea typeface="Microsoft YaHei" panose="020B0503020204020204" pitchFamily="34" charset="-122"/>
                </a:rPr>
                <a:t>调整血液检测有关内容</a:t>
              </a:r>
              <a:endParaRPr lang="zh-CN" altLang="zh-CN" sz="2400">
                <a:solidFill>
                  <a:schemeClr val="bg1"/>
                </a:solidFill>
                <a:latin typeface="Microsoft YaHei" panose="020B0503020204020204" pitchFamily="34" charset="-122"/>
                <a:ea typeface="Microsoft YaHei" panose="020B0503020204020204" pitchFamily="34" charset="-122"/>
              </a:endParaRPr>
            </a:p>
          </p:txBody>
        </p:sp>
        <p:sp>
          <p:nvSpPr>
            <p:cNvPr id="6" name="矩形 15"/>
            <p:cNvSpPr>
              <a:spLocks noChangeArrowheads="1"/>
            </p:cNvSpPr>
            <p:nvPr/>
          </p:nvSpPr>
          <p:spPr bwMode="auto">
            <a:xfrm>
              <a:off x="5611" y="9216"/>
              <a:ext cx="8480" cy="78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90204" pitchFamily="34" charset="0"/>
                <a:buChar char="•"/>
                <a:defRPr sz="2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9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9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 typeface="Arial" panose="020B0604020202090204" pitchFamily="34" charset="0"/>
                <a:buNone/>
              </a:pPr>
              <a:endParaRPr lang="zh-CN" altLang="en-US" sz="1800">
                <a:solidFill>
                  <a:schemeClr val="bg1"/>
                </a:solidFill>
                <a:latin typeface="Microsoft YaHei" panose="020B0503020204020204" pitchFamily="34" charset="-122"/>
                <a:ea typeface="Microsoft YaHei" panose="020B0503020204020204" pitchFamily="34" charset="-122"/>
              </a:endParaRPr>
            </a:p>
          </p:txBody>
        </p:sp>
        <p:sp>
          <p:nvSpPr>
            <p:cNvPr id="7" name="椭圆 10"/>
            <p:cNvSpPr>
              <a:spLocks noChangeArrowheads="1"/>
            </p:cNvSpPr>
            <p:nvPr/>
          </p:nvSpPr>
          <p:spPr bwMode="auto">
            <a:xfrm>
              <a:off x="5161" y="9195"/>
              <a:ext cx="787" cy="785"/>
            </a:xfrm>
            <a:prstGeom prst="ellipse">
              <a:avLst/>
            </a:prstGeom>
            <a:gradFill rotWithShape="1">
              <a:gsLst>
                <a:gs pos="0">
                  <a:srgbClr val="FFFF80"/>
                </a:gs>
                <a:gs pos="50000">
                  <a:srgbClr val="FFFFB3"/>
                </a:gs>
                <a:gs pos="100000">
                  <a:srgbClr val="FFFFDA"/>
                </a:gs>
              </a:gsLst>
              <a:lin ang="5400000" scaled="1"/>
            </a:gradFill>
            <a:ln w="9525" cmpd="sng">
              <a:solidFill>
                <a:srgbClr val="FFFF00"/>
              </a:solidFill>
              <a:round/>
            </a:ln>
            <a:effectLst>
              <a:outerShdw blurRad="63500" dist="20000" dir="5400000" algn="ctr" rotWithShape="0">
                <a:srgbClr val="000000">
                  <a:alpha val="28000"/>
                </a:srgbClr>
              </a:outerShdw>
            </a:effectLst>
          </p:spPr>
          <p:txBody>
            <a:bodyPr anchor="ctr"/>
            <a:lstStyle>
              <a:lvl1pPr eaLnBrk="0" hangingPunct="0">
                <a:defRPr>
                  <a:solidFill>
                    <a:schemeClr val="tx1"/>
                  </a:solidFill>
                  <a:latin typeface="Arial" panose="020B0604020202090204" pitchFamily="34" charset="0"/>
                  <a:ea typeface="宋体" charset="0"/>
                </a:defRPr>
              </a:lvl1pPr>
              <a:lvl2pPr marL="742950" indent="-285750" eaLnBrk="0" hangingPunct="0">
                <a:defRPr>
                  <a:solidFill>
                    <a:schemeClr val="tx1"/>
                  </a:solidFill>
                  <a:latin typeface="Arial" panose="020B0604020202090204" pitchFamily="34" charset="0"/>
                  <a:ea typeface="宋体" charset="0"/>
                </a:defRPr>
              </a:lvl2pPr>
              <a:lvl3pPr marL="1143000" indent="-228600" eaLnBrk="0" hangingPunct="0">
                <a:defRPr>
                  <a:solidFill>
                    <a:schemeClr val="tx1"/>
                  </a:solidFill>
                  <a:latin typeface="Arial" panose="020B0604020202090204" pitchFamily="34" charset="0"/>
                  <a:ea typeface="宋体" charset="0"/>
                </a:defRPr>
              </a:lvl3pPr>
              <a:lvl4pPr marL="1600200" indent="-228600" eaLnBrk="0" hangingPunct="0">
                <a:defRPr>
                  <a:solidFill>
                    <a:schemeClr val="tx1"/>
                  </a:solidFill>
                  <a:latin typeface="Arial" panose="020B0604020202090204" pitchFamily="34" charset="0"/>
                  <a:ea typeface="宋体" charset="0"/>
                </a:defRPr>
              </a:lvl4pPr>
              <a:lvl5pPr marL="2057400" indent="-228600" eaLnBrk="0" hangingPunct="0">
                <a:defRPr>
                  <a:solidFill>
                    <a:schemeClr val="tx1"/>
                  </a:solidFill>
                  <a:latin typeface="Arial" panose="020B0604020202090204" pitchFamily="34" charset="0"/>
                  <a:ea typeface="宋体" charset="0"/>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9pPr>
            </a:lstStyle>
            <a:p>
              <a:pPr algn="ctr" eaLnBrk="1" hangingPunct="1">
                <a:buFont typeface="Arial" panose="020B0604020202090204" pitchFamily="34" charset="0"/>
                <a:buNone/>
                <a:defRPr/>
              </a:pPr>
              <a:r>
                <a:rPr lang="en-US" altLang="zh-CN" sz="2200" b="1">
                  <a:solidFill>
                    <a:schemeClr val="bg1"/>
                  </a:solidFill>
                  <a:latin typeface="Microsoft YaHei" panose="020B0503020204020204" pitchFamily="34" charset="-122"/>
                  <a:ea typeface="Microsoft YaHei" panose="020B0503020204020204" pitchFamily="34" charset="-122"/>
                </a:rPr>
                <a:t>6</a:t>
              </a:r>
              <a:endParaRPr lang="en-US" altLang="zh-CN" sz="2200" b="1">
                <a:solidFill>
                  <a:schemeClr val="bg1"/>
                </a:solidFill>
                <a:latin typeface="Microsoft YaHei" panose="020B0503020204020204" pitchFamily="34" charset="-122"/>
                <a:ea typeface="Microsoft YaHei" panose="020B0503020204020204" pitchFamily="34" charset="-122"/>
              </a:endParaRPr>
            </a:p>
          </p:txBody>
        </p:sp>
        <p:sp>
          <p:nvSpPr>
            <p:cNvPr id="8" name="Text Box 21"/>
            <p:cNvSpPr txBox="1">
              <a:spLocks noChangeArrowheads="1"/>
            </p:cNvSpPr>
            <p:nvPr/>
          </p:nvSpPr>
          <p:spPr bwMode="auto">
            <a:xfrm>
              <a:off x="6155" y="9235"/>
              <a:ext cx="4128" cy="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90204" pitchFamily="34" charset="0"/>
                <a:buChar char="•"/>
                <a:defRPr sz="2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9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9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9pPr>
            </a:lstStyle>
            <a:p>
              <a:pPr algn="l" eaLnBrk="1" hangingPunct="1">
                <a:spcBef>
                  <a:spcPct val="0"/>
                </a:spcBef>
                <a:buFont typeface="Arial" panose="020B0604020202090204" pitchFamily="34" charset="0"/>
                <a:buNone/>
              </a:pPr>
              <a:r>
                <a:rPr lang="zh-CN" altLang="zh-CN" sz="2400" dirty="0">
                  <a:solidFill>
                    <a:schemeClr val="bg1"/>
                  </a:solidFill>
                  <a:latin typeface="Microsoft YaHei" panose="020B0503020204020204" pitchFamily="34" charset="-122"/>
                  <a:ea typeface="Microsoft YaHei" panose="020B0503020204020204" pitchFamily="34" charset="-122"/>
                  <a:sym typeface="+mn-ea"/>
                </a:rPr>
                <a:t>强化质量控制管理</a:t>
              </a:r>
              <a:endParaRPr lang="zh-CN" altLang="zh-CN" sz="2400" dirty="0">
                <a:solidFill>
                  <a:schemeClr val="bg1"/>
                </a:solidFill>
                <a:latin typeface="Microsoft YaHei" panose="020B0503020204020204" pitchFamily="34" charset="-122"/>
                <a:ea typeface="Microsoft YaHei" panose="020B0503020204020204" pitchFamily="34" charset="-122"/>
              </a:endParaRPr>
            </a:p>
          </p:txBody>
        </p:sp>
      </p:gr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b="1" dirty="0"/>
              <a:t>新规程主要修订的内容</a:t>
            </a:r>
            <a:endParaRPr kumimoji="1" lang="zh-CN" altLang="en-US" b="1" dirty="0"/>
          </a:p>
        </p:txBody>
      </p:sp>
      <p:sp>
        <p:nvSpPr>
          <p:cNvPr id="3" name="内容占位符 2"/>
          <p:cNvSpPr>
            <a:spLocks noGrp="1"/>
          </p:cNvSpPr>
          <p:nvPr>
            <p:ph idx="1"/>
          </p:nvPr>
        </p:nvSpPr>
        <p:spPr>
          <a:xfrm>
            <a:off x="1104265" y="1853565"/>
            <a:ext cx="10010775" cy="4195445"/>
          </a:xfrm>
        </p:spPr>
        <p:txBody>
          <a:bodyPr>
            <a:noAutofit/>
          </a:bodyPr>
          <a:lstStyle/>
          <a:p>
            <a:pPr marL="457200" indent="-457200">
              <a:lnSpc>
                <a:spcPct val="150000"/>
              </a:lnSpc>
              <a:buFont typeface="+mj-lt"/>
              <a:buAutoNum type="arabicPeriod"/>
            </a:pPr>
            <a:r>
              <a:rPr lang="zh-CN" altLang="zh-CN" sz="2800" b="1" dirty="0">
                <a:solidFill>
                  <a:schemeClr val="tx1"/>
                </a:solidFill>
                <a:latin typeface="+mn-ea"/>
                <a:ea typeface="+mn-ea"/>
                <a:sym typeface="+mn-ea"/>
              </a:rPr>
              <a:t>加强献血者权益保护</a:t>
            </a:r>
            <a:endParaRPr kumimoji="1" lang="zh-CN" altLang="en-US" sz="2800" b="1" dirty="0">
              <a:latin typeface="+mn-ea"/>
              <a:ea typeface="+mn-ea"/>
            </a:endParaRPr>
          </a:p>
          <a:p>
            <a:pPr marL="857250" indent="-457200">
              <a:lnSpc>
                <a:spcPct val="150000"/>
              </a:lnSpc>
              <a:buFont typeface="+mj-ea"/>
              <a:buAutoNum type="circleNumDbPlain"/>
            </a:pPr>
            <a:r>
              <a:rPr kumimoji="1" lang="zh-CN" altLang="en-US" sz="2400" b="1" dirty="0">
                <a:latin typeface="+mn-ea"/>
                <a:ea typeface="+mn-ea"/>
              </a:rPr>
              <a:t>细化献血前告知内容和告知方式</a:t>
            </a:r>
            <a:endParaRPr kumimoji="1" lang="zh-CN" altLang="en-US" sz="2400" b="1" dirty="0">
              <a:latin typeface="+mn-ea"/>
              <a:ea typeface="+mn-ea"/>
            </a:endParaRPr>
          </a:p>
          <a:p>
            <a:pPr marL="857250" indent="-457200">
              <a:lnSpc>
                <a:spcPct val="150000"/>
              </a:lnSpc>
              <a:buFont typeface="+mj-ea"/>
              <a:buAutoNum type="circleNumDbPlain"/>
            </a:pPr>
            <a:r>
              <a:rPr kumimoji="1" lang="zh-CN" altLang="en-US" sz="2400" b="1" dirty="0">
                <a:latin typeface="+mn-ea"/>
                <a:ea typeface="+mn-ea"/>
              </a:rPr>
              <a:t>增加献血者关爱内容和</a:t>
            </a:r>
            <a:r>
              <a:rPr kumimoji="1" lang="zh-CN" altLang="en-US" sz="2400" b="1" dirty="0">
                <a:solidFill>
                  <a:srgbClr val="FFFF00"/>
                </a:solidFill>
                <a:latin typeface="+mn-ea"/>
                <a:ea typeface="+mn-ea"/>
              </a:rPr>
              <a:t>永久性屏蔽</a:t>
            </a:r>
            <a:r>
              <a:rPr kumimoji="1" lang="zh-CN" altLang="en-US" sz="2400" b="1" dirty="0">
                <a:latin typeface="+mn-ea"/>
                <a:ea typeface="+mn-ea"/>
              </a:rPr>
              <a:t>具体指标</a:t>
            </a:r>
            <a:endParaRPr kumimoji="1" lang="zh-CN" altLang="en-US" sz="2400" b="1" dirty="0">
              <a:latin typeface="+mn-ea"/>
              <a:ea typeface="+mn-ea"/>
            </a:endParaRPr>
          </a:p>
          <a:p>
            <a:pPr marL="857250" indent="-457200">
              <a:lnSpc>
                <a:spcPct val="150000"/>
              </a:lnSpc>
              <a:buFont typeface="+mj-ea"/>
              <a:buAutoNum type="circleNumDbPlain"/>
            </a:pPr>
            <a:r>
              <a:rPr kumimoji="1" lang="zh-CN" altLang="en-US" sz="2400" b="1" dirty="0">
                <a:latin typeface="+mn-ea"/>
                <a:ea typeface="+mn-ea"/>
              </a:rPr>
              <a:t>保护献血者知情同意权、献血选择权</a:t>
            </a:r>
            <a:endParaRPr kumimoji="1" lang="zh-CN" altLang="en-US" sz="2400" b="1" dirty="0">
              <a:latin typeface="+mn-ea"/>
              <a:ea typeface="+mn-ea"/>
            </a:endParaRPr>
          </a:p>
          <a:p>
            <a:pPr marL="857250" indent="-457200">
              <a:lnSpc>
                <a:spcPct val="150000"/>
              </a:lnSpc>
              <a:buFont typeface="+mj-ea"/>
              <a:buAutoNum type="circleNumDbPlain"/>
            </a:pPr>
            <a:r>
              <a:rPr kumimoji="1" lang="zh-CN" altLang="en-US" sz="2400" b="1" dirty="0">
                <a:latin typeface="+mn-ea"/>
                <a:ea typeface="+mn-ea"/>
              </a:rPr>
              <a:t>保护献血者健康权益</a:t>
            </a:r>
            <a:endParaRPr kumimoji="1" lang="zh-CN" altLang="en-US" sz="2400" b="1" dirty="0">
              <a:latin typeface="+mn-ea"/>
              <a:ea typeface="+mn-ea"/>
            </a:endParaRPr>
          </a:p>
          <a:p>
            <a:endParaRPr kumimoji="1" lang="zh-CN" altLang="en-US" sz="2400" b="1" dirty="0">
              <a:latin typeface="+mn-ea"/>
              <a:ea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b="1" dirty="0"/>
              <a:t>新规程主要修订的内容</a:t>
            </a:r>
            <a:endParaRPr kumimoji="1" lang="zh-CN" altLang="en-US" b="1" dirty="0"/>
          </a:p>
        </p:txBody>
      </p:sp>
      <p:sp>
        <p:nvSpPr>
          <p:cNvPr id="3" name="内容占位符 2"/>
          <p:cNvSpPr>
            <a:spLocks noGrp="1"/>
          </p:cNvSpPr>
          <p:nvPr>
            <p:ph idx="1"/>
          </p:nvPr>
        </p:nvSpPr>
        <p:spPr>
          <a:xfrm>
            <a:off x="1104265" y="1853565"/>
            <a:ext cx="9968865" cy="4195445"/>
          </a:xfrm>
        </p:spPr>
        <p:txBody>
          <a:bodyPr>
            <a:noAutofit/>
          </a:bodyPr>
          <a:lstStyle/>
          <a:p>
            <a:pPr marL="457200" indent="-457200">
              <a:lnSpc>
                <a:spcPct val="150000"/>
              </a:lnSpc>
              <a:buFont typeface="+mj-lt"/>
              <a:buAutoNum type="arabicPeriod" startAt="2"/>
            </a:pPr>
            <a:r>
              <a:rPr lang="zh-CN" altLang="en-US" sz="2800" b="1">
                <a:solidFill>
                  <a:schemeClr val="tx1"/>
                </a:solidFill>
                <a:latin typeface="+mn-ea"/>
                <a:ea typeface="+mn-ea"/>
                <a:sym typeface="+mn-ea"/>
              </a:rPr>
              <a:t>提高血液采集技术要求</a:t>
            </a:r>
            <a:endParaRPr kumimoji="1" lang="zh-CN" altLang="en-US" sz="2400" b="1" dirty="0">
              <a:latin typeface="+mn-ea"/>
              <a:ea typeface="+mn-ea"/>
            </a:endParaRPr>
          </a:p>
          <a:p>
            <a:pPr marL="857250" indent="-457200">
              <a:lnSpc>
                <a:spcPct val="150000"/>
              </a:lnSpc>
              <a:buFont typeface="+mj-ea"/>
              <a:buAutoNum type="circleNumDbPlain"/>
            </a:pPr>
            <a:r>
              <a:rPr kumimoji="1" lang="zh-CN" altLang="en-US" sz="2400" b="1" dirty="0">
                <a:latin typeface="+mn-ea"/>
                <a:ea typeface="+mn-ea"/>
              </a:rPr>
              <a:t>增加献血场所、献血环境、采血人员手卫生、采血设备、采血器材与耗材等具体要求</a:t>
            </a:r>
            <a:endParaRPr kumimoji="1" lang="zh-CN" altLang="en-US" sz="2400" b="1" dirty="0">
              <a:latin typeface="+mn-ea"/>
              <a:ea typeface="+mn-ea"/>
            </a:endParaRPr>
          </a:p>
          <a:p>
            <a:pPr marL="857250" indent="-457200">
              <a:lnSpc>
                <a:spcPct val="150000"/>
              </a:lnSpc>
              <a:buFont typeface="+mj-ea"/>
              <a:buAutoNum type="circleNumDbPlain"/>
            </a:pPr>
            <a:r>
              <a:rPr kumimoji="1" lang="zh-CN" altLang="en-US" sz="2400" b="1" dirty="0">
                <a:latin typeface="+mn-ea"/>
                <a:ea typeface="+mn-ea"/>
              </a:rPr>
              <a:t>细化全血、成分血采集技术要求</a:t>
            </a:r>
            <a:endParaRPr kumimoji="1" lang="zh-CN" altLang="en-US" sz="2400" b="1" dirty="0">
              <a:latin typeface="+mn-ea"/>
              <a:ea typeface="+mn-ea"/>
            </a:endParaRPr>
          </a:p>
          <a:p>
            <a:pPr marL="857250" indent="-457200">
              <a:lnSpc>
                <a:spcPct val="150000"/>
              </a:lnSpc>
              <a:buFont typeface="+mj-ea"/>
              <a:buAutoNum type="circleNumDbPlain"/>
            </a:pPr>
            <a:r>
              <a:rPr kumimoji="1" lang="zh-CN" altLang="en-US" sz="2400" b="1" dirty="0">
                <a:latin typeface="+mn-ea"/>
                <a:ea typeface="+mn-ea"/>
              </a:rPr>
              <a:t>细化血液检测标本留取与热合、</a:t>
            </a:r>
            <a:r>
              <a:rPr kumimoji="1" lang="zh-CN" altLang="en-US" sz="2400" b="1" dirty="0">
                <a:solidFill>
                  <a:srgbClr val="FFFF00"/>
                </a:solidFill>
                <a:latin typeface="+mn-ea"/>
                <a:ea typeface="+mn-ea"/>
              </a:rPr>
              <a:t>血袋条形码标识粘贴</a:t>
            </a:r>
            <a:r>
              <a:rPr kumimoji="1" lang="zh-CN" altLang="en-US" sz="2400" b="1" dirty="0">
                <a:latin typeface="+mn-ea"/>
                <a:ea typeface="+mn-ea"/>
              </a:rPr>
              <a:t>、血液暂存等技术操作内容</a:t>
            </a:r>
            <a:endParaRPr kumimoji="1" lang="zh-CN" altLang="en-US" sz="2400" b="1" dirty="0">
              <a:latin typeface="+mn-ea"/>
              <a:ea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b="1" dirty="0"/>
              <a:t>新规程主要修订的内容</a:t>
            </a:r>
            <a:endParaRPr kumimoji="1" lang="zh-CN" altLang="en-US" b="1" dirty="0"/>
          </a:p>
        </p:txBody>
      </p:sp>
      <p:sp>
        <p:nvSpPr>
          <p:cNvPr id="3" name="内容占位符 2"/>
          <p:cNvSpPr>
            <a:spLocks noGrp="1"/>
          </p:cNvSpPr>
          <p:nvPr>
            <p:ph idx="1"/>
          </p:nvPr>
        </p:nvSpPr>
        <p:spPr>
          <a:xfrm>
            <a:off x="1102995" y="1853565"/>
            <a:ext cx="10003790" cy="4195445"/>
          </a:xfrm>
        </p:spPr>
        <p:txBody>
          <a:bodyPr>
            <a:noAutofit/>
          </a:bodyPr>
          <a:lstStyle/>
          <a:p>
            <a:pPr marL="457200" indent="-457200">
              <a:lnSpc>
                <a:spcPct val="150000"/>
              </a:lnSpc>
              <a:buFont typeface="+mj-lt"/>
              <a:buAutoNum type="arabicPeriod" startAt="3"/>
            </a:pPr>
            <a:r>
              <a:rPr lang="zh-CN" altLang="zh-CN" sz="2800" b="1" dirty="0">
                <a:solidFill>
                  <a:schemeClr val="tx1"/>
                </a:solidFill>
                <a:latin typeface="+mn-ea"/>
                <a:ea typeface="+mn-ea"/>
                <a:sym typeface="+mn-ea"/>
              </a:rPr>
              <a:t>细化血液成分制备技术要求</a:t>
            </a:r>
            <a:endParaRPr lang="zh-CN" altLang="zh-CN" sz="2400" b="1" dirty="0">
              <a:solidFill>
                <a:schemeClr val="tx1"/>
              </a:solidFill>
              <a:latin typeface="+mn-ea"/>
              <a:ea typeface="+mn-ea"/>
              <a:sym typeface="+mn-ea"/>
            </a:endParaRPr>
          </a:p>
          <a:p>
            <a:pPr marL="857250" indent="-457200">
              <a:lnSpc>
                <a:spcPct val="150000"/>
              </a:lnSpc>
              <a:buFont typeface="+mj-ea"/>
              <a:buAutoNum type="circleNumDbPlain"/>
            </a:pPr>
            <a:r>
              <a:rPr kumimoji="1" lang="zh-CN" altLang="en-US" sz="2400" b="1" dirty="0">
                <a:latin typeface="+mn-ea"/>
                <a:ea typeface="+mn-ea"/>
              </a:rPr>
              <a:t>增加血液成分分类名称：去冷沉淀冰冻血浆、混合浓缩血小板</a:t>
            </a:r>
            <a:endParaRPr kumimoji="1" lang="zh-CN" altLang="en-US" sz="2400" b="1" dirty="0">
              <a:latin typeface="+mn-ea"/>
              <a:ea typeface="+mn-ea"/>
            </a:endParaRPr>
          </a:p>
          <a:p>
            <a:pPr marL="857250" indent="-457200">
              <a:lnSpc>
                <a:spcPct val="150000"/>
              </a:lnSpc>
              <a:buFont typeface="+mj-ea"/>
              <a:buAutoNum type="circleNumDbPlain"/>
            </a:pPr>
            <a:r>
              <a:rPr kumimoji="1" lang="zh-CN" altLang="en-US" sz="2400" b="1" dirty="0">
                <a:latin typeface="+mn-ea"/>
                <a:ea typeface="+mn-ea"/>
              </a:rPr>
              <a:t>增加</a:t>
            </a:r>
            <a:r>
              <a:rPr kumimoji="1" lang="zh-CN" altLang="en-US" sz="2400" b="1" dirty="0">
                <a:solidFill>
                  <a:srgbClr val="FFFF00"/>
                </a:solidFill>
                <a:latin typeface="+mn-ea"/>
                <a:ea typeface="+mn-ea"/>
              </a:rPr>
              <a:t>小规格血液</a:t>
            </a:r>
            <a:r>
              <a:rPr kumimoji="1" lang="zh-CN" altLang="en-US" sz="2400" b="1" dirty="0">
                <a:latin typeface="+mn-ea"/>
                <a:ea typeface="+mn-ea"/>
              </a:rPr>
              <a:t>制备以满足儿童用血需求</a:t>
            </a:r>
            <a:endParaRPr kumimoji="1" lang="zh-CN" altLang="en-US" sz="2400" b="1" dirty="0">
              <a:latin typeface="+mn-ea"/>
              <a:ea typeface="+mn-ea"/>
            </a:endParaRPr>
          </a:p>
          <a:p>
            <a:pPr marL="857250" indent="-457200">
              <a:lnSpc>
                <a:spcPct val="150000"/>
              </a:lnSpc>
              <a:buFont typeface="+mj-ea"/>
              <a:buAutoNum type="circleNumDbPlain"/>
            </a:pPr>
            <a:r>
              <a:rPr kumimoji="1" lang="zh-CN" altLang="en-US" sz="2400" b="1" dirty="0">
                <a:latin typeface="+mn-ea"/>
                <a:ea typeface="+mn-ea"/>
              </a:rPr>
              <a:t>细化血液成分制备时间、无菌操作技术、离心、速冻、病毒灭活等项目具体要求</a:t>
            </a:r>
            <a:endParaRPr kumimoji="1" lang="zh-CN" altLang="en-US" sz="2400" b="1" dirty="0">
              <a:latin typeface="+mn-ea"/>
              <a:ea typeface="+mn-ea"/>
            </a:endParaRPr>
          </a:p>
          <a:p>
            <a:pPr marL="400050" indent="0">
              <a:lnSpc>
                <a:spcPct val="150000"/>
              </a:lnSpc>
              <a:buFont typeface="+mj-ea"/>
              <a:buNone/>
            </a:pPr>
            <a:endParaRPr kumimoji="1" lang="zh-CN" altLang="en-US" sz="2400" b="1" dirty="0">
              <a:latin typeface="+mn-ea"/>
              <a:ea typeface="+mn-ea"/>
            </a:endParaRPr>
          </a:p>
          <a:p>
            <a:endParaRPr kumimoji="1" lang="zh-CN" altLang="en-US" sz="2400" b="1" dirty="0">
              <a:latin typeface="+mn-ea"/>
              <a:ea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b="1" dirty="0"/>
              <a:t>新规程主要修订的内容</a:t>
            </a:r>
            <a:endParaRPr kumimoji="1" lang="zh-CN" altLang="en-US" b="1" dirty="0"/>
          </a:p>
        </p:txBody>
      </p:sp>
      <p:sp>
        <p:nvSpPr>
          <p:cNvPr id="3" name="内容占位符 2"/>
          <p:cNvSpPr>
            <a:spLocks noGrp="1"/>
          </p:cNvSpPr>
          <p:nvPr>
            <p:ph idx="1"/>
          </p:nvPr>
        </p:nvSpPr>
        <p:spPr>
          <a:xfrm>
            <a:off x="1104265" y="1853565"/>
            <a:ext cx="9982835" cy="4195445"/>
          </a:xfrm>
        </p:spPr>
        <p:txBody>
          <a:bodyPr>
            <a:noAutofit/>
          </a:bodyPr>
          <a:lstStyle/>
          <a:p>
            <a:pPr marL="457200" indent="-457200">
              <a:lnSpc>
                <a:spcPct val="150000"/>
              </a:lnSpc>
              <a:buFont typeface="+mj-lt"/>
              <a:buAutoNum type="arabicPeriod" startAt="4"/>
            </a:pPr>
            <a:r>
              <a:rPr lang="zh-CN" altLang="zh-CN" sz="2800" b="1" dirty="0">
                <a:solidFill>
                  <a:schemeClr val="tx1"/>
                </a:solidFill>
                <a:latin typeface="+mn-ea"/>
                <a:ea typeface="+mn-ea"/>
                <a:sym typeface="+mn-ea"/>
              </a:rPr>
              <a:t>调整血液检测有关内容</a:t>
            </a:r>
            <a:endParaRPr lang="zh-CN" altLang="zh-CN" sz="2400" b="1" dirty="0">
              <a:solidFill>
                <a:schemeClr val="tx1"/>
              </a:solidFill>
              <a:latin typeface="+mn-ea"/>
              <a:ea typeface="+mn-ea"/>
              <a:sym typeface="+mn-ea"/>
            </a:endParaRPr>
          </a:p>
          <a:p>
            <a:pPr marL="857250" indent="-457200">
              <a:lnSpc>
                <a:spcPct val="150000"/>
              </a:lnSpc>
              <a:buFont typeface="+mj-ea"/>
              <a:buAutoNum type="circleNumDbPlain"/>
            </a:pPr>
            <a:r>
              <a:rPr kumimoji="1" lang="zh-CN" altLang="en-US" sz="2400" b="1" dirty="0">
                <a:latin typeface="+mn-ea"/>
                <a:ea typeface="+mn-ea"/>
              </a:rPr>
              <a:t>调整为</a:t>
            </a:r>
            <a:r>
              <a:rPr kumimoji="1" lang="zh-CN" altLang="en-US" sz="2400" b="1" dirty="0">
                <a:solidFill>
                  <a:srgbClr val="FFFF00"/>
                </a:solidFill>
                <a:latin typeface="+mn-ea"/>
                <a:ea typeface="+mn-ea"/>
              </a:rPr>
              <a:t>血清学和核酸各检测一次</a:t>
            </a:r>
            <a:endParaRPr kumimoji="1" lang="zh-CN" altLang="en-US" sz="2400" b="1" dirty="0">
              <a:latin typeface="+mn-ea"/>
              <a:ea typeface="+mn-ea"/>
            </a:endParaRPr>
          </a:p>
          <a:p>
            <a:pPr marL="857250" indent="-457200">
              <a:lnSpc>
                <a:spcPct val="150000"/>
              </a:lnSpc>
              <a:buFont typeface="+mj-ea"/>
              <a:buAutoNum type="circleNumDbPlain"/>
            </a:pPr>
            <a:r>
              <a:rPr kumimoji="1" lang="zh-CN" altLang="en-US" sz="2400" b="1" dirty="0">
                <a:latin typeface="+mn-ea"/>
                <a:ea typeface="+mn-ea"/>
              </a:rPr>
              <a:t>规定了血液筛查检测试剂与证照要求</a:t>
            </a:r>
            <a:endParaRPr kumimoji="1" lang="zh-CN" altLang="en-US" sz="2400" b="1" dirty="0">
              <a:latin typeface="+mn-ea"/>
              <a:ea typeface="+mn-ea"/>
            </a:endParaRPr>
          </a:p>
          <a:p>
            <a:pPr marL="857250" indent="-457200">
              <a:lnSpc>
                <a:spcPct val="150000"/>
              </a:lnSpc>
              <a:buFont typeface="+mj-ea"/>
              <a:buAutoNum type="circleNumDbPlain"/>
            </a:pPr>
            <a:r>
              <a:rPr kumimoji="1" lang="zh-CN" altLang="en-US" sz="2400" b="1" dirty="0">
                <a:latin typeface="+mn-ea"/>
                <a:ea typeface="+mn-ea"/>
              </a:rPr>
              <a:t>细化实验室设置、设施、环境、检测标本处理、试验性能监控</a:t>
            </a:r>
            <a:r>
              <a:rPr kumimoji="1" lang="zh-CN" altLang="en-US" sz="2400" b="1" dirty="0">
                <a:latin typeface="+mn-ea"/>
                <a:ea typeface="+mn-ea"/>
                <a:sym typeface="+mn-ea"/>
              </a:rPr>
              <a:t>等内容</a:t>
            </a:r>
            <a:endParaRPr kumimoji="1" lang="zh-CN" altLang="en-US" sz="2400" b="1" dirty="0">
              <a:latin typeface="+mn-ea"/>
              <a:ea typeface="+mn-ea"/>
            </a:endParaRPr>
          </a:p>
          <a:p>
            <a:pPr marL="857250" indent="-457200">
              <a:lnSpc>
                <a:spcPct val="150000"/>
              </a:lnSpc>
              <a:buFont typeface="+mj-ea"/>
              <a:buAutoNum type="circleNumDbPlain"/>
            </a:pPr>
            <a:r>
              <a:rPr kumimoji="1" lang="zh-CN" altLang="en-US" sz="2400" b="1" dirty="0">
                <a:latin typeface="+mn-ea"/>
                <a:ea typeface="+mn-ea"/>
              </a:rPr>
              <a:t>细化检测结果判定内容</a:t>
            </a:r>
            <a:endParaRPr kumimoji="1" lang="zh-CN" altLang="en-US" sz="2400" b="1" dirty="0">
              <a:latin typeface="+mn-ea"/>
              <a:ea typeface="+mn-ea"/>
            </a:endParaRPr>
          </a:p>
          <a:p>
            <a:pPr marL="857250" indent="-457200">
              <a:lnSpc>
                <a:spcPct val="150000"/>
              </a:lnSpc>
              <a:buFont typeface="+mj-ea"/>
              <a:buAutoNum type="circleNumDbPlain"/>
            </a:pPr>
            <a:endParaRPr kumimoji="1" lang="zh-CN" altLang="en-US" sz="2400" b="1" dirty="0">
              <a:latin typeface="+mn-ea"/>
              <a:ea typeface="+mn-ea"/>
            </a:endParaRPr>
          </a:p>
          <a:p>
            <a:pPr marL="400050" indent="0">
              <a:lnSpc>
                <a:spcPct val="150000"/>
              </a:lnSpc>
              <a:buFont typeface="+mj-ea"/>
              <a:buNone/>
            </a:pPr>
            <a:endParaRPr kumimoji="1" lang="zh-CN" altLang="en-US" sz="2400" b="1" dirty="0">
              <a:latin typeface="+mn-ea"/>
              <a:ea typeface="+mn-ea"/>
            </a:endParaRPr>
          </a:p>
          <a:p>
            <a:endParaRPr kumimoji="1" lang="zh-CN" altLang="en-US" sz="2400" b="1" dirty="0">
              <a:latin typeface="+mn-ea"/>
              <a:ea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b="1" dirty="0"/>
              <a:t>新规程主要修订的内容</a:t>
            </a:r>
            <a:endParaRPr kumimoji="1" lang="zh-CN" altLang="en-US" b="1" dirty="0"/>
          </a:p>
        </p:txBody>
      </p:sp>
      <p:sp>
        <p:nvSpPr>
          <p:cNvPr id="3" name="内容占位符 2"/>
          <p:cNvSpPr>
            <a:spLocks noGrp="1"/>
          </p:cNvSpPr>
          <p:nvPr>
            <p:ph idx="1"/>
          </p:nvPr>
        </p:nvSpPr>
        <p:spPr>
          <a:xfrm>
            <a:off x="1104265" y="1853565"/>
            <a:ext cx="10005060" cy="4652010"/>
          </a:xfrm>
        </p:spPr>
        <p:txBody>
          <a:bodyPr>
            <a:noAutofit/>
          </a:bodyPr>
          <a:lstStyle/>
          <a:p>
            <a:pPr marL="457200" indent="-457200">
              <a:lnSpc>
                <a:spcPct val="150000"/>
              </a:lnSpc>
              <a:buFont typeface="+mj-lt"/>
              <a:buAutoNum type="arabicPeriod" startAt="5"/>
            </a:pPr>
            <a:r>
              <a:rPr lang="zh-CN" altLang="zh-CN" sz="2800" b="1" dirty="0">
                <a:solidFill>
                  <a:schemeClr val="tx1"/>
                </a:solidFill>
                <a:latin typeface="+mn-ea"/>
                <a:ea typeface="+mn-ea"/>
                <a:sym typeface="+mn-ea"/>
              </a:rPr>
              <a:t>加强血液储</a:t>
            </a:r>
            <a:r>
              <a:rPr lang="zh-CN" altLang="zh-CN" sz="2800" b="1" dirty="0">
                <a:latin typeface="+mn-ea"/>
                <a:ea typeface="+mn-ea"/>
                <a:sym typeface="+mn-ea"/>
              </a:rPr>
              <a:t>存</a:t>
            </a:r>
            <a:r>
              <a:rPr lang="zh-CN" altLang="zh-CN" sz="2800" b="1" dirty="0">
                <a:solidFill>
                  <a:schemeClr val="tx1"/>
                </a:solidFill>
                <a:latin typeface="+mn-ea"/>
                <a:ea typeface="+mn-ea"/>
                <a:sym typeface="+mn-ea"/>
              </a:rPr>
              <a:t>、发放与运输管理</a:t>
            </a:r>
            <a:endParaRPr lang="zh-CN" altLang="zh-CN" sz="2400" b="1" dirty="0">
              <a:solidFill>
                <a:schemeClr val="tx1"/>
              </a:solidFill>
              <a:latin typeface="+mn-ea"/>
              <a:ea typeface="+mn-ea"/>
              <a:sym typeface="+mn-ea"/>
            </a:endParaRPr>
          </a:p>
          <a:p>
            <a:pPr marL="857250" indent="-457200">
              <a:lnSpc>
                <a:spcPct val="150000"/>
              </a:lnSpc>
              <a:buFont typeface="+mj-ea"/>
              <a:buAutoNum type="circleNumDbPlain"/>
            </a:pPr>
            <a:r>
              <a:rPr kumimoji="1" lang="zh-CN" altLang="en-US" sz="2400" b="1" dirty="0">
                <a:latin typeface="+mn-ea"/>
                <a:ea typeface="+mn-ea"/>
              </a:rPr>
              <a:t>细化合格血液、待检测血液和不合格血液分区</a:t>
            </a:r>
            <a:r>
              <a:rPr kumimoji="1" lang="zh-CN" altLang="en-US" sz="2400" b="1" dirty="0">
                <a:solidFill>
                  <a:srgbClr val="FFFF00"/>
                </a:solidFill>
                <a:latin typeface="+mn-ea"/>
                <a:ea typeface="+mn-ea"/>
              </a:rPr>
              <a:t>存放要求</a:t>
            </a:r>
            <a:endParaRPr kumimoji="1" lang="zh-CN" altLang="en-US" sz="2400" b="1" dirty="0">
              <a:latin typeface="+mn-ea"/>
              <a:ea typeface="+mn-ea"/>
            </a:endParaRPr>
          </a:p>
          <a:p>
            <a:pPr marL="857250" indent="-457200">
              <a:lnSpc>
                <a:spcPct val="150000"/>
              </a:lnSpc>
              <a:buFont typeface="+mj-ea"/>
              <a:buAutoNum type="circleNumDbPlain"/>
            </a:pPr>
            <a:r>
              <a:rPr kumimoji="1" lang="zh-CN" altLang="en-US" sz="2400" b="1" dirty="0">
                <a:latin typeface="+mn-ea"/>
                <a:ea typeface="+mn-ea"/>
                <a:sym typeface="+mn-ea"/>
              </a:rPr>
              <a:t>细化</a:t>
            </a:r>
            <a:r>
              <a:rPr kumimoji="1" lang="zh-CN" altLang="en-US" sz="2400" b="1" dirty="0">
                <a:solidFill>
                  <a:srgbClr val="FFFF00"/>
                </a:solidFill>
                <a:latin typeface="+mn-ea"/>
                <a:ea typeface="+mn-ea"/>
                <a:sym typeface="+mn-ea"/>
              </a:rPr>
              <a:t>血液储存和运输</a:t>
            </a:r>
            <a:r>
              <a:rPr kumimoji="1" lang="zh-CN" altLang="en-US" sz="2400" b="1" dirty="0">
                <a:latin typeface="+mn-ea"/>
                <a:ea typeface="+mn-ea"/>
                <a:sym typeface="+mn-ea"/>
              </a:rPr>
              <a:t>的要求，提供详细表格</a:t>
            </a:r>
            <a:endParaRPr kumimoji="1" lang="zh-CN" altLang="en-US" sz="2400" b="1" dirty="0">
              <a:latin typeface="+mn-ea"/>
              <a:ea typeface="+mn-ea"/>
            </a:endParaRPr>
          </a:p>
          <a:p>
            <a:pPr marL="857250" indent="-457200">
              <a:lnSpc>
                <a:spcPct val="150000"/>
              </a:lnSpc>
              <a:buFont typeface="+mj-ea"/>
              <a:buAutoNum type="circleNumDbPlain"/>
            </a:pPr>
            <a:r>
              <a:rPr kumimoji="1" lang="zh-CN" altLang="en-US" sz="2400" b="1" dirty="0">
                <a:latin typeface="+mn-ea"/>
                <a:ea typeface="+mn-ea"/>
              </a:rPr>
              <a:t>健全</a:t>
            </a:r>
            <a:r>
              <a:rPr kumimoji="1" lang="zh-CN" altLang="en-US" sz="2400" b="1" dirty="0">
                <a:solidFill>
                  <a:srgbClr val="FFFF00"/>
                </a:solidFill>
                <a:latin typeface="+mn-ea"/>
                <a:ea typeface="+mn-ea"/>
              </a:rPr>
              <a:t>血液标签核对</a:t>
            </a:r>
            <a:r>
              <a:rPr kumimoji="1" lang="zh-CN" altLang="en-US" sz="2400" b="1" dirty="0">
                <a:latin typeface="+mn-ea"/>
                <a:ea typeface="+mn-ea"/>
              </a:rPr>
              <a:t>、血液发放、血液运输车辆与容器定期消毒、血液运输环节监控等制度</a:t>
            </a:r>
            <a:endParaRPr kumimoji="1" lang="zh-CN" altLang="en-US" sz="2400" b="1" dirty="0">
              <a:latin typeface="+mn-ea"/>
              <a:ea typeface="+mn-ea"/>
            </a:endParaRPr>
          </a:p>
          <a:p>
            <a:pPr marL="857250" indent="-457200">
              <a:lnSpc>
                <a:spcPct val="150000"/>
              </a:lnSpc>
              <a:buFont typeface="+mj-ea"/>
              <a:buAutoNum type="circleNumDbPlain"/>
            </a:pPr>
            <a:r>
              <a:rPr kumimoji="1" lang="zh-CN" altLang="en-US" sz="2400" b="1" dirty="0">
                <a:latin typeface="+mn-ea"/>
                <a:ea typeface="+mn-ea"/>
              </a:rPr>
              <a:t>要求血液放行和血液发放与信息系统有效衔接，强化血液质量全流程管理</a:t>
            </a:r>
            <a:endParaRPr kumimoji="1" lang="zh-CN" altLang="en-US" sz="2400" b="1" dirty="0">
              <a:latin typeface="+mn-ea"/>
              <a:ea typeface="+mn-ea"/>
            </a:endParaRPr>
          </a:p>
          <a:p>
            <a:endParaRPr kumimoji="1" lang="zh-CN" altLang="en-US" sz="2400" b="1" dirty="0">
              <a:latin typeface="+mn-ea"/>
              <a:ea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b="1" dirty="0"/>
              <a:t>新规程主要修订的内容</a:t>
            </a:r>
            <a:endParaRPr kumimoji="1" lang="zh-CN" altLang="en-US" b="1" dirty="0"/>
          </a:p>
        </p:txBody>
      </p:sp>
      <p:sp>
        <p:nvSpPr>
          <p:cNvPr id="3" name="内容占位符 2"/>
          <p:cNvSpPr>
            <a:spLocks noGrp="1"/>
          </p:cNvSpPr>
          <p:nvPr>
            <p:ph idx="1"/>
          </p:nvPr>
        </p:nvSpPr>
        <p:spPr>
          <a:xfrm>
            <a:off x="1104265" y="1853565"/>
            <a:ext cx="9963785" cy="4652010"/>
          </a:xfrm>
        </p:spPr>
        <p:txBody>
          <a:bodyPr>
            <a:noAutofit/>
          </a:bodyPr>
          <a:lstStyle/>
          <a:p>
            <a:pPr marL="514350" indent="-514350">
              <a:lnSpc>
                <a:spcPct val="150000"/>
              </a:lnSpc>
              <a:buFont typeface="+mj-lt"/>
              <a:buAutoNum type="arabicPeriod" startAt="6"/>
            </a:pPr>
            <a:r>
              <a:rPr lang="zh-CN" altLang="zh-CN" sz="2800" b="1" dirty="0">
                <a:latin typeface="+mn-ea"/>
                <a:ea typeface="+mn-ea"/>
                <a:sym typeface="+mn-ea"/>
              </a:rPr>
              <a:t>强化质量控制管理</a:t>
            </a:r>
            <a:endParaRPr lang="zh-CN" altLang="zh-CN" sz="2800" b="1" dirty="0">
              <a:latin typeface="+mn-ea"/>
              <a:ea typeface="+mn-ea"/>
              <a:sym typeface="+mn-ea"/>
            </a:endParaRPr>
          </a:p>
          <a:p>
            <a:pPr marL="857250" indent="-457200">
              <a:lnSpc>
                <a:spcPct val="150000"/>
              </a:lnSpc>
              <a:buFont typeface="+mj-ea"/>
              <a:buAutoNum type="circleNumDbPlain"/>
            </a:pPr>
            <a:r>
              <a:rPr kumimoji="1" lang="zh-CN" altLang="en-US" sz="2400" b="1" dirty="0">
                <a:latin typeface="+mn-ea"/>
                <a:ea typeface="+mn-ea"/>
              </a:rPr>
              <a:t>细化血液抽检及结果分析与应用的技术要求</a:t>
            </a:r>
            <a:endParaRPr kumimoji="1" lang="zh-CN" altLang="en-US" sz="2400" b="1" dirty="0">
              <a:latin typeface="+mn-ea"/>
              <a:ea typeface="+mn-ea"/>
            </a:endParaRPr>
          </a:p>
          <a:p>
            <a:pPr marL="857250" indent="-457200">
              <a:lnSpc>
                <a:spcPct val="150000"/>
              </a:lnSpc>
              <a:buFont typeface="+mj-ea"/>
              <a:buAutoNum type="circleNumDbPlain"/>
            </a:pPr>
            <a:r>
              <a:rPr kumimoji="1" lang="zh-CN" altLang="en-US" sz="2400" b="1" dirty="0">
                <a:latin typeface="+mn-ea"/>
                <a:ea typeface="+mn-ea"/>
              </a:rPr>
              <a:t>增加环境卫生质量检查内容</a:t>
            </a:r>
            <a:endParaRPr kumimoji="1" lang="zh-CN" altLang="en-US" sz="2400" b="1" dirty="0">
              <a:latin typeface="+mn-ea"/>
              <a:ea typeface="+mn-ea"/>
            </a:endParaRPr>
          </a:p>
          <a:p>
            <a:pPr marL="857250" indent="-457200">
              <a:lnSpc>
                <a:spcPct val="150000"/>
              </a:lnSpc>
              <a:buFont typeface="+mj-ea"/>
              <a:buAutoNum type="circleNumDbPlain"/>
            </a:pPr>
            <a:r>
              <a:rPr kumimoji="1" lang="zh-CN" altLang="en-US" sz="2400" b="1" dirty="0">
                <a:latin typeface="+mn-ea"/>
                <a:ea typeface="+mn-ea"/>
              </a:rPr>
              <a:t>细化每个业务环节的质量控制指标，</a:t>
            </a:r>
            <a:r>
              <a:rPr kumimoji="1" lang="zh-CN" altLang="en-US" sz="2400" b="1" dirty="0">
                <a:latin typeface="+mn-ea"/>
                <a:ea typeface="+mn-ea"/>
                <a:sym typeface="+mn-ea"/>
              </a:rPr>
              <a:t>环境、人员、设备、器材与耗材等</a:t>
            </a:r>
            <a:endParaRPr kumimoji="1" lang="zh-CN" altLang="en-US" sz="2400" b="1" dirty="0">
              <a:latin typeface="+mn-ea"/>
              <a:ea typeface="+mn-ea"/>
            </a:endParaRPr>
          </a:p>
          <a:p>
            <a:endParaRPr kumimoji="1" lang="zh-CN" altLang="en-US" sz="2400" b="1" dirty="0">
              <a:latin typeface="+mn-ea"/>
              <a:ea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60000" y="2520000"/>
            <a:ext cx="7920000" cy="1080000"/>
          </a:xfrm>
        </p:spPr>
        <p:txBody>
          <a:bodyPr anchor="ctr" anchorCtr="0"/>
          <a:lstStyle/>
          <a:p>
            <a:pPr algn="ctr"/>
            <a:r>
              <a:rPr kumimoji="1" lang="zh-CN" altLang="en-US" b="1" dirty="0"/>
              <a:t>新规程在信息化系统的应用</a:t>
            </a:r>
            <a:endParaRPr kumimoji="1" lang="zh-CN" altLang="en-US" b="1"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b="1" dirty="0"/>
              <a:t>核对献血者身份问题</a:t>
            </a:r>
            <a:endParaRPr kumimoji="1" lang="zh-CN" altLang="en-US" b="1" dirty="0"/>
          </a:p>
        </p:txBody>
      </p:sp>
      <p:sp>
        <p:nvSpPr>
          <p:cNvPr id="3" name="内容占位符 2"/>
          <p:cNvSpPr>
            <a:spLocks noGrp="1"/>
          </p:cNvSpPr>
          <p:nvPr>
            <p:ph idx="1"/>
          </p:nvPr>
        </p:nvSpPr>
        <p:spPr>
          <a:xfrm>
            <a:off x="1104265" y="1456055"/>
            <a:ext cx="9982835" cy="5071745"/>
          </a:xfrm>
        </p:spPr>
        <p:txBody>
          <a:bodyPr>
            <a:normAutofit fontScale="90000"/>
          </a:bodyPr>
          <a:lstStyle/>
          <a:p>
            <a:pPr>
              <a:lnSpc>
                <a:spcPct val="150000"/>
              </a:lnSpc>
              <a:spcBef>
                <a:spcPts val="0"/>
              </a:spcBef>
            </a:pPr>
            <a:r>
              <a:rPr lang="en-US" altLang="zh-CN" b="1" dirty="0">
                <a:latin typeface="+mn-ea"/>
                <a:cs typeface="+mn-ea"/>
              </a:rPr>
              <a:t>《</a:t>
            </a:r>
            <a:r>
              <a:rPr lang="zh-CN" altLang="en-US" b="1" dirty="0">
                <a:latin typeface="+mn-ea"/>
                <a:cs typeface="+mn-ea"/>
              </a:rPr>
              <a:t>规程</a:t>
            </a:r>
            <a:r>
              <a:rPr lang="en-US" altLang="zh-CN" b="1" dirty="0">
                <a:latin typeface="+mn-ea"/>
                <a:cs typeface="+mn-ea"/>
              </a:rPr>
              <a:t>》</a:t>
            </a:r>
            <a:r>
              <a:rPr lang="zh-CN" altLang="en-US" dirty="0">
                <a:latin typeface="+mn-ea"/>
                <a:cs typeface="+mn-ea"/>
              </a:rPr>
              <a:t>中有</a:t>
            </a:r>
            <a:r>
              <a:rPr lang="en-US" altLang="zh-CN" dirty="0">
                <a:latin typeface="+mn-ea"/>
                <a:cs typeface="+mn-ea"/>
              </a:rPr>
              <a:t>3</a:t>
            </a:r>
            <a:r>
              <a:rPr lang="zh-CN" altLang="en-US" dirty="0">
                <a:latin typeface="+mn-ea"/>
                <a:cs typeface="+mn-ea"/>
              </a:rPr>
              <a:t>处提到：</a:t>
            </a:r>
            <a:endParaRPr lang="zh-CN" altLang="en-US" b="1" dirty="0">
              <a:latin typeface="+mn-ea"/>
              <a:cs typeface="+mn-ea"/>
            </a:endParaRPr>
          </a:p>
          <a:p>
            <a:pPr marL="0" indent="363855">
              <a:lnSpc>
                <a:spcPct val="150000"/>
              </a:lnSpc>
              <a:spcBef>
                <a:spcPts val="0"/>
              </a:spcBef>
              <a:buNone/>
            </a:pPr>
            <a:r>
              <a:rPr lang="en-US" altLang="zh-CN" b="1" dirty="0">
                <a:latin typeface="+mn-ea"/>
                <a:cs typeface="+mn-ea"/>
              </a:rPr>
              <a:t>1.2 </a:t>
            </a:r>
            <a:r>
              <a:rPr lang="zh-CN" altLang="en-US" b="1" dirty="0">
                <a:latin typeface="+mn-ea"/>
                <a:cs typeface="+mn-ea"/>
              </a:rPr>
              <a:t>核对献血者身份及年龄 </a:t>
            </a:r>
            <a:endParaRPr lang="zh-CN" altLang="en-US" b="1" dirty="0">
              <a:latin typeface="+mn-ea"/>
              <a:cs typeface="+mn-ea"/>
            </a:endParaRPr>
          </a:p>
          <a:p>
            <a:pPr marL="363855" indent="352425">
              <a:lnSpc>
                <a:spcPct val="150000"/>
              </a:lnSpc>
              <a:spcBef>
                <a:spcPts val="0"/>
              </a:spcBef>
              <a:buNone/>
            </a:pPr>
            <a:r>
              <a:rPr b="1" dirty="0">
                <a:latin typeface="+mn-ea"/>
                <a:ea typeface="宋体-简" panose="02010800040101010101" charset="-122"/>
                <a:cs typeface="+mn-ea"/>
              </a:rPr>
              <a:t>核对献血者本人相貌与其有效身份证件原件上照片是否一致，核查献血者的年龄是否符合有关要求。有效身份证件包括居民身份证、军（警）官证、士兵证、护照、港澳通行证、台胞证以及驾驶证等。</a:t>
            </a:r>
            <a:endParaRPr b="1" dirty="0">
              <a:latin typeface="+mn-ea"/>
              <a:ea typeface="宋体-简" panose="02010800040101010101" charset="-122"/>
              <a:cs typeface="+mn-ea"/>
            </a:endParaRPr>
          </a:p>
          <a:p>
            <a:pPr marL="363855" indent="0">
              <a:lnSpc>
                <a:spcPct val="150000"/>
              </a:lnSpc>
              <a:spcBef>
                <a:spcPts val="0"/>
              </a:spcBef>
              <a:buNone/>
            </a:pPr>
            <a:r>
              <a:rPr lang="en-US" altLang="zh-CN" b="1" dirty="0">
                <a:latin typeface="+mn-ea"/>
                <a:cs typeface="+mn-ea"/>
              </a:rPr>
              <a:t>1.8 </a:t>
            </a:r>
            <a:r>
              <a:rPr lang="zh-CN" altLang="en-US" b="1" dirty="0">
                <a:latin typeface="+mn-ea"/>
                <a:cs typeface="+mn-ea"/>
              </a:rPr>
              <a:t>献血前检测</a:t>
            </a:r>
            <a:endParaRPr lang="zh-CN" altLang="en-US" b="1" dirty="0">
              <a:latin typeface="+mn-ea"/>
              <a:cs typeface="+mn-ea"/>
            </a:endParaRPr>
          </a:p>
          <a:p>
            <a:pPr marL="363855" indent="352425">
              <a:lnSpc>
                <a:spcPct val="150000"/>
              </a:lnSpc>
              <a:spcBef>
                <a:spcPts val="0"/>
              </a:spcBef>
              <a:buNone/>
            </a:pPr>
            <a:r>
              <a:rPr lang="zh-CN" altLang="en-US" b="1" dirty="0">
                <a:latin typeface="+mn-ea"/>
                <a:cs typeface="+mn-ea"/>
              </a:rPr>
              <a:t>在献血前采集献血者血液标本做检测。在采集血液标本前应核对献血者身份。</a:t>
            </a:r>
            <a:endParaRPr lang="zh-CN" altLang="en-US" b="1" dirty="0">
              <a:latin typeface="+mn-ea"/>
              <a:cs typeface="+mn-ea"/>
            </a:endParaRPr>
          </a:p>
          <a:p>
            <a:pPr marL="363855" indent="0">
              <a:lnSpc>
                <a:spcPct val="150000"/>
              </a:lnSpc>
              <a:spcBef>
                <a:spcPts val="0"/>
              </a:spcBef>
              <a:buNone/>
            </a:pPr>
            <a:r>
              <a:rPr lang="en-US" altLang="zh-CN" b="1" dirty="0">
                <a:latin typeface="+mn-ea"/>
                <a:cs typeface="+mn-ea"/>
              </a:rPr>
              <a:t>2.6 </a:t>
            </a:r>
            <a:r>
              <a:rPr lang="zh-CN" altLang="en-US" b="1" dirty="0">
                <a:latin typeface="+mn-ea"/>
                <a:cs typeface="+mn-ea"/>
              </a:rPr>
              <a:t>献血前核对</a:t>
            </a:r>
            <a:endParaRPr lang="zh-CN" altLang="en-US" b="1" dirty="0">
              <a:latin typeface="+mn-ea"/>
              <a:cs typeface="+mn-ea"/>
            </a:endParaRPr>
          </a:p>
          <a:p>
            <a:pPr marL="363855" indent="367665">
              <a:lnSpc>
                <a:spcPct val="150000"/>
              </a:lnSpc>
              <a:spcBef>
                <a:spcPts val="0"/>
              </a:spcBef>
              <a:buNone/>
            </a:pPr>
            <a:r>
              <a:rPr b="1" dirty="0">
                <a:latin typeface="+mn-ea"/>
                <a:ea typeface="宋体-简" panose="02010800040101010101" charset="-122"/>
                <a:cs typeface="+mn-ea"/>
              </a:rPr>
              <a:t>静脉穿刺前，应核对献血者身份、献血量</a:t>
            </a:r>
            <a:r>
              <a:rPr lang="zh-CN" altLang="en-US" b="1" dirty="0">
                <a:latin typeface="+mn-ea"/>
                <a:ea typeface="宋体-简" panose="02010800040101010101" charset="-122"/>
                <a:cs typeface="+mn-ea"/>
              </a:rPr>
              <a:t>。</a:t>
            </a:r>
            <a:endParaRPr lang="zh-CN" altLang="en-US" b="1" dirty="0">
              <a:latin typeface="+mn-ea"/>
              <a:ea typeface="宋体-简" panose="02010800040101010101" charset="-122"/>
              <a:cs typeface="+mn-ea"/>
            </a:endParaRPr>
          </a:p>
          <a:p>
            <a:pPr marL="363855" indent="367665">
              <a:lnSpc>
                <a:spcPct val="150000"/>
              </a:lnSpc>
              <a:spcBef>
                <a:spcPts val="0"/>
              </a:spcBef>
              <a:buNone/>
            </a:pPr>
            <a:endParaRPr lang="zh-CN" altLang="en-US" b="1" dirty="0">
              <a:latin typeface="+mn-ea"/>
              <a:ea typeface="宋体-简" panose="02010800040101010101" charset="-122"/>
              <a:cs typeface="+mn-ea"/>
            </a:endParaRPr>
          </a:p>
          <a:p>
            <a:pPr>
              <a:lnSpc>
                <a:spcPct val="150000"/>
              </a:lnSpc>
              <a:spcBef>
                <a:spcPts val="0"/>
              </a:spcBef>
            </a:pPr>
            <a:r>
              <a:rPr kumimoji="1" lang="zh-CN" altLang="en-US" b="1" dirty="0">
                <a:solidFill>
                  <a:srgbClr val="FFFF00"/>
                </a:solidFill>
                <a:latin typeface="+mn-ea"/>
                <a:cs typeface="+mn-ea"/>
              </a:rPr>
              <a:t>穿越系统中应用二代证识读能准确有效地识别献血者身份，有利于排除不适宜</a:t>
            </a:r>
            <a:endParaRPr kumimoji="1" lang="zh-CN" altLang="en-US" b="1" dirty="0">
              <a:solidFill>
                <a:srgbClr val="FFFF00"/>
              </a:solidFill>
              <a:latin typeface="+mn-ea"/>
              <a:cs typeface="+mn-ea"/>
            </a:endParaRPr>
          </a:p>
          <a:p>
            <a:pPr marL="0" indent="344170">
              <a:lnSpc>
                <a:spcPct val="150000"/>
              </a:lnSpc>
              <a:spcBef>
                <a:spcPts val="0"/>
              </a:spcBef>
              <a:buNone/>
            </a:pPr>
            <a:r>
              <a:rPr kumimoji="1" lang="zh-CN" altLang="en-US" b="1" dirty="0">
                <a:solidFill>
                  <a:srgbClr val="FFFF00"/>
                </a:solidFill>
                <a:latin typeface="+mn-ea"/>
                <a:cs typeface="+mn-ea"/>
              </a:rPr>
              <a:t>献血的人群，消除冒名顶替的问题。</a:t>
            </a:r>
            <a:endParaRPr kumimoji="1" lang="zh-CN" altLang="en-US" b="1" dirty="0">
              <a:solidFill>
                <a:srgbClr val="FFFF00"/>
              </a:solidFill>
              <a:latin typeface="+mn-ea"/>
              <a:cs typeface="+mn-ea"/>
            </a:endParaRPr>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893300" y="4516047"/>
            <a:ext cx="2075180" cy="225305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animEffect transition="in" filter="fade">
                                      <p:cBhvr>
                                        <p:cTn id="7" dur="1000"/>
                                        <p:tgtEl>
                                          <p:spTgt spid="3">
                                            <p:txEl>
                                              <p:pRg st="8" end="8"/>
                                            </p:txEl>
                                          </p:spTgt>
                                        </p:tgtEl>
                                      </p:cBhvr>
                                    </p:animEffect>
                                    <p:anim calcmode="lin" valueType="num">
                                      <p:cBhvr>
                                        <p:cTn id="8"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8" end="8"/>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9" end="9"/>
                                            </p:txEl>
                                          </p:spTgt>
                                        </p:tgtEl>
                                        <p:attrNameLst>
                                          <p:attrName>style.visibility</p:attrName>
                                        </p:attrNameLst>
                                      </p:cBhvr>
                                      <p:to>
                                        <p:strVal val="visible"/>
                                      </p:to>
                                    </p:set>
                                    <p:animEffect transition="in" filter="fade">
                                      <p:cBhvr>
                                        <p:cTn id="12" dur="1000"/>
                                        <p:tgtEl>
                                          <p:spTgt spid="3">
                                            <p:txEl>
                                              <p:pRg st="9" end="9"/>
                                            </p:txEl>
                                          </p:spTgt>
                                        </p:tgtEl>
                                      </p:cBhvr>
                                    </p:animEffect>
                                    <p:anim calcmode="lin" valueType="num">
                                      <p:cBhvr>
                                        <p:cTn id="13"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42" presetClass="entr" presetSubtype="0" fill="hold" nodeType="after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1000"/>
                                        <p:tgtEl>
                                          <p:spTgt spid="4"/>
                                        </p:tgtEl>
                                      </p:cBhvr>
                                    </p:animEffect>
                                    <p:anim calcmode="lin" valueType="num">
                                      <p:cBhvr>
                                        <p:cTn id="19" dur="1000" fill="hold"/>
                                        <p:tgtEl>
                                          <p:spTgt spid="4"/>
                                        </p:tgtEl>
                                        <p:attrNameLst>
                                          <p:attrName>ppt_x</p:attrName>
                                        </p:attrNameLst>
                                      </p:cBhvr>
                                      <p:tavLst>
                                        <p:tav tm="0">
                                          <p:val>
                                            <p:strVal val="#ppt_x"/>
                                          </p:val>
                                        </p:tav>
                                        <p:tav tm="100000">
                                          <p:val>
                                            <p:strVal val="#ppt_x"/>
                                          </p:val>
                                        </p:tav>
                                      </p:tavLst>
                                    </p:anim>
                                    <p:anim calcmode="lin" valueType="num">
                                      <p:cBhvr>
                                        <p:cTn id="20"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b="1" dirty="0"/>
              <a:t>献血年龄期限问题</a:t>
            </a:r>
            <a:endParaRPr kumimoji="1" lang="zh-CN" altLang="en-US" b="1" dirty="0"/>
          </a:p>
        </p:txBody>
      </p:sp>
      <p:sp>
        <p:nvSpPr>
          <p:cNvPr id="3" name="内容占位符 2"/>
          <p:cNvSpPr>
            <a:spLocks noGrp="1"/>
          </p:cNvSpPr>
          <p:nvPr>
            <p:ph idx="1"/>
          </p:nvPr>
        </p:nvSpPr>
        <p:spPr>
          <a:xfrm>
            <a:off x="1104265" y="1443355"/>
            <a:ext cx="9996170" cy="5076190"/>
          </a:xfrm>
        </p:spPr>
        <p:txBody>
          <a:bodyPr>
            <a:noAutofit/>
          </a:bodyPr>
          <a:lstStyle/>
          <a:p>
            <a:pPr>
              <a:lnSpc>
                <a:spcPct val="150000"/>
              </a:lnSpc>
              <a:spcBef>
                <a:spcPts val="0"/>
              </a:spcBef>
            </a:pPr>
            <a:r>
              <a:rPr lang="en-US" altLang="zh-CN" b="1" dirty="0">
                <a:latin typeface="+mn-ea"/>
                <a:cs typeface="+mn-ea"/>
              </a:rPr>
              <a:t>《</a:t>
            </a:r>
            <a:r>
              <a:rPr lang="zh-CN" altLang="en-US" b="1" dirty="0">
                <a:latin typeface="+mn-ea"/>
                <a:cs typeface="+mn-ea"/>
              </a:rPr>
              <a:t>规程</a:t>
            </a:r>
            <a:r>
              <a:rPr lang="en-US" altLang="zh-CN" b="1" dirty="0">
                <a:latin typeface="+mn-ea"/>
                <a:cs typeface="+mn-ea"/>
              </a:rPr>
              <a:t>》</a:t>
            </a:r>
            <a:r>
              <a:rPr lang="zh-CN" altLang="en-US" dirty="0">
                <a:latin typeface="+mn-ea"/>
                <a:cs typeface="+mn-ea"/>
              </a:rPr>
              <a:t> </a:t>
            </a:r>
            <a:endParaRPr lang="zh-CN" altLang="en-US" dirty="0">
              <a:latin typeface="+mn-ea"/>
              <a:cs typeface="+mn-ea"/>
            </a:endParaRPr>
          </a:p>
          <a:p>
            <a:pPr marL="401955" indent="0">
              <a:lnSpc>
                <a:spcPct val="150000"/>
              </a:lnSpc>
              <a:spcBef>
                <a:spcPts val="0"/>
              </a:spcBef>
              <a:buNone/>
            </a:pPr>
            <a:r>
              <a:rPr lang="en-US" altLang="zh-CN" b="1" dirty="0">
                <a:latin typeface="+mn-ea"/>
                <a:ea typeface="宋体-简" panose="02010800040101010101" charset="-122"/>
                <a:cs typeface="+mn-ea"/>
              </a:rPr>
              <a:t>1.2.2 </a:t>
            </a:r>
            <a:r>
              <a:rPr b="1" dirty="0">
                <a:latin typeface="+mn-ea"/>
                <a:ea typeface="宋体-简" panose="02010800040101010101" charset="-122"/>
                <a:cs typeface="+mn-ea"/>
              </a:rPr>
              <a:t>献血者年龄。国家提倡献血年龄为 </a:t>
            </a:r>
            <a:r>
              <a:rPr b="1" dirty="0">
                <a:solidFill>
                  <a:srgbClr val="FFFF00"/>
                </a:solidFill>
                <a:latin typeface="+mn-ea"/>
                <a:ea typeface="宋体-简" panose="02010800040101010101" charset="-122"/>
                <a:cs typeface="+mn-ea"/>
              </a:rPr>
              <a:t>18 周岁～55 周岁</a:t>
            </a:r>
            <a:r>
              <a:rPr b="1" dirty="0">
                <a:latin typeface="+mn-ea"/>
                <a:ea typeface="宋体-简" panose="02010800040101010101" charset="-122"/>
                <a:cs typeface="+mn-ea"/>
              </a:rPr>
              <a:t>；既往无献血反应、符合健康检查要求的多次献血者主动要求再次献血的，年龄</a:t>
            </a:r>
            <a:r>
              <a:rPr b="1" dirty="0">
                <a:solidFill>
                  <a:srgbClr val="FFFF00"/>
                </a:solidFill>
                <a:latin typeface="+mn-ea"/>
                <a:ea typeface="宋体-简" panose="02010800040101010101" charset="-122"/>
                <a:cs typeface="+mn-ea"/>
              </a:rPr>
              <a:t>可延长至 60 周岁</a:t>
            </a:r>
            <a:r>
              <a:rPr b="1" dirty="0">
                <a:latin typeface="+mn-ea"/>
                <a:ea typeface="宋体-简" panose="02010800040101010101" charset="-122"/>
                <a:cs typeface="+mn-ea"/>
              </a:rPr>
              <a:t>。地方法规有规定的，按照地方法规执行。</a:t>
            </a:r>
            <a:r>
              <a:rPr lang="zh-CN" altLang="en-US" b="1" dirty="0">
                <a:latin typeface="+mn-ea"/>
                <a:cs typeface="+mn-ea"/>
              </a:rPr>
              <a:t> </a:t>
            </a:r>
            <a:endParaRPr lang="zh-CN" altLang="en-US" b="1" dirty="0">
              <a:latin typeface="+mn-ea"/>
              <a:cs typeface="+mn-ea"/>
            </a:endParaRPr>
          </a:p>
          <a:p>
            <a:pPr marL="401955" indent="0">
              <a:lnSpc>
                <a:spcPct val="150000"/>
              </a:lnSpc>
              <a:spcBef>
                <a:spcPts val="0"/>
              </a:spcBef>
              <a:buNone/>
            </a:pPr>
            <a:endParaRPr lang="zh-CN" altLang="en-US" b="1" dirty="0">
              <a:latin typeface="+mn-ea"/>
              <a:cs typeface="+mn-ea"/>
            </a:endParaRPr>
          </a:p>
          <a:p>
            <a:pPr>
              <a:lnSpc>
                <a:spcPct val="150000"/>
              </a:lnSpc>
              <a:spcBef>
                <a:spcPts val="0"/>
              </a:spcBef>
            </a:pPr>
            <a:r>
              <a:rPr kumimoji="1" lang="zh-CN" altLang="en-US" b="1" dirty="0">
                <a:latin typeface="+mn-ea"/>
                <a:cs typeface="+mn-ea"/>
              </a:rPr>
              <a:t>说明：年龄采用周岁</a:t>
            </a:r>
            <a:endParaRPr kumimoji="1" lang="zh-CN" altLang="en-US" b="1" dirty="0">
              <a:latin typeface="+mn-ea"/>
              <a:cs typeface="+mn-ea"/>
            </a:endParaRPr>
          </a:p>
          <a:p>
            <a:pPr>
              <a:lnSpc>
                <a:spcPct val="150000"/>
              </a:lnSpc>
              <a:spcBef>
                <a:spcPts val="0"/>
              </a:spcBef>
            </a:pPr>
            <a:r>
              <a:rPr kumimoji="1" lang="zh-CN" altLang="en-US" b="1" dirty="0">
                <a:latin typeface="+mn-ea"/>
                <a:cs typeface="+mn-ea"/>
              </a:rPr>
              <a:t>起止时间点：如某人</a:t>
            </a:r>
            <a:r>
              <a:rPr kumimoji="1" lang="en-US" altLang="zh-CN" b="1" dirty="0">
                <a:latin typeface="+mn-ea"/>
                <a:cs typeface="+mn-ea"/>
              </a:rPr>
              <a:t>1980</a:t>
            </a:r>
            <a:r>
              <a:rPr kumimoji="1" lang="zh-CN" altLang="en-US" b="1" dirty="0">
                <a:latin typeface="+mn-ea"/>
                <a:cs typeface="+mn-ea"/>
              </a:rPr>
              <a:t>年</a:t>
            </a:r>
            <a:r>
              <a:rPr kumimoji="1" lang="en-US" altLang="zh-CN" b="1" dirty="0">
                <a:latin typeface="+mn-ea"/>
                <a:cs typeface="+mn-ea"/>
              </a:rPr>
              <a:t>1</a:t>
            </a:r>
            <a:r>
              <a:rPr kumimoji="1" lang="zh-CN" altLang="en-US" b="1" dirty="0">
                <a:latin typeface="+mn-ea"/>
                <a:cs typeface="+mn-ea"/>
              </a:rPr>
              <a:t>月</a:t>
            </a:r>
            <a:r>
              <a:rPr kumimoji="1" lang="en-US" altLang="zh-CN" b="1" dirty="0">
                <a:latin typeface="+mn-ea"/>
                <a:cs typeface="+mn-ea"/>
              </a:rPr>
              <a:t>23</a:t>
            </a:r>
            <a:r>
              <a:rPr kumimoji="1" lang="zh-CN" altLang="en-US" b="1" dirty="0">
                <a:latin typeface="+mn-ea"/>
                <a:cs typeface="+mn-ea"/>
              </a:rPr>
              <a:t>日出生，则</a:t>
            </a:r>
            <a:r>
              <a:rPr kumimoji="1" lang="en-US" altLang="zh-CN" b="1" dirty="0">
                <a:latin typeface="+mn-ea"/>
                <a:cs typeface="+mn-ea"/>
              </a:rPr>
              <a:t>18</a:t>
            </a:r>
            <a:r>
              <a:rPr kumimoji="1" lang="zh-CN" altLang="en-US" b="1" dirty="0">
                <a:latin typeface="+mn-ea"/>
                <a:cs typeface="+mn-ea"/>
              </a:rPr>
              <a:t>周岁，即</a:t>
            </a:r>
            <a:r>
              <a:rPr kumimoji="1" lang="en-US" altLang="zh-CN" b="1" dirty="0">
                <a:latin typeface="+mn-ea"/>
                <a:cs typeface="+mn-ea"/>
              </a:rPr>
              <a:t>1998</a:t>
            </a:r>
            <a:r>
              <a:rPr kumimoji="1" lang="zh-CN" altLang="en-US" b="1" dirty="0">
                <a:latin typeface="+mn-ea"/>
                <a:cs typeface="+mn-ea"/>
              </a:rPr>
              <a:t>年</a:t>
            </a:r>
            <a:r>
              <a:rPr kumimoji="1" lang="en-US" altLang="zh-CN" b="1" dirty="0">
                <a:latin typeface="+mn-ea"/>
                <a:cs typeface="+mn-ea"/>
              </a:rPr>
              <a:t>1</a:t>
            </a:r>
            <a:r>
              <a:rPr kumimoji="1" lang="zh-CN" altLang="en-US" b="1" dirty="0">
                <a:latin typeface="+mn-ea"/>
                <a:cs typeface="+mn-ea"/>
              </a:rPr>
              <a:t>月</a:t>
            </a:r>
            <a:r>
              <a:rPr kumimoji="1" lang="en-US" altLang="zh-CN" b="1" dirty="0">
                <a:latin typeface="+mn-ea"/>
                <a:cs typeface="+mn-ea"/>
              </a:rPr>
              <a:t>23</a:t>
            </a:r>
            <a:r>
              <a:rPr kumimoji="1" lang="zh-CN" altLang="en-US" b="1" dirty="0">
                <a:latin typeface="+mn-ea"/>
                <a:cs typeface="+mn-ea"/>
              </a:rPr>
              <a:t>日起可以献血。截止于</a:t>
            </a:r>
            <a:r>
              <a:rPr kumimoji="1" lang="en-US" altLang="zh-CN" b="1" dirty="0">
                <a:latin typeface="+mn-ea"/>
                <a:cs typeface="+mn-ea"/>
              </a:rPr>
              <a:t>61</a:t>
            </a:r>
            <a:r>
              <a:rPr kumimoji="1" lang="zh-CN" altLang="en-US" b="1" dirty="0">
                <a:latin typeface="+mn-ea"/>
                <a:cs typeface="+mn-ea"/>
              </a:rPr>
              <a:t>周岁，即</a:t>
            </a:r>
            <a:r>
              <a:rPr kumimoji="1" lang="en-US" altLang="zh-CN" b="1" dirty="0">
                <a:latin typeface="+mn-ea"/>
                <a:cs typeface="+mn-ea"/>
              </a:rPr>
              <a:t>2041</a:t>
            </a:r>
            <a:r>
              <a:rPr kumimoji="1" lang="zh-CN" altLang="en-US" b="1" dirty="0">
                <a:latin typeface="+mn-ea"/>
                <a:cs typeface="+mn-ea"/>
              </a:rPr>
              <a:t>年</a:t>
            </a:r>
            <a:r>
              <a:rPr kumimoji="1" lang="en-US" altLang="zh-CN" b="1" dirty="0">
                <a:latin typeface="+mn-ea"/>
                <a:cs typeface="+mn-ea"/>
              </a:rPr>
              <a:t>1</a:t>
            </a:r>
            <a:r>
              <a:rPr kumimoji="1" lang="zh-CN" altLang="en-US" b="1" dirty="0">
                <a:latin typeface="+mn-ea"/>
                <a:cs typeface="+mn-ea"/>
              </a:rPr>
              <a:t>月</a:t>
            </a:r>
            <a:r>
              <a:rPr kumimoji="1" lang="en-US" altLang="zh-CN" b="1" dirty="0">
                <a:latin typeface="+mn-ea"/>
                <a:cs typeface="+mn-ea"/>
              </a:rPr>
              <a:t>23</a:t>
            </a:r>
            <a:r>
              <a:rPr kumimoji="1" lang="zh-CN" altLang="en-US" b="1" dirty="0">
                <a:latin typeface="+mn-ea"/>
                <a:cs typeface="+mn-ea"/>
              </a:rPr>
              <a:t>日开始不能献血。</a:t>
            </a:r>
            <a:endParaRPr kumimoji="1" lang="zh-CN" altLang="en-US" b="1" dirty="0">
              <a:latin typeface="+mn-ea"/>
              <a:cs typeface="+mn-ea"/>
            </a:endParaRPr>
          </a:p>
          <a:p>
            <a:pPr>
              <a:lnSpc>
                <a:spcPct val="150000"/>
              </a:lnSpc>
              <a:spcBef>
                <a:spcPts val="0"/>
              </a:spcBef>
            </a:pPr>
            <a:r>
              <a:rPr kumimoji="1" lang="en-US" altLang="zh-CN" b="1" dirty="0">
                <a:latin typeface="+mn-ea"/>
                <a:cs typeface="+mn-ea"/>
              </a:rPr>
              <a:t>56</a:t>
            </a:r>
            <a:r>
              <a:rPr kumimoji="1" lang="zh-CN" altLang="en-US" b="1" dirty="0">
                <a:latin typeface="+mn-ea"/>
                <a:cs typeface="+mn-ea"/>
              </a:rPr>
              <a:t>周岁起必须有献过血且合格情况下可延长至</a:t>
            </a:r>
            <a:r>
              <a:rPr kumimoji="1" lang="en-US" altLang="zh-CN" b="1" dirty="0">
                <a:latin typeface="+mn-ea"/>
                <a:cs typeface="+mn-ea"/>
              </a:rPr>
              <a:t>60</a:t>
            </a:r>
            <a:r>
              <a:rPr kumimoji="1" lang="zh-CN" altLang="en-US" b="1" dirty="0">
                <a:latin typeface="+mn-ea"/>
                <a:cs typeface="+mn-ea"/>
              </a:rPr>
              <a:t>周岁。</a:t>
            </a:r>
            <a:endParaRPr kumimoji="1" lang="zh-CN" altLang="en-US" b="1" dirty="0">
              <a:latin typeface="+mn-ea"/>
              <a:cs typeface="+mn-ea"/>
            </a:endParaRPr>
          </a:p>
          <a:p>
            <a:pPr>
              <a:lnSpc>
                <a:spcPct val="150000"/>
              </a:lnSpc>
              <a:spcBef>
                <a:spcPts val="0"/>
              </a:spcBef>
            </a:pPr>
            <a:r>
              <a:rPr kumimoji="1" lang="zh-CN" altLang="en-US" b="1" dirty="0">
                <a:solidFill>
                  <a:srgbClr val="FFFF00"/>
                </a:solidFill>
                <a:latin typeface="+mn-ea"/>
                <a:cs typeface="+mn-ea"/>
              </a:rPr>
              <a:t>穿越系统中对于年龄进行准确有效的限制，超过</a:t>
            </a:r>
            <a:r>
              <a:rPr kumimoji="1" lang="en-US" altLang="zh-CN" b="1" dirty="0">
                <a:solidFill>
                  <a:srgbClr val="FFFF00"/>
                </a:solidFill>
                <a:latin typeface="+mn-ea"/>
                <a:cs typeface="+mn-ea"/>
              </a:rPr>
              <a:t>56</a:t>
            </a:r>
            <a:r>
              <a:rPr kumimoji="1" lang="zh-CN" altLang="en-US" b="1" dirty="0">
                <a:solidFill>
                  <a:srgbClr val="FFFF00"/>
                </a:solidFill>
                <a:latin typeface="+mn-ea"/>
                <a:cs typeface="+mn-ea"/>
              </a:rPr>
              <a:t>周岁的要核查其历史献血记录。</a:t>
            </a:r>
            <a:endParaRPr kumimoji="1" lang="zh-CN" altLang="en-US" b="1" dirty="0">
              <a:solidFill>
                <a:srgbClr val="FFFF00"/>
              </a:solidFill>
              <a:latin typeface="+mn-ea"/>
              <a:cs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fade">
                                      <p:cBhvr>
                                        <p:cTn id="7" dur="1000"/>
                                        <p:tgtEl>
                                          <p:spTgt spid="3">
                                            <p:txEl>
                                              <p:pRg st="6" end="6"/>
                                            </p:txEl>
                                          </p:spTgt>
                                        </p:tgtEl>
                                      </p:cBhvr>
                                    </p:animEffect>
                                    <p:anim calcmode="lin" valueType="num">
                                      <p:cBhvr>
                                        <p:cTn id="8"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b="1" dirty="0"/>
              <a:t>献血前检测</a:t>
            </a:r>
            <a:endParaRPr kumimoji="1" lang="zh-CN" altLang="en-US" b="1" dirty="0"/>
          </a:p>
        </p:txBody>
      </p:sp>
      <p:sp>
        <p:nvSpPr>
          <p:cNvPr id="3" name="内容占位符 2"/>
          <p:cNvSpPr>
            <a:spLocks noGrp="1"/>
          </p:cNvSpPr>
          <p:nvPr>
            <p:ph idx="1"/>
          </p:nvPr>
        </p:nvSpPr>
        <p:spPr>
          <a:xfrm>
            <a:off x="1104265" y="1443355"/>
            <a:ext cx="9996170" cy="5076190"/>
          </a:xfrm>
        </p:spPr>
        <p:txBody>
          <a:bodyPr>
            <a:noAutofit/>
          </a:bodyPr>
          <a:lstStyle/>
          <a:p>
            <a:pPr>
              <a:lnSpc>
                <a:spcPct val="150000"/>
              </a:lnSpc>
              <a:spcBef>
                <a:spcPts val="0"/>
              </a:spcBef>
            </a:pPr>
            <a:r>
              <a:rPr lang="en-US" altLang="zh-CN" b="1" dirty="0">
                <a:latin typeface="+mn-ea"/>
                <a:cs typeface="+mn-ea"/>
              </a:rPr>
              <a:t>《</a:t>
            </a:r>
            <a:r>
              <a:rPr lang="zh-CN" altLang="en-US" b="1" dirty="0">
                <a:latin typeface="+mn-ea"/>
                <a:cs typeface="+mn-ea"/>
              </a:rPr>
              <a:t>规程</a:t>
            </a:r>
            <a:r>
              <a:rPr lang="en-US" altLang="zh-CN" b="1" dirty="0">
                <a:latin typeface="+mn-ea"/>
                <a:cs typeface="+mn-ea"/>
              </a:rPr>
              <a:t>》</a:t>
            </a:r>
            <a:r>
              <a:rPr lang="zh-CN" altLang="en-US" dirty="0">
                <a:latin typeface="+mn-ea"/>
                <a:cs typeface="+mn-ea"/>
              </a:rPr>
              <a:t> </a:t>
            </a:r>
            <a:endParaRPr lang="zh-CN" altLang="en-US" dirty="0">
              <a:latin typeface="+mn-ea"/>
              <a:cs typeface="+mn-ea"/>
            </a:endParaRPr>
          </a:p>
          <a:p>
            <a:pPr marL="401955" indent="0">
              <a:lnSpc>
                <a:spcPct val="150000"/>
              </a:lnSpc>
              <a:spcBef>
                <a:spcPts val="0"/>
              </a:spcBef>
              <a:buNone/>
            </a:pPr>
            <a:r>
              <a:rPr b="1" dirty="0">
                <a:latin typeface="+mn-ea"/>
                <a:ea typeface="宋体-简" panose="02010800040101010101" charset="-122"/>
                <a:cs typeface="+mn-ea"/>
              </a:rPr>
              <a:t>1.8.1 在献血前采集献血者血液标本做检测。在采集血液标本前应核对献血者</a:t>
            </a:r>
            <a:endParaRPr b="1" dirty="0">
              <a:latin typeface="+mn-ea"/>
              <a:ea typeface="宋体-简" panose="02010800040101010101" charset="-122"/>
              <a:cs typeface="+mn-ea"/>
            </a:endParaRPr>
          </a:p>
          <a:p>
            <a:pPr marL="401955" indent="0">
              <a:lnSpc>
                <a:spcPct val="150000"/>
              </a:lnSpc>
              <a:spcBef>
                <a:spcPts val="0"/>
              </a:spcBef>
              <a:buNone/>
            </a:pPr>
            <a:r>
              <a:rPr b="1" dirty="0">
                <a:latin typeface="+mn-ea"/>
                <a:ea typeface="宋体-简" panose="02010800040101010101" charset="-122"/>
                <a:cs typeface="+mn-ea"/>
              </a:rPr>
              <a:t>身份。检测项目包括</a:t>
            </a:r>
            <a:r>
              <a:rPr b="1" dirty="0">
                <a:solidFill>
                  <a:srgbClr val="FFFF00"/>
                </a:solidFill>
                <a:latin typeface="+mn-ea"/>
                <a:ea typeface="宋体-简" panose="02010800040101010101" charset="-122"/>
                <a:cs typeface="+mn-ea"/>
              </a:rPr>
              <a:t>血红蛋白（Hb）</a:t>
            </a:r>
            <a:r>
              <a:rPr b="1" dirty="0">
                <a:latin typeface="+mn-ea"/>
                <a:ea typeface="宋体-简" panose="02010800040101010101" charset="-122"/>
                <a:cs typeface="+mn-ea"/>
              </a:rPr>
              <a:t>，单采血小板献血者还应检测</a:t>
            </a:r>
            <a:r>
              <a:rPr b="1" dirty="0">
                <a:solidFill>
                  <a:srgbClr val="FFFF00"/>
                </a:solidFill>
                <a:latin typeface="+mn-ea"/>
                <a:ea typeface="宋体-简" panose="02010800040101010101" charset="-122"/>
                <a:cs typeface="+mn-ea"/>
              </a:rPr>
              <a:t>红细胞比容</a:t>
            </a:r>
            <a:r>
              <a:rPr b="1" dirty="0">
                <a:latin typeface="+mn-ea"/>
                <a:ea typeface="宋体-简" panose="02010800040101010101" charset="-122"/>
                <a:cs typeface="+mn-ea"/>
              </a:rPr>
              <a:t>、</a:t>
            </a:r>
            <a:endParaRPr b="1" dirty="0">
              <a:latin typeface="+mn-ea"/>
              <a:ea typeface="宋体-简" panose="02010800040101010101" charset="-122"/>
              <a:cs typeface="+mn-ea"/>
            </a:endParaRPr>
          </a:p>
          <a:p>
            <a:pPr marL="401955" indent="0">
              <a:lnSpc>
                <a:spcPct val="150000"/>
              </a:lnSpc>
              <a:spcBef>
                <a:spcPts val="0"/>
              </a:spcBef>
              <a:buNone/>
            </a:pPr>
            <a:r>
              <a:rPr b="1" dirty="0">
                <a:solidFill>
                  <a:srgbClr val="FFFF00"/>
                </a:solidFill>
                <a:latin typeface="+mn-ea"/>
                <a:ea typeface="宋体-简" panose="02010800040101010101" charset="-122"/>
                <a:cs typeface="+mn-ea"/>
              </a:rPr>
              <a:t>血小板计数</a:t>
            </a:r>
            <a:r>
              <a:rPr b="1" dirty="0">
                <a:latin typeface="+mn-ea"/>
                <a:ea typeface="宋体-简" panose="02010800040101010101" charset="-122"/>
                <a:cs typeface="+mn-ea"/>
              </a:rPr>
              <a:t>等项目。各地可以根据实际情况以及疾病流行情况，增加 </a:t>
            </a:r>
            <a:r>
              <a:rPr b="1" dirty="0">
                <a:solidFill>
                  <a:srgbClr val="FFFF00"/>
                </a:solidFill>
                <a:latin typeface="+mn-ea"/>
                <a:ea typeface="宋体-简" panose="02010800040101010101" charset="-122"/>
                <a:cs typeface="+mn-ea"/>
              </a:rPr>
              <a:t>ABO 血</a:t>
            </a:r>
            <a:endParaRPr b="1" dirty="0">
              <a:solidFill>
                <a:srgbClr val="FFFF00"/>
              </a:solidFill>
              <a:latin typeface="+mn-ea"/>
              <a:ea typeface="宋体-简" panose="02010800040101010101" charset="-122"/>
              <a:cs typeface="+mn-ea"/>
            </a:endParaRPr>
          </a:p>
          <a:p>
            <a:pPr marL="401955" indent="0">
              <a:lnSpc>
                <a:spcPct val="150000"/>
              </a:lnSpc>
              <a:spcBef>
                <a:spcPts val="0"/>
              </a:spcBef>
              <a:buNone/>
            </a:pPr>
            <a:r>
              <a:rPr b="1" dirty="0">
                <a:solidFill>
                  <a:srgbClr val="FFFF00"/>
                </a:solidFill>
                <a:latin typeface="+mn-ea"/>
                <a:ea typeface="宋体-简" panose="02010800040101010101" charset="-122"/>
                <a:cs typeface="+mn-ea"/>
              </a:rPr>
              <a:t>型</a:t>
            </a:r>
            <a:r>
              <a:rPr b="1" dirty="0">
                <a:latin typeface="+mn-ea"/>
                <a:ea typeface="宋体-简" panose="02010800040101010101" charset="-122"/>
                <a:cs typeface="+mn-ea"/>
              </a:rPr>
              <a:t>、丙氨酸氨基转移酶（</a:t>
            </a:r>
            <a:r>
              <a:rPr b="1" dirty="0">
                <a:solidFill>
                  <a:srgbClr val="FFFF00"/>
                </a:solidFill>
                <a:latin typeface="+mn-ea"/>
                <a:ea typeface="宋体-简" panose="02010800040101010101" charset="-122"/>
                <a:cs typeface="+mn-ea"/>
              </a:rPr>
              <a:t>ALT</a:t>
            </a:r>
            <a:r>
              <a:rPr b="1" dirty="0">
                <a:latin typeface="+mn-ea"/>
                <a:ea typeface="宋体-简" panose="02010800040101010101" charset="-122"/>
                <a:cs typeface="+mn-ea"/>
              </a:rPr>
              <a:t>）等检测项目。</a:t>
            </a:r>
            <a:r>
              <a:rPr lang="zh-CN" altLang="en-US" b="1" dirty="0">
                <a:latin typeface="+mn-ea"/>
                <a:cs typeface="+mn-ea"/>
              </a:rPr>
              <a:t> </a:t>
            </a:r>
            <a:endParaRPr lang="zh-CN" altLang="en-US" b="1" dirty="0">
              <a:latin typeface="+mn-ea"/>
              <a:cs typeface="+mn-ea"/>
            </a:endParaRPr>
          </a:p>
          <a:p>
            <a:pPr marL="401955" indent="0">
              <a:lnSpc>
                <a:spcPct val="150000"/>
              </a:lnSpc>
              <a:spcBef>
                <a:spcPts val="0"/>
              </a:spcBef>
              <a:buNone/>
            </a:pPr>
            <a:endParaRPr lang="zh-CN" altLang="en-US" b="1" dirty="0">
              <a:latin typeface="+mn-ea"/>
              <a:cs typeface="+mn-ea"/>
            </a:endParaRPr>
          </a:p>
          <a:p>
            <a:pPr>
              <a:lnSpc>
                <a:spcPct val="150000"/>
              </a:lnSpc>
              <a:spcBef>
                <a:spcPts val="0"/>
              </a:spcBef>
            </a:pPr>
            <a:r>
              <a:rPr kumimoji="1" lang="zh-CN" altLang="en-US" b="1" dirty="0">
                <a:solidFill>
                  <a:srgbClr val="FFFF00"/>
                </a:solidFill>
                <a:latin typeface="+mn-ea"/>
                <a:cs typeface="+mn-ea"/>
              </a:rPr>
              <a:t>穿越系统中采前检测项目（初筛项目）可以根据需要配置。</a:t>
            </a:r>
            <a:endParaRPr kumimoji="1" lang="zh-CN" altLang="en-US" b="1" dirty="0">
              <a:solidFill>
                <a:srgbClr val="FFFF00"/>
              </a:solidFill>
              <a:latin typeface="+mn-ea"/>
              <a:cs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fade">
                                      <p:cBhvr>
                                        <p:cTn id="7" dur="1000"/>
                                        <p:tgtEl>
                                          <p:spTgt spid="3">
                                            <p:txEl>
                                              <p:pRg st="6" end="6"/>
                                            </p:txEl>
                                          </p:spTgt>
                                        </p:tgtEl>
                                      </p:cBhvr>
                                    </p:animEffect>
                                    <p:anim calcmode="lin" valueType="num">
                                      <p:cBhvr>
                                        <p:cTn id="8"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b="1" dirty="0"/>
              <a:t>健康检查结论</a:t>
            </a:r>
            <a:endParaRPr kumimoji="1" lang="zh-CN" altLang="en-US" b="1" dirty="0"/>
          </a:p>
        </p:txBody>
      </p:sp>
      <p:sp>
        <p:nvSpPr>
          <p:cNvPr id="3" name="内容占位符 2"/>
          <p:cNvSpPr>
            <a:spLocks noGrp="1"/>
          </p:cNvSpPr>
          <p:nvPr>
            <p:ph idx="1"/>
          </p:nvPr>
        </p:nvSpPr>
        <p:spPr>
          <a:xfrm>
            <a:off x="1104265" y="1443355"/>
            <a:ext cx="9996170" cy="5076190"/>
          </a:xfrm>
        </p:spPr>
        <p:txBody>
          <a:bodyPr>
            <a:noAutofit/>
          </a:bodyPr>
          <a:lstStyle/>
          <a:p>
            <a:pPr>
              <a:lnSpc>
                <a:spcPct val="150000"/>
              </a:lnSpc>
              <a:spcBef>
                <a:spcPts val="0"/>
              </a:spcBef>
            </a:pPr>
            <a:r>
              <a:rPr lang="en-US" altLang="zh-CN" b="1" dirty="0">
                <a:latin typeface="+mn-ea"/>
                <a:cs typeface="+mn-ea"/>
              </a:rPr>
              <a:t>《</a:t>
            </a:r>
            <a:r>
              <a:rPr lang="zh-CN" altLang="en-US" b="1" dirty="0">
                <a:latin typeface="+mn-ea"/>
                <a:cs typeface="+mn-ea"/>
              </a:rPr>
              <a:t>规程</a:t>
            </a:r>
            <a:r>
              <a:rPr lang="en-US" altLang="zh-CN" b="1" dirty="0">
                <a:latin typeface="+mn-ea"/>
                <a:cs typeface="+mn-ea"/>
              </a:rPr>
              <a:t>》</a:t>
            </a:r>
            <a:r>
              <a:rPr lang="zh-CN" altLang="en-US" dirty="0">
                <a:latin typeface="+mn-ea"/>
                <a:cs typeface="+mn-ea"/>
              </a:rPr>
              <a:t> </a:t>
            </a:r>
            <a:endParaRPr lang="zh-CN" altLang="en-US" dirty="0">
              <a:latin typeface="+mn-ea"/>
              <a:cs typeface="+mn-ea"/>
            </a:endParaRPr>
          </a:p>
          <a:p>
            <a:pPr marL="401955" indent="0">
              <a:lnSpc>
                <a:spcPct val="150000"/>
              </a:lnSpc>
              <a:spcBef>
                <a:spcPts val="0"/>
              </a:spcBef>
              <a:buNone/>
            </a:pPr>
            <a:r>
              <a:rPr b="1" dirty="0">
                <a:latin typeface="+mn-ea"/>
                <a:ea typeface="宋体-简" panose="02010800040101010101" charset="-122"/>
                <a:cs typeface="+mn-ea"/>
              </a:rPr>
              <a:t>1.9.2 对于单采血小板的献血者，当次采集 1 个治疗量的，采前血小板计数</a:t>
            </a:r>
            <a:endParaRPr b="1" dirty="0">
              <a:latin typeface="+mn-ea"/>
              <a:ea typeface="宋体-简" panose="02010800040101010101" charset="-122"/>
              <a:cs typeface="+mn-ea"/>
            </a:endParaRPr>
          </a:p>
          <a:p>
            <a:pPr marL="401955" indent="0">
              <a:lnSpc>
                <a:spcPct val="150000"/>
              </a:lnSpc>
              <a:spcBef>
                <a:spcPts val="0"/>
              </a:spcBef>
              <a:buNone/>
            </a:pPr>
            <a:r>
              <a:rPr b="1" dirty="0">
                <a:latin typeface="+mn-ea"/>
                <a:ea typeface="宋体-简" panose="02010800040101010101" charset="-122"/>
                <a:cs typeface="+mn-ea"/>
              </a:rPr>
              <a:t>（Plt）：≥150×109/L 且＜450×109/L，预测采后血小板数（Plt）：≥100×</a:t>
            </a:r>
            <a:endParaRPr b="1" dirty="0">
              <a:latin typeface="+mn-ea"/>
              <a:ea typeface="宋体-简" panose="02010800040101010101" charset="-122"/>
              <a:cs typeface="+mn-ea"/>
            </a:endParaRPr>
          </a:p>
          <a:p>
            <a:pPr marL="401955" indent="0">
              <a:lnSpc>
                <a:spcPct val="150000"/>
              </a:lnSpc>
              <a:spcBef>
                <a:spcPts val="0"/>
              </a:spcBef>
              <a:buNone/>
            </a:pPr>
            <a:r>
              <a:rPr b="1" dirty="0">
                <a:latin typeface="+mn-ea"/>
                <a:ea typeface="宋体-简" panose="02010800040101010101" charset="-122"/>
                <a:cs typeface="+mn-ea"/>
              </a:rPr>
              <a:t>109/L；当次采集 2 个治疗量的，应当根据献血者体重、循环血量、血小板压积</a:t>
            </a:r>
            <a:endParaRPr b="1" dirty="0">
              <a:latin typeface="+mn-ea"/>
              <a:ea typeface="宋体-简" panose="02010800040101010101" charset="-122"/>
              <a:cs typeface="+mn-ea"/>
            </a:endParaRPr>
          </a:p>
          <a:p>
            <a:pPr marL="401955" indent="0">
              <a:lnSpc>
                <a:spcPct val="150000"/>
              </a:lnSpc>
              <a:spcBef>
                <a:spcPts val="0"/>
              </a:spcBef>
              <a:buNone/>
            </a:pPr>
            <a:r>
              <a:rPr b="1" dirty="0">
                <a:latin typeface="+mn-ea"/>
                <a:ea typeface="宋体-简" panose="02010800040101010101" charset="-122"/>
                <a:cs typeface="+mn-ea"/>
              </a:rPr>
              <a:t>等因素综合评估，确保采后血小板数（Plt）：≥100×109/L。</a:t>
            </a:r>
            <a:r>
              <a:rPr lang="zh-CN" altLang="en-US" b="1" dirty="0">
                <a:latin typeface="+mn-ea"/>
                <a:cs typeface="+mn-ea"/>
              </a:rPr>
              <a:t> </a:t>
            </a:r>
            <a:endParaRPr lang="zh-CN" altLang="en-US" b="1" dirty="0">
              <a:latin typeface="+mn-ea"/>
              <a:cs typeface="+mn-ea"/>
            </a:endParaRPr>
          </a:p>
          <a:p>
            <a:pPr marL="401955" indent="0">
              <a:lnSpc>
                <a:spcPct val="150000"/>
              </a:lnSpc>
              <a:spcBef>
                <a:spcPts val="0"/>
              </a:spcBef>
              <a:buNone/>
            </a:pPr>
            <a:endParaRPr lang="zh-CN" altLang="en-US" b="1" dirty="0">
              <a:latin typeface="+mn-ea"/>
              <a:cs typeface="+mn-ea"/>
            </a:endParaRPr>
          </a:p>
          <a:p>
            <a:pPr>
              <a:lnSpc>
                <a:spcPct val="150000"/>
              </a:lnSpc>
              <a:spcBef>
                <a:spcPts val="0"/>
              </a:spcBef>
            </a:pPr>
            <a:r>
              <a:rPr kumimoji="1" lang="zh-CN" altLang="en-US" b="1" dirty="0">
                <a:solidFill>
                  <a:srgbClr val="FFFF00"/>
                </a:solidFill>
                <a:latin typeface="+mn-ea"/>
                <a:cs typeface="+mn-ea"/>
              </a:rPr>
              <a:t>穿越系统中采前检查结论判定规则可以根据标准配置。</a:t>
            </a:r>
            <a:endParaRPr kumimoji="1" lang="zh-CN" altLang="en-US" b="1" dirty="0">
              <a:solidFill>
                <a:srgbClr val="FFFF00"/>
              </a:solidFill>
              <a:latin typeface="+mn-ea"/>
              <a:cs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fade">
                                      <p:cBhvr>
                                        <p:cTn id="7" dur="1000"/>
                                        <p:tgtEl>
                                          <p:spTgt spid="3">
                                            <p:txEl>
                                              <p:pRg st="6" end="6"/>
                                            </p:txEl>
                                          </p:spTgt>
                                        </p:tgtEl>
                                      </p:cBhvr>
                                    </p:animEffect>
                                    <p:anim calcmode="lin" valueType="num">
                                      <p:cBhvr>
                                        <p:cTn id="8"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b="1" dirty="0"/>
              <a:t>献血者屏蔽</a:t>
            </a:r>
            <a:endParaRPr kumimoji="1" lang="zh-CN" altLang="en-US" b="1" dirty="0"/>
          </a:p>
        </p:txBody>
      </p:sp>
      <p:sp>
        <p:nvSpPr>
          <p:cNvPr id="3" name="内容占位符 2"/>
          <p:cNvSpPr>
            <a:spLocks noGrp="1"/>
          </p:cNvSpPr>
          <p:nvPr>
            <p:ph idx="1"/>
          </p:nvPr>
        </p:nvSpPr>
        <p:spPr>
          <a:xfrm>
            <a:off x="1104265" y="1443355"/>
            <a:ext cx="9996170" cy="5076190"/>
          </a:xfrm>
        </p:spPr>
        <p:txBody>
          <a:bodyPr>
            <a:noAutofit/>
          </a:bodyPr>
          <a:lstStyle/>
          <a:p>
            <a:pPr>
              <a:lnSpc>
                <a:spcPct val="150000"/>
              </a:lnSpc>
              <a:spcBef>
                <a:spcPts val="0"/>
              </a:spcBef>
            </a:pPr>
            <a:r>
              <a:rPr lang="en-US" altLang="zh-CN" b="1" dirty="0">
                <a:latin typeface="+mn-ea"/>
                <a:cs typeface="+mn-ea"/>
              </a:rPr>
              <a:t>《</a:t>
            </a:r>
            <a:r>
              <a:rPr lang="zh-CN" altLang="en-US" b="1" dirty="0">
                <a:latin typeface="+mn-ea"/>
                <a:cs typeface="+mn-ea"/>
              </a:rPr>
              <a:t>规程</a:t>
            </a:r>
            <a:r>
              <a:rPr lang="en-US" altLang="zh-CN" b="1" dirty="0">
                <a:latin typeface="+mn-ea"/>
                <a:cs typeface="+mn-ea"/>
              </a:rPr>
              <a:t>》</a:t>
            </a:r>
            <a:r>
              <a:rPr lang="zh-CN" altLang="en-US" dirty="0">
                <a:latin typeface="+mn-ea"/>
                <a:cs typeface="+mn-ea"/>
              </a:rPr>
              <a:t> </a:t>
            </a:r>
            <a:endParaRPr lang="zh-CN" altLang="en-US" dirty="0">
              <a:latin typeface="+mn-ea"/>
              <a:cs typeface="+mn-ea"/>
            </a:endParaRPr>
          </a:p>
          <a:p>
            <a:pPr marL="401955" indent="0">
              <a:lnSpc>
                <a:spcPct val="150000"/>
              </a:lnSpc>
              <a:spcBef>
                <a:spcPts val="0"/>
              </a:spcBef>
              <a:buNone/>
            </a:pPr>
            <a:r>
              <a:rPr b="1" dirty="0">
                <a:latin typeface="+mn-ea"/>
                <a:ea typeface="宋体-简" panose="02010800040101010101" charset="-122"/>
                <a:cs typeface="+mn-ea"/>
              </a:rPr>
              <a:t>1.11.1 献血者屏蔽。献血者捐献血液的检测结果中，</a:t>
            </a:r>
            <a:r>
              <a:rPr b="1" dirty="0">
                <a:solidFill>
                  <a:srgbClr val="FFFF00"/>
                </a:solidFill>
                <a:latin typeface="+mn-ea"/>
                <a:ea typeface="宋体-简" panose="02010800040101010101" charset="-122"/>
                <a:cs typeface="+mn-ea"/>
              </a:rPr>
              <a:t>乙肝、丙肝、艾滋病任意</a:t>
            </a:r>
            <a:endParaRPr b="1" dirty="0">
              <a:solidFill>
                <a:srgbClr val="FFFF00"/>
              </a:solidFill>
              <a:latin typeface="+mn-ea"/>
              <a:ea typeface="宋体-简" panose="02010800040101010101" charset="-122"/>
              <a:cs typeface="+mn-ea"/>
            </a:endParaRPr>
          </a:p>
          <a:p>
            <a:pPr marL="401955" indent="0">
              <a:lnSpc>
                <a:spcPct val="150000"/>
              </a:lnSpc>
              <a:spcBef>
                <a:spcPts val="0"/>
              </a:spcBef>
              <a:buNone/>
            </a:pPr>
            <a:r>
              <a:rPr b="1" dirty="0">
                <a:solidFill>
                  <a:srgbClr val="FFFF00"/>
                </a:solidFill>
                <a:latin typeface="+mn-ea"/>
                <a:ea typeface="宋体-简" panose="02010800040101010101" charset="-122"/>
                <a:cs typeface="+mn-ea"/>
              </a:rPr>
              <a:t>一项中血清学检测和核酸检测</a:t>
            </a:r>
            <a:r>
              <a:rPr b="1" u="sng" dirty="0">
                <a:solidFill>
                  <a:srgbClr val="FFFF00"/>
                </a:solidFill>
                <a:latin typeface="+mn-ea"/>
                <a:ea typeface="宋体-简" panose="02010800040101010101" charset="-122"/>
                <a:cs typeface="+mn-ea"/>
              </a:rPr>
              <a:t>同时</a:t>
            </a:r>
            <a:r>
              <a:rPr b="1" dirty="0">
                <a:solidFill>
                  <a:srgbClr val="FFFF00"/>
                </a:solidFill>
                <a:latin typeface="+mn-ea"/>
                <a:ea typeface="宋体-简" panose="02010800040101010101" charset="-122"/>
                <a:cs typeface="+mn-ea"/>
              </a:rPr>
              <a:t>呈反应性</a:t>
            </a:r>
            <a:r>
              <a:rPr b="1" dirty="0">
                <a:latin typeface="+mn-ea"/>
                <a:ea typeface="宋体-简" panose="02010800040101010101" charset="-122"/>
                <a:cs typeface="+mn-ea"/>
              </a:rPr>
              <a:t>，则</a:t>
            </a:r>
            <a:r>
              <a:rPr b="1" dirty="0">
                <a:solidFill>
                  <a:schemeClr val="tx1"/>
                </a:solidFill>
                <a:latin typeface="+mn-ea"/>
                <a:ea typeface="宋体-简" panose="02010800040101010101" charset="-122"/>
                <a:cs typeface="+mn-ea"/>
              </a:rPr>
              <a:t>永久性屏蔽</a:t>
            </a:r>
            <a:r>
              <a:rPr b="1" dirty="0">
                <a:latin typeface="+mn-ea"/>
                <a:ea typeface="宋体-简" panose="02010800040101010101" charset="-122"/>
                <a:cs typeface="+mn-ea"/>
              </a:rPr>
              <a:t>。</a:t>
            </a:r>
            <a:r>
              <a:rPr b="1" dirty="0">
                <a:solidFill>
                  <a:srgbClr val="FFFF00"/>
                </a:solidFill>
                <a:latin typeface="+mn-ea"/>
                <a:ea typeface="宋体-简" panose="02010800040101010101" charset="-122"/>
                <a:cs typeface="+mn-ea"/>
              </a:rPr>
              <a:t>梅毒血清学检测</a:t>
            </a:r>
            <a:endParaRPr b="1" dirty="0">
              <a:solidFill>
                <a:srgbClr val="FFFF00"/>
              </a:solidFill>
              <a:latin typeface="+mn-ea"/>
              <a:ea typeface="宋体-简" panose="02010800040101010101" charset="-122"/>
              <a:cs typeface="+mn-ea"/>
            </a:endParaRPr>
          </a:p>
          <a:p>
            <a:pPr marL="401955" indent="0">
              <a:lnSpc>
                <a:spcPct val="150000"/>
              </a:lnSpc>
              <a:spcBef>
                <a:spcPts val="0"/>
              </a:spcBef>
              <a:buNone/>
            </a:pPr>
            <a:r>
              <a:rPr b="1" u="sng" dirty="0">
                <a:solidFill>
                  <a:srgbClr val="FFFF00"/>
                </a:solidFill>
                <a:latin typeface="+mn-ea"/>
                <a:ea typeface="宋体-简" panose="02010800040101010101" charset="-122"/>
                <a:cs typeface="+mn-ea"/>
              </a:rPr>
              <a:t>双试剂</a:t>
            </a:r>
            <a:r>
              <a:rPr b="1" dirty="0">
                <a:solidFill>
                  <a:srgbClr val="FFFF00"/>
                </a:solidFill>
                <a:latin typeface="+mn-ea"/>
                <a:ea typeface="宋体-简" panose="02010800040101010101" charset="-122"/>
                <a:cs typeface="+mn-ea"/>
              </a:rPr>
              <a:t>呈反应性</a:t>
            </a:r>
            <a:r>
              <a:rPr b="1" dirty="0">
                <a:latin typeface="+mn-ea"/>
                <a:ea typeface="宋体-简" panose="02010800040101010101" charset="-122"/>
                <a:cs typeface="+mn-ea"/>
              </a:rPr>
              <a:t>，则永久性屏蔽。</a:t>
            </a:r>
            <a:r>
              <a:rPr lang="zh-CN" altLang="en-US" b="1" dirty="0">
                <a:latin typeface="+mn-ea"/>
                <a:cs typeface="+mn-ea"/>
              </a:rPr>
              <a:t> </a:t>
            </a:r>
            <a:endParaRPr lang="zh-CN" altLang="en-US" b="1" dirty="0">
              <a:latin typeface="+mn-ea"/>
              <a:cs typeface="+mn-ea"/>
            </a:endParaRPr>
          </a:p>
          <a:p>
            <a:pPr marL="401955" indent="0">
              <a:lnSpc>
                <a:spcPct val="150000"/>
              </a:lnSpc>
              <a:spcBef>
                <a:spcPts val="0"/>
              </a:spcBef>
              <a:buNone/>
            </a:pPr>
            <a:endParaRPr lang="zh-CN" altLang="en-US" b="1" dirty="0">
              <a:latin typeface="+mn-ea"/>
              <a:cs typeface="+mn-ea"/>
            </a:endParaRPr>
          </a:p>
          <a:p>
            <a:pPr>
              <a:lnSpc>
                <a:spcPct val="150000"/>
              </a:lnSpc>
              <a:spcBef>
                <a:spcPts val="0"/>
              </a:spcBef>
            </a:pPr>
            <a:r>
              <a:rPr kumimoji="1" lang="zh-CN" altLang="en-US" b="1" dirty="0">
                <a:solidFill>
                  <a:srgbClr val="FFFF00"/>
                </a:solidFill>
                <a:latin typeface="+mn-ea"/>
                <a:cs typeface="+mn-ea"/>
              </a:rPr>
              <a:t>穿越系统中永久性屏蔽可以根据标准配置，在检验结论最终判定时按此规则判定。</a:t>
            </a:r>
            <a:endParaRPr kumimoji="1" lang="zh-CN" altLang="en-US" b="1" dirty="0">
              <a:solidFill>
                <a:srgbClr val="FFFF00"/>
              </a:solidFill>
              <a:latin typeface="+mn-ea"/>
              <a:cs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fade">
                                      <p:cBhvr>
                                        <p:cTn id="7" dur="1000"/>
                                        <p:tgtEl>
                                          <p:spTgt spid="3">
                                            <p:txEl>
                                              <p:pRg st="5" end="5"/>
                                            </p:txEl>
                                          </p:spTgt>
                                        </p:tgtEl>
                                      </p:cBhvr>
                                    </p:animEffect>
                                    <p:anim calcmode="lin" valueType="num">
                                      <p:cBhvr>
                                        <p:cTn id="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b="1" dirty="0"/>
              <a:t>标本管</a:t>
            </a:r>
            <a:endParaRPr kumimoji="1" lang="zh-CN" altLang="en-US" b="1" dirty="0"/>
          </a:p>
        </p:txBody>
      </p:sp>
      <p:sp>
        <p:nvSpPr>
          <p:cNvPr id="3" name="内容占位符 2"/>
          <p:cNvSpPr>
            <a:spLocks noGrp="1"/>
          </p:cNvSpPr>
          <p:nvPr>
            <p:ph idx="1"/>
          </p:nvPr>
        </p:nvSpPr>
        <p:spPr>
          <a:xfrm>
            <a:off x="1104265" y="1443355"/>
            <a:ext cx="9996170" cy="5076190"/>
          </a:xfrm>
        </p:spPr>
        <p:txBody>
          <a:bodyPr>
            <a:noAutofit/>
          </a:bodyPr>
          <a:lstStyle/>
          <a:p>
            <a:pPr>
              <a:lnSpc>
                <a:spcPct val="150000"/>
              </a:lnSpc>
              <a:spcBef>
                <a:spcPts val="0"/>
              </a:spcBef>
            </a:pPr>
            <a:r>
              <a:rPr lang="en-US" altLang="zh-CN" b="1" dirty="0">
                <a:latin typeface="+mn-ea"/>
                <a:cs typeface="+mn-ea"/>
              </a:rPr>
              <a:t>《</a:t>
            </a:r>
            <a:r>
              <a:rPr lang="zh-CN" altLang="en-US" b="1" dirty="0">
                <a:latin typeface="+mn-ea"/>
                <a:cs typeface="+mn-ea"/>
              </a:rPr>
              <a:t>规程</a:t>
            </a:r>
            <a:r>
              <a:rPr lang="en-US" altLang="zh-CN" b="1" dirty="0">
                <a:latin typeface="+mn-ea"/>
                <a:cs typeface="+mn-ea"/>
              </a:rPr>
              <a:t>》</a:t>
            </a:r>
            <a:r>
              <a:rPr lang="zh-CN" altLang="en-US" dirty="0">
                <a:latin typeface="+mn-ea"/>
                <a:cs typeface="+mn-ea"/>
              </a:rPr>
              <a:t> </a:t>
            </a:r>
            <a:endParaRPr lang="zh-CN" altLang="en-US" dirty="0">
              <a:latin typeface="+mn-ea"/>
              <a:cs typeface="+mn-ea"/>
            </a:endParaRPr>
          </a:p>
          <a:p>
            <a:pPr marL="401955" indent="0">
              <a:lnSpc>
                <a:spcPct val="150000"/>
              </a:lnSpc>
              <a:spcBef>
                <a:spcPts val="0"/>
              </a:spcBef>
              <a:buNone/>
            </a:pPr>
            <a:r>
              <a:rPr b="1" dirty="0">
                <a:latin typeface="+mn-ea"/>
                <a:ea typeface="宋体-简" panose="02010800040101010101" charset="-122"/>
                <a:cs typeface="+mn-ea"/>
              </a:rPr>
              <a:t>2.4.4.1 带有分离胶用于核酸检测的标本管。</a:t>
            </a:r>
            <a:endParaRPr b="1" dirty="0">
              <a:latin typeface="+mn-ea"/>
              <a:ea typeface="宋体-简" panose="02010800040101010101" charset="-122"/>
              <a:cs typeface="+mn-ea"/>
            </a:endParaRPr>
          </a:p>
          <a:p>
            <a:pPr marL="401955" indent="0">
              <a:lnSpc>
                <a:spcPct val="150000"/>
              </a:lnSpc>
              <a:spcBef>
                <a:spcPts val="0"/>
              </a:spcBef>
              <a:buNone/>
            </a:pPr>
            <a:r>
              <a:rPr b="1" dirty="0">
                <a:latin typeface="+mn-ea"/>
                <a:ea typeface="宋体-简" panose="02010800040101010101" charset="-122"/>
                <a:cs typeface="+mn-ea"/>
              </a:rPr>
              <a:t>2.4.4.2 用于血清学检测、ALT 和血型检测的标本管。</a:t>
            </a:r>
            <a:r>
              <a:rPr lang="zh-CN" altLang="en-US" b="1" dirty="0">
                <a:latin typeface="+mn-ea"/>
                <a:cs typeface="+mn-ea"/>
              </a:rPr>
              <a:t> </a:t>
            </a:r>
            <a:endParaRPr lang="zh-CN" altLang="en-US" b="1" dirty="0">
              <a:latin typeface="+mn-ea"/>
              <a:cs typeface="+mn-ea"/>
            </a:endParaRPr>
          </a:p>
          <a:p>
            <a:pPr marL="401955" indent="0">
              <a:lnSpc>
                <a:spcPct val="150000"/>
              </a:lnSpc>
              <a:spcBef>
                <a:spcPts val="0"/>
              </a:spcBef>
              <a:buNone/>
            </a:pPr>
            <a:endParaRPr lang="zh-CN" altLang="en-US" b="1" dirty="0">
              <a:latin typeface="+mn-ea"/>
              <a:cs typeface="+mn-ea"/>
            </a:endParaRPr>
          </a:p>
          <a:p>
            <a:pPr>
              <a:lnSpc>
                <a:spcPct val="150000"/>
              </a:lnSpc>
              <a:spcBef>
                <a:spcPts val="0"/>
              </a:spcBef>
            </a:pPr>
            <a:r>
              <a:rPr kumimoji="1" lang="zh-CN" altLang="en-US" b="1" dirty="0">
                <a:solidFill>
                  <a:srgbClr val="FFFF00"/>
                </a:solidFill>
                <a:latin typeface="+mn-ea"/>
                <a:cs typeface="+mn-ea"/>
              </a:rPr>
              <a:t>通常称之核酸管、酶免管、血型管或者抗凝管、促凝管。标本管中装的是血液标本。</a:t>
            </a:r>
            <a:endParaRPr kumimoji="1" lang="zh-CN" altLang="en-US" b="1" dirty="0">
              <a:solidFill>
                <a:srgbClr val="FFFF00"/>
              </a:solidFill>
              <a:latin typeface="+mn-ea"/>
              <a:cs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1000"/>
                                        <p:tgtEl>
                                          <p:spTgt spid="3">
                                            <p:txEl>
                                              <p:pRg st="4" end="4"/>
                                            </p:txEl>
                                          </p:spTgt>
                                        </p:tgtEl>
                                      </p:cBhvr>
                                    </p:animEffect>
                                    <p:anim calcmode="lin" valueType="num">
                                      <p:cBhvr>
                                        <p:cTn id="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b="1" dirty="0"/>
              <a:t>献血量问题</a:t>
            </a:r>
            <a:endParaRPr kumimoji="1" lang="zh-CN" altLang="en-US" b="1" dirty="0"/>
          </a:p>
        </p:txBody>
      </p:sp>
      <p:sp>
        <p:nvSpPr>
          <p:cNvPr id="3" name="内容占位符 2"/>
          <p:cNvSpPr>
            <a:spLocks noGrp="1"/>
          </p:cNvSpPr>
          <p:nvPr>
            <p:ph idx="1"/>
          </p:nvPr>
        </p:nvSpPr>
        <p:spPr>
          <a:xfrm>
            <a:off x="1104265" y="1417955"/>
            <a:ext cx="9968865" cy="4398645"/>
          </a:xfrm>
        </p:spPr>
        <p:txBody>
          <a:bodyPr>
            <a:noAutofit/>
          </a:bodyPr>
          <a:lstStyle/>
          <a:p>
            <a:pPr>
              <a:lnSpc>
                <a:spcPct val="150000"/>
              </a:lnSpc>
              <a:spcBef>
                <a:spcPts val="0"/>
              </a:spcBef>
            </a:pPr>
            <a:r>
              <a:rPr lang="en-US" altLang="zh-CN" b="1" dirty="0">
                <a:latin typeface="+mn-ea"/>
                <a:cs typeface="+mn-ea"/>
              </a:rPr>
              <a:t>《</a:t>
            </a:r>
            <a:r>
              <a:rPr lang="zh-CN" altLang="en-US" b="1" dirty="0">
                <a:latin typeface="+mn-ea"/>
                <a:cs typeface="+mn-ea"/>
              </a:rPr>
              <a:t>规程</a:t>
            </a:r>
            <a:r>
              <a:rPr lang="en-US" altLang="zh-CN" b="1" dirty="0">
                <a:latin typeface="+mn-ea"/>
                <a:cs typeface="+mn-ea"/>
              </a:rPr>
              <a:t>》</a:t>
            </a:r>
            <a:r>
              <a:rPr lang="zh-CN" altLang="en-US" dirty="0">
                <a:latin typeface="+mn-ea"/>
                <a:cs typeface="+mn-ea"/>
              </a:rPr>
              <a:t>附录 </a:t>
            </a:r>
            <a:r>
              <a:rPr lang="en-US" altLang="zh-CN" dirty="0">
                <a:latin typeface="+mn-ea"/>
                <a:cs typeface="+mn-ea"/>
              </a:rPr>
              <a:t>I </a:t>
            </a:r>
            <a:r>
              <a:rPr lang="zh-CN" altLang="en-US" dirty="0">
                <a:latin typeface="+mn-ea"/>
                <a:cs typeface="+mn-ea"/>
              </a:rPr>
              <a:t>献血者健康检查要求 </a:t>
            </a:r>
            <a:endParaRPr lang="zh-CN" altLang="en-US" b="1" dirty="0">
              <a:latin typeface="+mn-ea"/>
              <a:cs typeface="+mn-ea"/>
            </a:endParaRPr>
          </a:p>
          <a:p>
            <a:pPr marL="401955" indent="0">
              <a:lnSpc>
                <a:spcPct val="150000"/>
              </a:lnSpc>
              <a:spcBef>
                <a:spcPts val="0"/>
              </a:spcBef>
              <a:buNone/>
            </a:pPr>
            <a:r>
              <a:rPr lang="en-US" altLang="zh-CN" b="1" dirty="0">
                <a:latin typeface="+mn-ea"/>
                <a:cs typeface="+mn-ea"/>
              </a:rPr>
              <a:t>I.6.1.1 </a:t>
            </a:r>
            <a:r>
              <a:rPr lang="zh-CN" altLang="en-US" b="1" dirty="0">
                <a:latin typeface="+mn-ea"/>
                <a:cs typeface="+mn-ea"/>
              </a:rPr>
              <a:t>全血献血者每次可献全血 </a:t>
            </a:r>
            <a:r>
              <a:rPr lang="en-US" altLang="zh-CN" b="1" dirty="0">
                <a:latin typeface="+mn-ea"/>
                <a:cs typeface="+mn-ea"/>
              </a:rPr>
              <a:t>400ml,</a:t>
            </a:r>
            <a:r>
              <a:rPr lang="zh-CN" altLang="en-US" b="1" dirty="0">
                <a:latin typeface="+mn-ea"/>
                <a:cs typeface="+mn-ea"/>
              </a:rPr>
              <a:t>或者 </a:t>
            </a:r>
            <a:r>
              <a:rPr lang="en-US" altLang="zh-CN" b="1" dirty="0">
                <a:latin typeface="+mn-ea"/>
                <a:cs typeface="+mn-ea"/>
              </a:rPr>
              <a:t>300ml,</a:t>
            </a:r>
            <a:r>
              <a:rPr lang="zh-CN" altLang="en-US" b="1" dirty="0">
                <a:latin typeface="+mn-ea"/>
                <a:cs typeface="+mn-ea"/>
              </a:rPr>
              <a:t>或者 </a:t>
            </a:r>
            <a:r>
              <a:rPr lang="en-US" altLang="zh-CN" b="1" dirty="0">
                <a:latin typeface="+mn-ea"/>
                <a:cs typeface="+mn-ea"/>
              </a:rPr>
              <a:t>200ml</a:t>
            </a:r>
            <a:r>
              <a:rPr lang="zh-CN" altLang="en-US" b="1" dirty="0">
                <a:latin typeface="+mn-ea"/>
                <a:cs typeface="+mn-ea"/>
              </a:rPr>
              <a:t>。</a:t>
            </a:r>
            <a:endParaRPr lang="zh-CN" altLang="en-US" b="1" dirty="0">
              <a:latin typeface="+mn-ea"/>
              <a:cs typeface="+mn-ea"/>
            </a:endParaRPr>
          </a:p>
          <a:p>
            <a:pPr marL="401955" indent="0">
              <a:lnSpc>
                <a:spcPct val="150000"/>
              </a:lnSpc>
              <a:spcBef>
                <a:spcPts val="0"/>
              </a:spcBef>
              <a:buNone/>
            </a:pPr>
            <a:r>
              <a:rPr lang="en-US" altLang="zh-CN" b="1" dirty="0">
                <a:latin typeface="+mn-ea"/>
                <a:cs typeface="+mn-ea"/>
              </a:rPr>
              <a:t>I.6.1.2 </a:t>
            </a:r>
            <a:r>
              <a:rPr lang="zh-CN" altLang="en-US" b="1" dirty="0">
                <a:latin typeface="+mn-ea"/>
                <a:cs typeface="+mn-ea"/>
              </a:rPr>
              <a:t>单采血小板献血者</a:t>
            </a:r>
            <a:r>
              <a:rPr lang="en-US" altLang="zh-CN" b="1" dirty="0">
                <a:latin typeface="+mn-ea"/>
                <a:cs typeface="+mn-ea"/>
              </a:rPr>
              <a:t>:</a:t>
            </a:r>
            <a:r>
              <a:rPr lang="zh-CN" altLang="en-US" b="1" dirty="0">
                <a:latin typeface="+mn-ea"/>
                <a:cs typeface="+mn-ea"/>
              </a:rPr>
              <a:t>每次可献 </a:t>
            </a:r>
            <a:r>
              <a:rPr lang="en-US" altLang="zh-CN" b="1" dirty="0">
                <a:latin typeface="+mn-ea"/>
                <a:cs typeface="+mn-ea"/>
              </a:rPr>
              <a:t>1 </a:t>
            </a:r>
            <a:r>
              <a:rPr lang="zh-CN" altLang="en-US" b="1" dirty="0">
                <a:latin typeface="+mn-ea"/>
                <a:cs typeface="+mn-ea"/>
              </a:rPr>
              <a:t>个至 </a:t>
            </a:r>
            <a:r>
              <a:rPr lang="en-US" altLang="zh-CN" b="1" dirty="0">
                <a:latin typeface="+mn-ea"/>
                <a:cs typeface="+mn-ea"/>
              </a:rPr>
              <a:t>2 </a:t>
            </a:r>
            <a:r>
              <a:rPr lang="zh-CN" altLang="en-US" b="1" dirty="0">
                <a:latin typeface="+mn-ea"/>
                <a:cs typeface="+mn-ea"/>
              </a:rPr>
              <a:t>个治疗单位</a:t>
            </a:r>
            <a:r>
              <a:rPr lang="en-US" altLang="zh-CN" b="1" dirty="0">
                <a:latin typeface="+mn-ea"/>
                <a:cs typeface="+mn-ea"/>
              </a:rPr>
              <a:t>,</a:t>
            </a:r>
            <a:r>
              <a:rPr lang="zh-CN" altLang="en-US" b="1" dirty="0">
                <a:latin typeface="+mn-ea"/>
                <a:cs typeface="+mn-ea"/>
              </a:rPr>
              <a:t>或者 </a:t>
            </a:r>
            <a:r>
              <a:rPr lang="en-US" altLang="zh-CN" b="1" dirty="0">
                <a:latin typeface="+mn-ea"/>
                <a:cs typeface="+mn-ea"/>
              </a:rPr>
              <a:t>1 </a:t>
            </a:r>
            <a:r>
              <a:rPr lang="zh-CN" altLang="en-US" b="1" dirty="0">
                <a:latin typeface="+mn-ea"/>
                <a:cs typeface="+mn-ea"/>
              </a:rPr>
              <a:t>个 治疗单位及不超过 </a:t>
            </a:r>
            <a:r>
              <a:rPr lang="en-US" altLang="zh-CN" b="1" dirty="0">
                <a:latin typeface="+mn-ea"/>
                <a:cs typeface="+mn-ea"/>
              </a:rPr>
              <a:t>200ml </a:t>
            </a:r>
            <a:r>
              <a:rPr lang="zh-CN" altLang="en-US" b="1" dirty="0">
                <a:latin typeface="+mn-ea"/>
                <a:cs typeface="+mn-ea"/>
              </a:rPr>
              <a:t>血浆。全年血小板和血浆采集总量不超过 </a:t>
            </a:r>
            <a:r>
              <a:rPr lang="en-US" altLang="zh-CN" b="1" dirty="0">
                <a:latin typeface="+mn-ea"/>
                <a:cs typeface="+mn-ea"/>
              </a:rPr>
              <a:t>10 L</a:t>
            </a:r>
            <a:r>
              <a:rPr lang="zh-CN" altLang="en-US" b="1" dirty="0">
                <a:latin typeface="+mn-ea"/>
                <a:cs typeface="+mn-ea"/>
              </a:rPr>
              <a:t>。</a:t>
            </a:r>
            <a:endParaRPr lang="zh-CN" altLang="en-US" b="1" dirty="0">
              <a:latin typeface="+mn-ea"/>
              <a:cs typeface="+mn-ea"/>
            </a:endParaRPr>
          </a:p>
          <a:p>
            <a:pPr marL="0" indent="0">
              <a:lnSpc>
                <a:spcPct val="150000"/>
              </a:lnSpc>
              <a:spcBef>
                <a:spcPts val="0"/>
              </a:spcBef>
              <a:buNone/>
            </a:pPr>
            <a:r>
              <a:rPr lang="zh-CN" altLang="en-US" b="1" dirty="0">
                <a:latin typeface="+mn-ea"/>
                <a:cs typeface="+mn-ea"/>
              </a:rPr>
              <a:t>		注</a:t>
            </a:r>
            <a:r>
              <a:rPr lang="en-US" altLang="zh-CN" b="1" dirty="0">
                <a:latin typeface="+mn-ea"/>
                <a:cs typeface="+mn-ea"/>
              </a:rPr>
              <a:t>:</a:t>
            </a:r>
            <a:r>
              <a:rPr lang="zh-CN" altLang="en-US" b="1" dirty="0">
                <a:latin typeface="+mn-ea"/>
                <a:cs typeface="+mn-ea"/>
              </a:rPr>
              <a:t>上述献血量均不包括血液检测留样的血量和保养液或抗凝剂的量。 </a:t>
            </a:r>
            <a:endParaRPr lang="zh-CN" altLang="en-US" b="1" dirty="0">
              <a:latin typeface="+mn-ea"/>
              <a:cs typeface="+mn-ea"/>
            </a:endParaRPr>
          </a:p>
          <a:p>
            <a:pPr marL="0" indent="0">
              <a:lnSpc>
                <a:spcPct val="150000"/>
              </a:lnSpc>
              <a:spcBef>
                <a:spcPts val="0"/>
              </a:spcBef>
              <a:buNone/>
            </a:pPr>
            <a:endParaRPr lang="zh-CN" altLang="en-US" b="1" dirty="0">
              <a:latin typeface="+mn-ea"/>
              <a:cs typeface="+mn-ea"/>
            </a:endParaRPr>
          </a:p>
          <a:p>
            <a:pPr>
              <a:lnSpc>
                <a:spcPct val="150000"/>
              </a:lnSpc>
              <a:spcBef>
                <a:spcPts val="0"/>
              </a:spcBef>
            </a:pPr>
            <a:r>
              <a:rPr kumimoji="1" lang="zh-CN" altLang="en-US" b="1" dirty="0">
                <a:latin typeface="+mn-ea"/>
                <a:cs typeface="+mn-ea"/>
              </a:rPr>
              <a:t>说明：不属于以上规范的为非标量，要进行报废处理。</a:t>
            </a:r>
            <a:endParaRPr kumimoji="1" lang="zh-CN" altLang="en-US" b="1" dirty="0">
              <a:latin typeface="+mn-ea"/>
              <a:cs typeface="+mn-ea"/>
            </a:endParaRPr>
          </a:p>
          <a:p>
            <a:pPr>
              <a:lnSpc>
                <a:spcPct val="150000"/>
              </a:lnSpc>
              <a:spcBef>
                <a:spcPts val="0"/>
              </a:spcBef>
            </a:pPr>
            <a:r>
              <a:rPr kumimoji="1" lang="zh-CN" altLang="en-US" b="1" dirty="0">
                <a:solidFill>
                  <a:srgbClr val="FFFF00"/>
                </a:solidFill>
                <a:latin typeface="+mn-ea"/>
                <a:cs typeface="+mn-ea"/>
              </a:rPr>
              <a:t>穿越系统中对于献血量进行准确有效的限制，避免异常数据。</a:t>
            </a:r>
            <a:endParaRPr kumimoji="1" lang="zh-CN" altLang="en-US" b="1" dirty="0">
              <a:solidFill>
                <a:srgbClr val="FFFF00"/>
              </a:solidFill>
              <a:latin typeface="+mn-ea"/>
              <a:cs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fade">
                                      <p:cBhvr>
                                        <p:cTn id="7" dur="1000"/>
                                        <p:tgtEl>
                                          <p:spTgt spid="3">
                                            <p:txEl>
                                              <p:pRg st="6" end="6"/>
                                            </p:txEl>
                                          </p:spTgt>
                                        </p:tgtEl>
                                      </p:cBhvr>
                                    </p:animEffect>
                                    <p:anim calcmode="lin" valueType="num">
                                      <p:cBhvr>
                                        <p:cTn id="8"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b="1" dirty="0"/>
              <a:t>献血间隔问题</a:t>
            </a:r>
            <a:endParaRPr kumimoji="1" lang="zh-CN" altLang="en-US" b="1" dirty="0"/>
          </a:p>
        </p:txBody>
      </p:sp>
      <p:sp>
        <p:nvSpPr>
          <p:cNvPr id="3" name="内容占位符 2"/>
          <p:cNvSpPr>
            <a:spLocks noGrp="1"/>
          </p:cNvSpPr>
          <p:nvPr>
            <p:ph idx="1"/>
          </p:nvPr>
        </p:nvSpPr>
        <p:spPr>
          <a:xfrm>
            <a:off x="1104265" y="1430655"/>
            <a:ext cx="10209530" cy="5146040"/>
          </a:xfrm>
        </p:spPr>
        <p:txBody>
          <a:bodyPr>
            <a:noAutofit/>
          </a:bodyPr>
          <a:lstStyle/>
          <a:p>
            <a:pPr>
              <a:lnSpc>
                <a:spcPct val="150000"/>
              </a:lnSpc>
              <a:spcBef>
                <a:spcPts val="0"/>
              </a:spcBef>
            </a:pPr>
            <a:r>
              <a:rPr lang="en-US" altLang="zh-CN" b="1" dirty="0"/>
              <a:t>《</a:t>
            </a:r>
            <a:r>
              <a:rPr lang="zh-CN" altLang="en-US" b="1" dirty="0"/>
              <a:t>规程</a:t>
            </a:r>
            <a:r>
              <a:rPr lang="en-US" altLang="zh-CN" b="1" dirty="0"/>
              <a:t>》</a:t>
            </a:r>
            <a:r>
              <a:rPr lang="zh-CN" altLang="en-US" dirty="0"/>
              <a:t>附录 </a:t>
            </a:r>
            <a:r>
              <a:rPr lang="en-US" altLang="zh-CN" dirty="0"/>
              <a:t>I </a:t>
            </a:r>
            <a:r>
              <a:rPr lang="zh-CN" altLang="en-US" dirty="0"/>
              <a:t>献血者健康检查要求</a:t>
            </a:r>
            <a:r>
              <a:rPr lang="zh-CN" altLang="en-US" b="1" dirty="0"/>
              <a:t> </a:t>
            </a:r>
            <a:endParaRPr lang="zh-CN" altLang="en-US" b="1" dirty="0"/>
          </a:p>
          <a:p>
            <a:pPr marL="401955" indent="0">
              <a:lnSpc>
                <a:spcPct val="150000"/>
              </a:lnSpc>
              <a:spcBef>
                <a:spcPts val="0"/>
              </a:spcBef>
              <a:buNone/>
            </a:pPr>
            <a:r>
              <a:rPr lang="en-US" altLang="zh-CN" b="1" dirty="0"/>
              <a:t>I.6.2.1 </a:t>
            </a:r>
            <a:r>
              <a:rPr lang="zh-CN" altLang="en-US" b="1" dirty="0"/>
              <a:t>全血献血间隔</a:t>
            </a:r>
            <a:r>
              <a:rPr lang="en-US" altLang="zh-CN" b="1" dirty="0"/>
              <a:t>:</a:t>
            </a:r>
            <a:r>
              <a:rPr lang="zh-CN" altLang="en-US" b="1" dirty="0"/>
              <a:t>不少于 </a:t>
            </a:r>
            <a:r>
              <a:rPr lang="en-US" altLang="zh-CN" b="1" dirty="0"/>
              <a:t>6 </a:t>
            </a:r>
            <a:r>
              <a:rPr lang="zh-CN" altLang="en-US" b="1" dirty="0"/>
              <a:t>个月。</a:t>
            </a:r>
            <a:endParaRPr lang="zh-CN" altLang="en-US" b="1" dirty="0"/>
          </a:p>
          <a:p>
            <a:pPr marL="401955" indent="0">
              <a:lnSpc>
                <a:spcPct val="150000"/>
              </a:lnSpc>
              <a:spcBef>
                <a:spcPts val="0"/>
              </a:spcBef>
              <a:buNone/>
            </a:pPr>
            <a:r>
              <a:rPr lang="en-US" altLang="zh-CN" b="1" dirty="0"/>
              <a:t>I.6.2.2 </a:t>
            </a:r>
            <a:r>
              <a:rPr lang="zh-CN" altLang="en-US" b="1" dirty="0"/>
              <a:t>单采血小板献血间隔</a:t>
            </a:r>
            <a:r>
              <a:rPr lang="en-US" altLang="zh-CN" b="1" dirty="0"/>
              <a:t>:</a:t>
            </a:r>
            <a:r>
              <a:rPr lang="zh-CN" altLang="en-US" b="1" dirty="0"/>
              <a:t>不少于 </a:t>
            </a:r>
            <a:r>
              <a:rPr lang="en-US" altLang="zh-CN" b="1" dirty="0"/>
              <a:t>2 </a:t>
            </a:r>
            <a:r>
              <a:rPr lang="zh-CN" altLang="en-US" b="1" dirty="0"/>
              <a:t>周</a:t>
            </a:r>
            <a:r>
              <a:rPr lang="en-US" altLang="zh-CN" b="1" dirty="0"/>
              <a:t>,</a:t>
            </a:r>
            <a:r>
              <a:rPr lang="zh-CN" altLang="en-US" b="1" dirty="0"/>
              <a:t>不大于 </a:t>
            </a:r>
            <a:r>
              <a:rPr lang="en-US" altLang="zh-CN" b="1" dirty="0"/>
              <a:t>24 </a:t>
            </a:r>
            <a:r>
              <a:rPr lang="zh-CN" altLang="en-US" b="1" dirty="0"/>
              <a:t>次</a:t>
            </a:r>
            <a:r>
              <a:rPr lang="en-US" altLang="zh-CN" b="1" dirty="0"/>
              <a:t>/</a:t>
            </a:r>
            <a:r>
              <a:rPr lang="zh-CN" altLang="en-US" b="1" dirty="0"/>
              <a:t>年。因特殊配型需要</a:t>
            </a:r>
            <a:r>
              <a:rPr lang="en-US" altLang="zh-CN" b="1" dirty="0"/>
              <a:t>,</a:t>
            </a:r>
            <a:r>
              <a:rPr lang="zh-CN" altLang="en-US" b="1" dirty="0"/>
              <a:t>由医生批准，最短间隔时间不少于 </a:t>
            </a:r>
            <a:r>
              <a:rPr lang="en-US" altLang="zh-CN" b="1" dirty="0"/>
              <a:t>1 </a:t>
            </a:r>
            <a:r>
              <a:rPr lang="zh-CN" altLang="en-US" b="1" dirty="0"/>
              <a:t>周。 </a:t>
            </a:r>
            <a:r>
              <a:rPr lang="en-US" altLang="zh-CN" b="1" dirty="0"/>
              <a:t> </a:t>
            </a:r>
            <a:endParaRPr lang="zh-CN" altLang="en-US" b="1" dirty="0"/>
          </a:p>
          <a:p>
            <a:pPr marL="401955" indent="0">
              <a:lnSpc>
                <a:spcPct val="150000"/>
              </a:lnSpc>
              <a:spcBef>
                <a:spcPts val="0"/>
              </a:spcBef>
              <a:buNone/>
            </a:pPr>
            <a:r>
              <a:rPr lang="en-US" altLang="zh-CN" b="1" dirty="0"/>
              <a:t>I.6.2.3 </a:t>
            </a:r>
            <a:r>
              <a:rPr lang="zh-CN" altLang="en-US" b="1" dirty="0"/>
              <a:t>单采血小板后与全血献血间隔：不少于 </a:t>
            </a:r>
            <a:r>
              <a:rPr lang="en-US" altLang="zh-CN" b="1" dirty="0"/>
              <a:t>4 </a:t>
            </a:r>
            <a:r>
              <a:rPr lang="zh-CN" altLang="en-US" b="1" dirty="0"/>
              <a:t>周。全血献血后与单采血小板献血间隔：不少于 </a:t>
            </a:r>
            <a:r>
              <a:rPr lang="en-US" altLang="zh-CN" b="1" dirty="0"/>
              <a:t>3 </a:t>
            </a:r>
            <a:r>
              <a:rPr lang="zh-CN" altLang="en-US" b="1" dirty="0"/>
              <a:t>个月。 </a:t>
            </a:r>
            <a:endParaRPr lang="zh-CN" altLang="en-US" b="1" dirty="0"/>
          </a:p>
          <a:p>
            <a:pPr marL="401955" indent="0">
              <a:lnSpc>
                <a:spcPct val="150000"/>
              </a:lnSpc>
              <a:spcBef>
                <a:spcPts val="0"/>
              </a:spcBef>
              <a:buNone/>
            </a:pPr>
            <a:endParaRPr lang="zh-CN" altLang="en-US" sz="1200" b="1" dirty="0"/>
          </a:p>
          <a:p>
            <a:pPr>
              <a:lnSpc>
                <a:spcPct val="150000"/>
              </a:lnSpc>
              <a:spcBef>
                <a:spcPts val="0"/>
              </a:spcBef>
            </a:pPr>
            <a:r>
              <a:rPr kumimoji="1" lang="zh-CN" altLang="en-US" b="1" dirty="0"/>
              <a:t>说明：关于</a:t>
            </a:r>
            <a:r>
              <a:rPr kumimoji="1" lang="en-US" altLang="zh-CN" b="1" dirty="0"/>
              <a:t>2</a:t>
            </a:r>
            <a:r>
              <a:rPr kumimoji="1" lang="zh-CN" altLang="en-US" b="1" dirty="0"/>
              <a:t>次全血间隔中有单采，可按不少于</a:t>
            </a:r>
            <a:r>
              <a:rPr kumimoji="1" lang="en-US" altLang="zh-CN" b="1" dirty="0"/>
              <a:t>6</a:t>
            </a:r>
            <a:r>
              <a:rPr kumimoji="1" lang="zh-CN" altLang="en-US" b="1" dirty="0"/>
              <a:t>个月计算。</a:t>
            </a:r>
            <a:endParaRPr kumimoji="1" lang="zh-CN" altLang="en-US" b="1" dirty="0"/>
          </a:p>
          <a:p>
            <a:pPr>
              <a:lnSpc>
                <a:spcPct val="150000"/>
              </a:lnSpc>
              <a:spcBef>
                <a:spcPts val="0"/>
              </a:spcBef>
            </a:pPr>
            <a:r>
              <a:rPr kumimoji="1" lang="zh-CN" altLang="en-US" b="1" dirty="0">
                <a:solidFill>
                  <a:srgbClr val="FFFF00"/>
                </a:solidFill>
              </a:rPr>
              <a:t>穿越系统中对于献血间隔进行准确有效的限制，避免频采超采，</a:t>
            </a:r>
            <a:r>
              <a:rPr kumimoji="1" lang="zh-CN" altLang="en-US" b="1" dirty="0">
                <a:solidFill>
                  <a:srgbClr val="FFFF00"/>
                </a:solidFill>
                <a:sym typeface="+mn-ea"/>
              </a:rPr>
              <a:t>特别是在脱机模式下，有不满足献血间隔期但已采血的要进入受控管理。</a:t>
            </a:r>
            <a:endParaRPr kumimoji="1" lang="zh-CN" altLang="en-US" b="1" dirty="0">
              <a:solidFill>
                <a:srgbClr val="FFFF00"/>
              </a:solidFill>
              <a:sym typeface="+mn-ea"/>
            </a:endParaRPr>
          </a:p>
          <a:p>
            <a:pPr>
              <a:lnSpc>
                <a:spcPct val="150000"/>
              </a:lnSpc>
              <a:spcBef>
                <a:spcPts val="0"/>
              </a:spcBef>
            </a:pPr>
            <a:r>
              <a:rPr kumimoji="1" lang="zh-CN" altLang="en-US" b="1" dirty="0">
                <a:solidFill>
                  <a:srgbClr val="FFFF00"/>
                </a:solidFill>
                <a:sym typeface="+mn-ea"/>
              </a:rPr>
              <a:t>对于间隔期不足又采血的会自动进入“献血过程中的异常”由质控科进行处理。</a:t>
            </a:r>
            <a:endParaRPr kumimoji="1" lang="zh-CN" altLang="en-US" b="1" dirty="0">
              <a:solidFill>
                <a:srgbClr val="FFFF00"/>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fade">
                                      <p:cBhvr>
                                        <p:cTn id="7" dur="1000"/>
                                        <p:tgtEl>
                                          <p:spTgt spid="3">
                                            <p:txEl>
                                              <p:pRg st="6" end="6"/>
                                            </p:txEl>
                                          </p:spTgt>
                                        </p:tgtEl>
                                      </p:cBhvr>
                                    </p:animEffect>
                                    <p:anim calcmode="lin" valueType="num">
                                      <p:cBhvr>
                                        <p:cTn id="8"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7" end="7"/>
                                            </p:txEl>
                                          </p:spTgt>
                                        </p:tgtEl>
                                        <p:attrNameLst>
                                          <p:attrName>style.visibility</p:attrName>
                                        </p:attrNameLst>
                                      </p:cBhvr>
                                      <p:to>
                                        <p:strVal val="visible"/>
                                      </p:to>
                                    </p:set>
                                    <p:animEffect transition="in" filter="fade">
                                      <p:cBhvr>
                                        <p:cTn id="14" dur="1000"/>
                                        <p:tgtEl>
                                          <p:spTgt spid="3">
                                            <p:txEl>
                                              <p:pRg st="7" end="7"/>
                                            </p:txEl>
                                          </p:spTgt>
                                        </p:tgtEl>
                                      </p:cBhvr>
                                    </p:animEffect>
                                    <p:anim calcmode="lin" valueType="num">
                                      <p:cBhvr>
                                        <p:cTn id="15"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b="1" dirty="0"/>
              <a:t>采血时间控制</a:t>
            </a:r>
            <a:endParaRPr kumimoji="1" lang="zh-CN" altLang="en-US" b="1" dirty="0"/>
          </a:p>
        </p:txBody>
      </p:sp>
      <p:sp>
        <p:nvSpPr>
          <p:cNvPr id="3" name="内容占位符 2"/>
          <p:cNvSpPr>
            <a:spLocks noGrp="1"/>
          </p:cNvSpPr>
          <p:nvPr>
            <p:ph idx="1"/>
          </p:nvPr>
        </p:nvSpPr>
        <p:spPr>
          <a:xfrm>
            <a:off x="1104265" y="1443355"/>
            <a:ext cx="9997440" cy="4716145"/>
          </a:xfrm>
        </p:spPr>
        <p:txBody>
          <a:bodyPr>
            <a:normAutofit/>
          </a:bodyPr>
          <a:lstStyle/>
          <a:p>
            <a:pPr>
              <a:lnSpc>
                <a:spcPct val="150000"/>
              </a:lnSpc>
            </a:pPr>
            <a:r>
              <a:rPr lang="en-US" altLang="zh-CN" b="1" dirty="0"/>
              <a:t>《</a:t>
            </a:r>
            <a:r>
              <a:rPr lang="zh-CN" altLang="en-US" b="1" dirty="0"/>
              <a:t>规程</a:t>
            </a:r>
            <a:r>
              <a:rPr lang="en-US" altLang="zh-CN" b="1" dirty="0"/>
              <a:t>》</a:t>
            </a:r>
            <a:endParaRPr lang="zh-CN" altLang="en-US" b="1" dirty="0"/>
          </a:p>
          <a:p>
            <a:pPr marL="401955" indent="0">
              <a:lnSpc>
                <a:spcPct val="150000"/>
              </a:lnSpc>
              <a:spcBef>
                <a:spcPts val="0"/>
              </a:spcBef>
              <a:buNone/>
            </a:pPr>
            <a:r>
              <a:rPr lang="en-US" altLang="zh-CN" b="1" dirty="0"/>
              <a:t>2.11.1.5 </a:t>
            </a:r>
            <a:r>
              <a:rPr lang="zh-CN" altLang="en-US" b="1" dirty="0">
                <a:latin typeface="宋体-简" panose="02010800040101010101" charset="-122"/>
                <a:ea typeface="宋体-简" panose="02010800040101010101" charset="-122"/>
                <a:cs typeface="宋体-简" panose="02010800040101010101" charset="-122"/>
              </a:rPr>
              <a:t>应当对采血时间进行控制。</a:t>
            </a:r>
            <a:r>
              <a:rPr b="1" dirty="0">
                <a:latin typeface="宋体-简" panose="02010800040101010101" charset="-122"/>
                <a:ea typeface="宋体-简" panose="02010800040101010101" charset="-122"/>
                <a:cs typeface="宋体-简" panose="02010800040101010101" charset="-122"/>
              </a:rPr>
              <a:t>当 200ml 全血采集时间＞5 分钟，或 400ml全血采集时间＞10 分钟时，应给予特殊标识，所采集的全血不可用于制备血小板。当 200ml 全血采集时间＞7 分钟，或 400 ml 全血采集时间＞13 分钟时，应给予特殊标识，所采集的全血不可用于制备新鲜冰冻血浆。</a:t>
            </a:r>
            <a:endParaRPr b="1" dirty="0">
              <a:latin typeface="宋体-简" panose="02010800040101010101" charset="-122"/>
              <a:ea typeface="宋体-简" panose="02010800040101010101" charset="-122"/>
              <a:cs typeface="宋体-简" panose="02010800040101010101" charset="-122"/>
            </a:endParaRPr>
          </a:p>
          <a:p>
            <a:pPr marL="401955" indent="0">
              <a:lnSpc>
                <a:spcPct val="150000"/>
              </a:lnSpc>
              <a:spcBef>
                <a:spcPts val="0"/>
              </a:spcBef>
              <a:buNone/>
            </a:pPr>
            <a:endParaRPr b="1" dirty="0">
              <a:latin typeface="宋体-简" panose="02010800040101010101" charset="-122"/>
              <a:ea typeface="宋体-简" panose="02010800040101010101" charset="-122"/>
              <a:cs typeface="宋体-简" panose="02010800040101010101" charset="-122"/>
            </a:endParaRPr>
          </a:p>
          <a:p>
            <a:pPr>
              <a:lnSpc>
                <a:spcPct val="150000"/>
              </a:lnSpc>
            </a:pPr>
            <a:r>
              <a:rPr kumimoji="1" lang="zh-CN" altLang="en-US" b="1" dirty="0">
                <a:solidFill>
                  <a:srgbClr val="FFFF00"/>
                </a:solidFill>
              </a:rPr>
              <a:t>穿越系统中采集采血持续时间，在血液制备中控制制备出来血液制品。</a:t>
            </a:r>
            <a:endParaRPr kumimoji="1" lang="zh-CN" altLang="en-US" b="1" dirty="0">
              <a:solidFill>
                <a:srgbClr val="FFFF00"/>
              </a:solidFill>
            </a:endParaRPr>
          </a:p>
          <a:p>
            <a:pPr>
              <a:lnSpc>
                <a:spcPct val="150000"/>
              </a:lnSpc>
            </a:pPr>
            <a:r>
              <a:rPr kumimoji="1" lang="zh-CN" altLang="en-US" b="1" dirty="0">
                <a:solidFill>
                  <a:srgbClr val="FFFF00"/>
                </a:solidFill>
                <a:sym typeface="+mn-ea"/>
              </a:rPr>
              <a:t>穿越系统采用制备树和制备规则结合控制血液制备。</a:t>
            </a:r>
            <a:endParaRPr kumimoji="1" lang="zh-CN" altLang="en-US" b="1" dirty="0">
              <a:solidFill>
                <a:srgbClr val="FFFF00"/>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1000"/>
                                        <p:tgtEl>
                                          <p:spTgt spid="3">
                                            <p:txEl>
                                              <p:pRg st="3" end="3"/>
                                            </p:txEl>
                                          </p:spTgt>
                                        </p:tgtEl>
                                      </p:cBhvr>
                                    </p:animEffect>
                                    <p:anim calcmode="lin" valueType="num">
                                      <p:cBhvr>
                                        <p:cTn id="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4" end="4"/>
                                            </p:txEl>
                                          </p:spTgt>
                                        </p:tgtEl>
                                        <p:attrNameLst>
                                          <p:attrName>style.visibility</p:attrName>
                                        </p:attrNameLst>
                                      </p:cBhvr>
                                      <p:to>
                                        <p:strVal val="visible"/>
                                      </p:to>
                                    </p:set>
                                    <p:animEffect transition="in" filter="fade">
                                      <p:cBhvr>
                                        <p:cTn id="14" dur="1000"/>
                                        <p:tgtEl>
                                          <p:spTgt spid="3">
                                            <p:txEl>
                                              <p:pRg st="4" end="4"/>
                                            </p:txEl>
                                          </p:spTgt>
                                        </p:tgtEl>
                                      </p:cBhvr>
                                    </p:animEffect>
                                    <p:anim calcmode="lin" valueType="num">
                                      <p:cBhvr>
                                        <p:cTn id="15"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b="1" dirty="0"/>
              <a:t>采血结束和献血者休息与观察</a:t>
            </a:r>
            <a:endParaRPr kumimoji="1" lang="zh-CN" altLang="en-US" b="1" dirty="0"/>
          </a:p>
        </p:txBody>
      </p:sp>
      <p:sp>
        <p:nvSpPr>
          <p:cNvPr id="3" name="内容占位符 2"/>
          <p:cNvSpPr>
            <a:spLocks noGrp="1"/>
          </p:cNvSpPr>
          <p:nvPr>
            <p:ph idx="1"/>
          </p:nvPr>
        </p:nvSpPr>
        <p:spPr>
          <a:xfrm>
            <a:off x="1104265" y="1443355"/>
            <a:ext cx="9997440" cy="4716145"/>
          </a:xfrm>
        </p:spPr>
        <p:txBody>
          <a:bodyPr>
            <a:normAutofit/>
          </a:bodyPr>
          <a:lstStyle/>
          <a:p>
            <a:pPr>
              <a:lnSpc>
                <a:spcPct val="150000"/>
              </a:lnSpc>
            </a:pPr>
            <a:r>
              <a:rPr lang="en-US" altLang="zh-CN" b="1" dirty="0"/>
              <a:t>《</a:t>
            </a:r>
            <a:r>
              <a:rPr lang="zh-CN" altLang="en-US" b="1" dirty="0"/>
              <a:t>规程</a:t>
            </a:r>
            <a:r>
              <a:rPr lang="en-US" altLang="zh-CN" b="1" dirty="0"/>
              <a:t>》</a:t>
            </a:r>
            <a:endParaRPr lang="zh-CN" altLang="en-US" b="1" dirty="0"/>
          </a:p>
          <a:p>
            <a:pPr marL="401955" indent="0">
              <a:lnSpc>
                <a:spcPct val="150000"/>
              </a:lnSpc>
              <a:spcBef>
                <a:spcPts val="0"/>
              </a:spcBef>
              <a:buNone/>
            </a:pPr>
            <a:r>
              <a:rPr lang="en-US" altLang="zh-CN" b="1" dirty="0"/>
              <a:t>2.12.1 </a:t>
            </a:r>
            <a:r>
              <a:rPr b="1" dirty="0">
                <a:latin typeface="宋体-简" panose="02010800040101010101" charset="-122"/>
                <a:ea typeface="宋体-简" panose="02010800040101010101" charset="-122"/>
                <a:cs typeface="宋体-简" panose="02010800040101010101" charset="-122"/>
              </a:rPr>
              <a:t>拨出针头后指导献血者加重按压穿刺点 10～15 分钟。</a:t>
            </a:r>
            <a:endParaRPr b="1" dirty="0">
              <a:latin typeface="宋体-简" panose="02010800040101010101" charset="-122"/>
              <a:ea typeface="宋体-简" panose="02010800040101010101" charset="-122"/>
              <a:cs typeface="宋体-简" panose="02010800040101010101" charset="-122"/>
            </a:endParaRPr>
          </a:p>
          <a:p>
            <a:pPr marL="401955" indent="0">
              <a:lnSpc>
                <a:spcPct val="150000"/>
              </a:lnSpc>
              <a:spcBef>
                <a:spcPts val="0"/>
              </a:spcBef>
              <a:buNone/>
            </a:pPr>
            <a:r>
              <a:rPr lang="en-US" altLang="zh-CN" b="1" dirty="0">
                <a:sym typeface="+mn-ea"/>
              </a:rPr>
              <a:t>2.12.3 嘱献血者在休息区休息 10～15 分钟，感觉无不适后方可离开。</a:t>
            </a:r>
            <a:endParaRPr lang="en-US" altLang="zh-CN" b="1" dirty="0">
              <a:sym typeface="+mn-ea"/>
            </a:endParaRPr>
          </a:p>
          <a:p>
            <a:pPr marL="401955" indent="0">
              <a:lnSpc>
                <a:spcPct val="150000"/>
              </a:lnSpc>
              <a:spcBef>
                <a:spcPts val="0"/>
              </a:spcBef>
              <a:buNone/>
            </a:pPr>
            <a:endParaRPr lang="en-US" altLang="zh-CN" b="1" dirty="0">
              <a:sym typeface="+mn-ea"/>
            </a:endParaRPr>
          </a:p>
          <a:p>
            <a:pPr>
              <a:lnSpc>
                <a:spcPct val="150000"/>
              </a:lnSpc>
            </a:pPr>
            <a:r>
              <a:rPr kumimoji="1" lang="zh-CN" altLang="en-US" b="1" dirty="0">
                <a:solidFill>
                  <a:srgbClr val="FFFF00"/>
                </a:solidFill>
              </a:rPr>
              <a:t>利用这个时间打印和发放无偿献血证。</a:t>
            </a:r>
            <a:endParaRPr kumimoji="1" lang="zh-CN" altLang="en-US" b="1" dirty="0">
              <a:solidFill>
                <a:srgbClr val="FFFF00"/>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1000"/>
                                        <p:tgtEl>
                                          <p:spTgt spid="3">
                                            <p:txEl>
                                              <p:pRg st="4" end="4"/>
                                            </p:txEl>
                                          </p:spTgt>
                                        </p:tgtEl>
                                      </p:cBhvr>
                                    </p:animEffect>
                                    <p:anim calcmode="lin" valueType="num">
                                      <p:cBhvr>
                                        <p:cTn id="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b="1" dirty="0"/>
              <a:t>血袋及血液标本标识</a:t>
            </a:r>
            <a:endParaRPr kumimoji="1" lang="zh-CN" altLang="en-US" b="1" dirty="0"/>
          </a:p>
        </p:txBody>
      </p:sp>
      <p:sp>
        <p:nvSpPr>
          <p:cNvPr id="3" name="内容占位符 2"/>
          <p:cNvSpPr>
            <a:spLocks noGrp="1"/>
          </p:cNvSpPr>
          <p:nvPr>
            <p:ph idx="1"/>
          </p:nvPr>
        </p:nvSpPr>
        <p:spPr>
          <a:xfrm>
            <a:off x="1104265" y="1443355"/>
            <a:ext cx="9942195" cy="4716145"/>
          </a:xfrm>
        </p:spPr>
        <p:txBody>
          <a:bodyPr>
            <a:normAutofit/>
          </a:bodyPr>
          <a:lstStyle/>
          <a:p>
            <a:pPr>
              <a:lnSpc>
                <a:spcPct val="150000"/>
              </a:lnSpc>
            </a:pPr>
            <a:r>
              <a:rPr lang="en-US" altLang="zh-CN" b="1" dirty="0"/>
              <a:t>《</a:t>
            </a:r>
            <a:r>
              <a:rPr lang="zh-CN" altLang="en-US" b="1" dirty="0"/>
              <a:t>规程</a:t>
            </a:r>
            <a:r>
              <a:rPr lang="en-US" altLang="zh-CN" b="1" dirty="0"/>
              <a:t>》</a:t>
            </a:r>
            <a:endParaRPr lang="zh-CN" altLang="en-US" b="1" dirty="0"/>
          </a:p>
          <a:p>
            <a:pPr marL="401955" indent="0">
              <a:lnSpc>
                <a:spcPct val="150000"/>
              </a:lnSpc>
              <a:spcBef>
                <a:spcPts val="0"/>
              </a:spcBef>
              <a:buNone/>
            </a:pPr>
            <a:r>
              <a:rPr lang="en-US" altLang="zh-CN" b="1" dirty="0"/>
              <a:t>2.16.1 </a:t>
            </a:r>
            <a:r>
              <a:rPr b="1" dirty="0">
                <a:latin typeface="宋体-简" panose="02010800040101010101" charset="-122"/>
                <a:ea typeface="宋体-简" panose="02010800040101010101" charset="-122"/>
                <a:cs typeface="宋体-简" panose="02010800040101010101" charset="-122"/>
              </a:rPr>
              <a:t> </a:t>
            </a:r>
            <a:r>
              <a:rPr b="1" dirty="0">
                <a:solidFill>
                  <a:srgbClr val="FFFF00"/>
                </a:solidFill>
                <a:latin typeface="宋体-简" panose="02010800040101010101" charset="-122"/>
                <a:ea typeface="宋体-简" panose="02010800040101010101" charset="-122"/>
                <a:cs typeface="宋体-简" panose="02010800040101010101" charset="-122"/>
              </a:rPr>
              <a:t>一次</a:t>
            </a:r>
            <a:r>
              <a:rPr b="1" dirty="0">
                <a:latin typeface="宋体-简" panose="02010800040101010101" charset="-122"/>
                <a:ea typeface="宋体-简" panose="02010800040101010101" charset="-122"/>
                <a:cs typeface="宋体-简" panose="02010800040101010101" charset="-122"/>
              </a:rPr>
              <a:t>只能对来源于同一献血者的一份血袋、标本管和献血记录进行标识。经核对后，将唯一性条形码标识牢固粘贴在</a:t>
            </a:r>
            <a:r>
              <a:rPr b="1" dirty="0">
                <a:solidFill>
                  <a:srgbClr val="FFFF00"/>
                </a:solidFill>
                <a:latin typeface="宋体-简" panose="02010800040101010101" charset="-122"/>
                <a:ea typeface="宋体-简" panose="02010800040101010101" charset="-122"/>
                <a:cs typeface="宋体-简" panose="02010800040101010101" charset="-122"/>
              </a:rPr>
              <a:t>采血袋</a:t>
            </a:r>
            <a:r>
              <a:rPr b="1" dirty="0">
                <a:latin typeface="宋体-简" panose="02010800040101010101" charset="-122"/>
                <a:ea typeface="宋体-简" panose="02010800040101010101" charset="-122"/>
                <a:cs typeface="宋体-简" panose="02010800040101010101" charset="-122"/>
              </a:rPr>
              <a:t>、</a:t>
            </a:r>
            <a:r>
              <a:rPr b="1" dirty="0">
                <a:solidFill>
                  <a:srgbClr val="FFFF00"/>
                </a:solidFill>
                <a:latin typeface="宋体-简" panose="02010800040101010101" charset="-122"/>
                <a:ea typeface="宋体-简" panose="02010800040101010101" charset="-122"/>
                <a:cs typeface="宋体-简" panose="02010800040101010101" charset="-122"/>
              </a:rPr>
              <a:t>标本管</a:t>
            </a:r>
            <a:r>
              <a:rPr b="1" dirty="0">
                <a:latin typeface="宋体-简" panose="02010800040101010101" charset="-122"/>
                <a:ea typeface="宋体-简" panose="02010800040101010101" charset="-122"/>
                <a:cs typeface="宋体-简" panose="02010800040101010101" charset="-122"/>
              </a:rPr>
              <a:t>、</a:t>
            </a:r>
            <a:r>
              <a:rPr b="1" dirty="0">
                <a:solidFill>
                  <a:srgbClr val="FFFF00"/>
                </a:solidFill>
                <a:latin typeface="宋体-简" panose="02010800040101010101" charset="-122"/>
                <a:ea typeface="宋体-简" panose="02010800040101010101" charset="-122"/>
                <a:cs typeface="宋体-简" panose="02010800040101010101" charset="-122"/>
              </a:rPr>
              <a:t>转移袋</a:t>
            </a:r>
            <a:r>
              <a:rPr b="1" dirty="0">
                <a:latin typeface="宋体-简" panose="02010800040101010101" charset="-122"/>
                <a:ea typeface="宋体-简" panose="02010800040101010101" charset="-122"/>
                <a:cs typeface="宋体-简" panose="02010800040101010101" charset="-122"/>
              </a:rPr>
              <a:t>、</a:t>
            </a:r>
            <a:r>
              <a:rPr b="1" dirty="0">
                <a:solidFill>
                  <a:srgbClr val="FFFF00"/>
                </a:solidFill>
                <a:latin typeface="宋体-简" panose="02010800040101010101" charset="-122"/>
                <a:ea typeface="宋体-简" panose="02010800040101010101" charset="-122"/>
                <a:cs typeface="宋体-简" panose="02010800040101010101" charset="-122"/>
              </a:rPr>
              <a:t>血袋导管</a:t>
            </a:r>
            <a:r>
              <a:rPr b="1" dirty="0">
                <a:latin typeface="宋体-简" panose="02010800040101010101" charset="-122"/>
                <a:ea typeface="宋体-简" panose="02010800040101010101" charset="-122"/>
                <a:cs typeface="宋体-简" panose="02010800040101010101" charset="-122"/>
              </a:rPr>
              <a:t>、</a:t>
            </a:r>
            <a:r>
              <a:rPr b="1" dirty="0">
                <a:solidFill>
                  <a:srgbClr val="FFFF00"/>
                </a:solidFill>
                <a:latin typeface="宋体-简" panose="02010800040101010101" charset="-122"/>
                <a:ea typeface="宋体-简" panose="02010800040101010101" charset="-122"/>
                <a:cs typeface="宋体-简" panose="02010800040101010101" charset="-122"/>
              </a:rPr>
              <a:t>献血登记表</a:t>
            </a:r>
            <a:r>
              <a:rPr b="1" dirty="0">
                <a:latin typeface="宋体-简" panose="02010800040101010101" charset="-122"/>
                <a:ea typeface="宋体-简" panose="02010800040101010101" charset="-122"/>
                <a:cs typeface="宋体-简" panose="02010800040101010101" charset="-122"/>
              </a:rPr>
              <a:t>上。</a:t>
            </a:r>
            <a:endParaRPr b="1" dirty="0">
              <a:latin typeface="宋体-简" panose="02010800040101010101" charset="-122"/>
              <a:ea typeface="宋体-简" panose="02010800040101010101" charset="-122"/>
              <a:cs typeface="宋体-简" panose="02010800040101010101" charset="-122"/>
            </a:endParaRPr>
          </a:p>
          <a:p>
            <a:pPr marL="401955" indent="0">
              <a:lnSpc>
                <a:spcPct val="150000"/>
              </a:lnSpc>
              <a:spcBef>
                <a:spcPts val="0"/>
              </a:spcBef>
              <a:buNone/>
            </a:pPr>
            <a:endParaRPr lang="en-US" altLang="zh-CN" b="1" dirty="0">
              <a:sym typeface="+mn-ea"/>
            </a:endParaRPr>
          </a:p>
          <a:p>
            <a:pPr>
              <a:lnSpc>
                <a:spcPct val="150000"/>
              </a:lnSpc>
            </a:pPr>
            <a:r>
              <a:rPr kumimoji="1" lang="zh-CN" altLang="en-US" b="1" dirty="0">
                <a:solidFill>
                  <a:srgbClr val="FFFF00"/>
                </a:solidFill>
              </a:rPr>
              <a:t>要求一次处理同一献血者。转移袋也要粘贴条码。</a:t>
            </a:r>
            <a:endParaRPr kumimoji="1" lang="zh-CN" altLang="en-US" b="1" dirty="0">
              <a:solidFill>
                <a:srgbClr val="FFFF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1000"/>
                                        <p:tgtEl>
                                          <p:spTgt spid="3">
                                            <p:txEl>
                                              <p:pRg st="3" end="3"/>
                                            </p:txEl>
                                          </p:spTgt>
                                        </p:tgtEl>
                                      </p:cBhvr>
                                    </p:animEffect>
                                    <p:anim calcmode="lin" valueType="num">
                                      <p:cBhvr>
                                        <p:cTn id="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b="1" dirty="0"/>
              <a:t>条码一致性问题</a:t>
            </a:r>
            <a:endParaRPr kumimoji="1" lang="zh-CN" altLang="en-US" b="1" dirty="0"/>
          </a:p>
        </p:txBody>
      </p:sp>
      <p:sp>
        <p:nvSpPr>
          <p:cNvPr id="3" name="内容占位符 2"/>
          <p:cNvSpPr>
            <a:spLocks noGrp="1"/>
          </p:cNvSpPr>
          <p:nvPr>
            <p:ph idx="1"/>
          </p:nvPr>
        </p:nvSpPr>
        <p:spPr>
          <a:xfrm>
            <a:off x="1104265" y="1456055"/>
            <a:ext cx="9955530" cy="4881245"/>
          </a:xfrm>
        </p:spPr>
        <p:txBody>
          <a:bodyPr>
            <a:normAutofit/>
          </a:bodyPr>
          <a:lstStyle/>
          <a:p>
            <a:pPr>
              <a:lnSpc>
                <a:spcPct val="150000"/>
              </a:lnSpc>
              <a:spcBef>
                <a:spcPts val="0"/>
              </a:spcBef>
            </a:pPr>
            <a:r>
              <a:rPr lang="en-US" altLang="zh-CN" b="1" dirty="0">
                <a:latin typeface="+mn-ea"/>
                <a:cs typeface="+mn-ea"/>
              </a:rPr>
              <a:t>《</a:t>
            </a:r>
            <a:r>
              <a:rPr lang="zh-CN" altLang="en-US" b="1" dirty="0">
                <a:latin typeface="+mn-ea"/>
                <a:cs typeface="+mn-ea"/>
              </a:rPr>
              <a:t>规程</a:t>
            </a:r>
            <a:r>
              <a:rPr lang="en-US" altLang="zh-CN" b="1" dirty="0">
                <a:latin typeface="+mn-ea"/>
                <a:cs typeface="+mn-ea"/>
              </a:rPr>
              <a:t>》</a:t>
            </a:r>
            <a:r>
              <a:rPr lang="zh-CN" altLang="en-US" dirty="0">
                <a:latin typeface="+mn-ea"/>
                <a:cs typeface="+mn-ea"/>
              </a:rPr>
              <a:t>中有</a:t>
            </a:r>
            <a:r>
              <a:rPr lang="en-US" altLang="zh-CN" dirty="0">
                <a:latin typeface="+mn-ea"/>
                <a:cs typeface="+mn-ea"/>
              </a:rPr>
              <a:t>3</a:t>
            </a:r>
            <a:r>
              <a:rPr lang="zh-CN" altLang="en-US" dirty="0">
                <a:latin typeface="+mn-ea"/>
                <a:cs typeface="+mn-ea"/>
              </a:rPr>
              <a:t>处提到：</a:t>
            </a:r>
            <a:endParaRPr lang="zh-CN" altLang="en-US" b="1" dirty="0">
              <a:latin typeface="+mn-ea"/>
              <a:cs typeface="+mn-ea"/>
            </a:endParaRPr>
          </a:p>
          <a:p>
            <a:pPr marL="401955" indent="0">
              <a:lnSpc>
                <a:spcPct val="150000"/>
              </a:lnSpc>
              <a:spcBef>
                <a:spcPts val="0"/>
              </a:spcBef>
              <a:buNone/>
            </a:pPr>
            <a:r>
              <a:rPr lang="en-US" altLang="zh-CN" b="1" dirty="0">
                <a:latin typeface="+mn-ea"/>
                <a:cs typeface="+mn-ea"/>
              </a:rPr>
              <a:t>2.16.3 </a:t>
            </a:r>
            <a:r>
              <a:rPr b="1" dirty="0">
                <a:latin typeface="+mn-ea"/>
                <a:ea typeface="宋体-简" panose="02010800040101010101" charset="-122"/>
                <a:cs typeface="+mn-ea"/>
              </a:rPr>
              <a:t>宜在标本管与留样针/静脉穿刺针分离前核查采血袋、血液标本、献血登记表，所标识的献血条形码应一致。宜采用计算机程序进行核查。</a:t>
            </a:r>
            <a:endParaRPr b="1" dirty="0">
              <a:latin typeface="+mn-ea"/>
              <a:ea typeface="宋体-简" panose="02010800040101010101" charset="-122"/>
              <a:cs typeface="+mn-ea"/>
            </a:endParaRPr>
          </a:p>
          <a:p>
            <a:pPr marL="401955" indent="0">
              <a:lnSpc>
                <a:spcPct val="150000"/>
              </a:lnSpc>
              <a:spcBef>
                <a:spcPts val="0"/>
              </a:spcBef>
              <a:buNone/>
            </a:pPr>
            <a:r>
              <a:rPr lang="en-US" altLang="zh-CN" b="1" dirty="0">
                <a:latin typeface="+mn-ea"/>
                <a:cs typeface="+mn-ea"/>
              </a:rPr>
              <a:t>3.8.1 </a:t>
            </a:r>
            <a:r>
              <a:rPr b="1" dirty="0">
                <a:latin typeface="+mn-ea"/>
                <a:ea typeface="宋体-简" panose="02010800040101010101" charset="-122"/>
                <a:cs typeface="+mn-ea"/>
              </a:rPr>
              <a:t>使用联袋制备时，在原袋和转移袋分离之前，应当检查每个血袋上献血条码的一致性。宜采用计算机系统进行核对，以避免人为差错。</a:t>
            </a:r>
            <a:br>
              <a:rPr lang="zh-CN" altLang="en-US" b="1" dirty="0">
                <a:latin typeface="+mn-ea"/>
                <a:ea typeface="宋体-简" panose="02010800040101010101" charset="-122"/>
                <a:cs typeface="+mn-ea"/>
              </a:rPr>
            </a:br>
            <a:r>
              <a:rPr lang="en-US" altLang="zh-CN" b="1" dirty="0">
                <a:latin typeface="+mn-ea"/>
                <a:cs typeface="+mn-ea"/>
              </a:rPr>
              <a:t>3.8.2 </a:t>
            </a:r>
            <a:r>
              <a:rPr b="1" dirty="0">
                <a:latin typeface="+mn-ea"/>
                <a:ea typeface="宋体-简" panose="02010800040101010101" charset="-122"/>
                <a:cs typeface="+mn-ea"/>
              </a:rPr>
              <a:t>需要连接新的血袋（过滤、分装等）时，应当保证每一血袋献血条码一致。宜采用按需打印方式产生标签，粘贴完毕，经计算机系统核对无误后，才给予断离。</a:t>
            </a:r>
            <a:r>
              <a:rPr lang="zh-CN" altLang="en-US" b="1" dirty="0">
                <a:latin typeface="+mn-ea"/>
                <a:cs typeface="+mn-ea"/>
              </a:rPr>
              <a:t> </a:t>
            </a:r>
            <a:endParaRPr lang="zh-CN" altLang="en-US" b="1" dirty="0">
              <a:latin typeface="+mn-ea"/>
              <a:cs typeface="+mn-ea"/>
            </a:endParaRPr>
          </a:p>
          <a:p>
            <a:pPr>
              <a:lnSpc>
                <a:spcPct val="150000"/>
              </a:lnSpc>
              <a:spcBef>
                <a:spcPts val="0"/>
              </a:spcBef>
            </a:pPr>
            <a:r>
              <a:rPr lang="en-US" altLang="zh-CN" b="1" dirty="0">
                <a:latin typeface="+mn-ea"/>
                <a:cs typeface="+mn-ea"/>
              </a:rPr>
              <a:t>《</a:t>
            </a:r>
            <a:r>
              <a:rPr lang="zh-CN" altLang="en-US" b="1" dirty="0">
                <a:latin typeface="+mn-ea"/>
                <a:cs typeface="+mn-ea"/>
              </a:rPr>
              <a:t>规程</a:t>
            </a:r>
            <a:r>
              <a:rPr lang="en-US" altLang="zh-CN" b="1" dirty="0">
                <a:latin typeface="+mn-ea"/>
                <a:cs typeface="+mn-ea"/>
              </a:rPr>
              <a:t>》</a:t>
            </a:r>
            <a:r>
              <a:rPr lang="zh-CN" altLang="en-US" b="1" dirty="0">
                <a:latin typeface="+mn-ea"/>
                <a:cs typeface="+mn-ea"/>
              </a:rPr>
              <a:t>宜采用计算机程序进行核查。</a:t>
            </a:r>
            <a:endParaRPr lang="zh-CN" altLang="en-US" b="1" dirty="0">
              <a:latin typeface="+mn-ea"/>
              <a:cs typeface="+mn-ea"/>
            </a:endParaRPr>
          </a:p>
          <a:p>
            <a:pPr>
              <a:lnSpc>
                <a:spcPct val="150000"/>
              </a:lnSpc>
              <a:spcBef>
                <a:spcPts val="0"/>
              </a:spcBef>
            </a:pPr>
            <a:r>
              <a:rPr kumimoji="1" lang="zh-CN" altLang="en-US" b="1" dirty="0">
                <a:solidFill>
                  <a:srgbClr val="FFFF00"/>
                </a:solidFill>
                <a:latin typeface="+mn-ea"/>
                <a:cs typeface="+mn-ea"/>
              </a:rPr>
              <a:t>穿越系统采用智能手持设备核查条码一致性，能做到快速、准确、及时。</a:t>
            </a:r>
            <a:endParaRPr kumimoji="1" lang="zh-CN" altLang="en-US" b="1" dirty="0">
              <a:solidFill>
                <a:srgbClr val="FFFF00"/>
              </a:solidFill>
              <a:latin typeface="+mn-ea"/>
              <a:cs typeface="+mn-ea"/>
            </a:endParaRPr>
          </a:p>
          <a:p>
            <a:pPr>
              <a:lnSpc>
                <a:spcPct val="150000"/>
              </a:lnSpc>
              <a:spcBef>
                <a:spcPts val="0"/>
              </a:spcBef>
            </a:pPr>
            <a:r>
              <a:rPr kumimoji="1" lang="zh-CN" altLang="en-US" b="1" dirty="0">
                <a:solidFill>
                  <a:srgbClr val="FFFF00"/>
                </a:solidFill>
                <a:latin typeface="+mn-ea"/>
                <a:cs typeface="+mn-ea"/>
                <a:sym typeface="+mn-ea"/>
              </a:rPr>
              <a:t>右边是穿越智能手持系统。</a:t>
            </a:r>
            <a:endParaRPr kumimoji="1" lang="zh-CN" altLang="en-US" b="1" dirty="0">
              <a:solidFill>
                <a:srgbClr val="FFFF00"/>
              </a:solidFill>
              <a:latin typeface="+mn-ea"/>
              <a:cs typeface="+mn-ea"/>
              <a:sym typeface="+mn-ea"/>
            </a:endParaRPr>
          </a:p>
        </p:txBody>
      </p:sp>
      <p:grpSp>
        <p:nvGrpSpPr>
          <p:cNvPr id="6" name="组 5"/>
          <p:cNvGrpSpPr/>
          <p:nvPr/>
        </p:nvGrpSpPr>
        <p:grpSpPr>
          <a:xfrm>
            <a:off x="10536555" y="4133216"/>
            <a:ext cx="1631716" cy="2614098"/>
            <a:chOff x="7419975" y="1519378"/>
            <a:chExt cx="2879725" cy="4754562"/>
          </a:xfrm>
        </p:grpSpPr>
        <p:pic>
          <p:nvPicPr>
            <p:cNvPr id="4" name="Picture 4" descr="AN800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419975" y="1519378"/>
              <a:ext cx="2879725" cy="4754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267"/>
            <p:cNvPicPr/>
            <p:nvPr/>
          </p:nvPicPr>
          <p:blipFill>
            <a:blip r:embed="rId2"/>
            <a:stretch>
              <a:fillRect/>
            </a:stretch>
          </p:blipFill>
          <p:spPr>
            <a:xfrm>
              <a:off x="7963598" y="2246883"/>
              <a:ext cx="1650302" cy="2134617"/>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1000"/>
                                        <p:tgtEl>
                                          <p:spTgt spid="3">
                                            <p:txEl>
                                              <p:pRg st="4" end="4"/>
                                            </p:txEl>
                                          </p:spTgt>
                                        </p:tgtEl>
                                      </p:cBhvr>
                                    </p:animEffect>
                                    <p:anim calcmode="lin" valueType="num">
                                      <p:cBhvr>
                                        <p:cTn id="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5" end="5"/>
                                            </p:txEl>
                                          </p:spTgt>
                                        </p:tgtEl>
                                        <p:attrNameLst>
                                          <p:attrName>style.visibility</p:attrName>
                                        </p:attrNameLst>
                                      </p:cBhvr>
                                      <p:to>
                                        <p:strVal val="visible"/>
                                      </p:to>
                                    </p:set>
                                    <p:animEffect transition="in" filter="fade">
                                      <p:cBhvr>
                                        <p:cTn id="14" dur="1000"/>
                                        <p:tgtEl>
                                          <p:spTgt spid="3">
                                            <p:txEl>
                                              <p:pRg st="5" end="5"/>
                                            </p:txEl>
                                          </p:spTgt>
                                        </p:tgtEl>
                                      </p:cBhvr>
                                    </p:animEffect>
                                    <p:anim calcmode="lin" valueType="num">
                                      <p:cBhvr>
                                        <p:cTn id="15"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5" end="5"/>
                                            </p:txEl>
                                          </p:spTgt>
                                        </p:tgtEl>
                                        <p:attrNameLst>
                                          <p:attrName>ppt_y</p:attrName>
                                        </p:attrNameLst>
                                      </p:cBhvr>
                                      <p:tavLst>
                                        <p:tav tm="0">
                                          <p:val>
                                            <p:strVal val="#ppt_y+.1"/>
                                          </p:val>
                                        </p:tav>
                                        <p:tav tm="100000">
                                          <p:val>
                                            <p:strVal val="#ppt_y"/>
                                          </p:val>
                                        </p:tav>
                                      </p:tavLst>
                                    </p:anim>
                                  </p:childTnLst>
                                </p:cTn>
                              </p:par>
                              <p:par>
                                <p:cTn id="17" presetID="37"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ppt_x</p:attrName>
                                        </p:attrNameLst>
                                      </p:cBhvr>
                                      <p:tavLst>
                                        <p:tav tm="0">
                                          <p:val>
                                            <p:strVal val="#ppt_x"/>
                                          </p:val>
                                        </p:tav>
                                        <p:tav tm="100000">
                                          <p:val>
                                            <p:strVal val="#ppt_x"/>
                                          </p:val>
                                        </p:tav>
                                      </p:tavLst>
                                    </p:anim>
                                    <p:anim calcmode="lin" valueType="num">
                                      <p:cBhvr>
                                        <p:cTn id="21" dur="900" decel="100000" fill="hold"/>
                                        <p:tgtEl>
                                          <p:spTgt spid="6"/>
                                        </p:tgtEl>
                                        <p:attrNameLst>
                                          <p:attrName>ppt_y</p:attrName>
                                        </p:attrNameLst>
                                      </p:cBhvr>
                                      <p:tavLst>
                                        <p:tav tm="0">
                                          <p:val>
                                            <p:strVal val="#ppt_y+1"/>
                                          </p:val>
                                        </p:tav>
                                        <p:tav tm="100000">
                                          <p:val>
                                            <p:strVal val="#ppt_y-.03"/>
                                          </p:val>
                                        </p:tav>
                                      </p:tavLst>
                                    </p:anim>
                                    <p:anim calcmode="lin" valueType="num">
                                      <p:cBhvr>
                                        <p:cTn id="22" dur="100" accel="100000" fill="hold">
                                          <p:stCondLst>
                                            <p:cond delay="900"/>
                                          </p:stCondLst>
                                        </p:cTn>
                                        <p:tgtEl>
                                          <p:spTgt spid="6"/>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b="1" dirty="0"/>
              <a:t>血液成分分类名称</a:t>
            </a:r>
            <a:endParaRPr kumimoji="1" lang="zh-CN" altLang="en-US" b="1" dirty="0"/>
          </a:p>
        </p:txBody>
      </p:sp>
      <p:sp>
        <p:nvSpPr>
          <p:cNvPr id="3" name="内容占位符 2"/>
          <p:cNvSpPr>
            <a:spLocks noGrp="1"/>
          </p:cNvSpPr>
          <p:nvPr>
            <p:ph idx="1"/>
          </p:nvPr>
        </p:nvSpPr>
        <p:spPr>
          <a:xfrm>
            <a:off x="1104265" y="1417955"/>
            <a:ext cx="9982835" cy="4792345"/>
          </a:xfrm>
        </p:spPr>
        <p:txBody>
          <a:bodyPr>
            <a:normAutofit/>
          </a:bodyPr>
          <a:lstStyle/>
          <a:p>
            <a:pPr>
              <a:lnSpc>
                <a:spcPct val="150000"/>
              </a:lnSpc>
            </a:pPr>
            <a:r>
              <a:rPr lang="en-US" altLang="zh-CN" b="1" dirty="0"/>
              <a:t>《</a:t>
            </a:r>
            <a:r>
              <a:rPr lang="zh-CN" altLang="en-US" b="1" dirty="0"/>
              <a:t>规程</a:t>
            </a:r>
            <a:r>
              <a:rPr lang="en-US" altLang="zh-CN" b="1" dirty="0"/>
              <a:t>》</a:t>
            </a:r>
            <a:r>
              <a:rPr lang="zh-CN" altLang="en-US" b="1" dirty="0"/>
              <a:t>  </a:t>
            </a:r>
            <a:endParaRPr lang="zh-CN" altLang="en-US" b="1" dirty="0"/>
          </a:p>
          <a:p>
            <a:pPr marL="0" indent="0">
              <a:lnSpc>
                <a:spcPct val="150000"/>
              </a:lnSpc>
              <a:buNone/>
            </a:pPr>
            <a:r>
              <a:rPr lang="en-US" altLang="zh-CN" b="1" dirty="0"/>
              <a:t>3.2 </a:t>
            </a:r>
            <a:r>
              <a:rPr lang="zh-CN" altLang="en-US" b="1" dirty="0"/>
              <a:t>包括有</a:t>
            </a:r>
            <a:r>
              <a:rPr lang="en-US" altLang="zh-CN" b="1" dirty="0"/>
              <a:t>“</a:t>
            </a:r>
            <a:r>
              <a:rPr lang="zh-CN" altLang="en-US" b="1" dirty="0"/>
              <a:t>混合浓缩血小板</a:t>
            </a:r>
            <a:r>
              <a:rPr lang="en-US" altLang="zh-CN" b="1" dirty="0"/>
              <a:t>”</a:t>
            </a:r>
            <a:r>
              <a:rPr lang="zh-CN" altLang="en-US" b="1" dirty="0"/>
              <a:t>、</a:t>
            </a:r>
            <a:r>
              <a:rPr lang="en-US" altLang="zh-CN" b="1" dirty="0"/>
              <a:t>“</a:t>
            </a:r>
            <a:r>
              <a:rPr lang="zh-CN" altLang="en-US" b="1" dirty="0"/>
              <a:t>病毒灭活新鲜冰冻血浆</a:t>
            </a:r>
            <a:r>
              <a:rPr lang="en-US" altLang="zh-CN" b="1" dirty="0"/>
              <a:t>”</a:t>
            </a:r>
            <a:r>
              <a:rPr lang="zh-CN" altLang="en-US" b="1" dirty="0"/>
              <a:t>、</a:t>
            </a:r>
            <a:r>
              <a:rPr lang="en-US" altLang="zh-CN" b="1" dirty="0"/>
              <a:t>“</a:t>
            </a:r>
            <a:r>
              <a:rPr lang="zh-CN" altLang="en-US" b="1" dirty="0"/>
              <a:t>去冷沉淀冰冻血浆</a:t>
            </a:r>
            <a:r>
              <a:rPr lang="en-US" altLang="zh-CN" b="1" dirty="0"/>
              <a:t>”</a:t>
            </a:r>
            <a:r>
              <a:rPr lang="zh-CN" altLang="en-US" dirty="0"/>
              <a:t> 、</a:t>
            </a:r>
            <a:r>
              <a:rPr lang="en-US" altLang="zh-CN" b="1" dirty="0"/>
              <a:t>“</a:t>
            </a:r>
            <a:r>
              <a:rPr lang="zh-CN" altLang="en-US" b="1" dirty="0"/>
              <a:t>辐照血液</a:t>
            </a:r>
            <a:r>
              <a:rPr lang="en-US" altLang="zh-CN" b="1" dirty="0"/>
              <a:t>”</a:t>
            </a:r>
            <a:endParaRPr lang="en-US" altLang="zh-CN" b="1" dirty="0"/>
          </a:p>
          <a:p>
            <a:pPr marL="0" indent="0">
              <a:lnSpc>
                <a:spcPct val="150000"/>
              </a:lnSpc>
              <a:buNone/>
            </a:pPr>
            <a:endParaRPr lang="zh-CN" altLang="en-US" b="1" dirty="0"/>
          </a:p>
          <a:p>
            <a:pPr>
              <a:lnSpc>
                <a:spcPct val="150000"/>
              </a:lnSpc>
            </a:pPr>
            <a:r>
              <a:rPr kumimoji="1" lang="zh-CN" altLang="en-US" b="1" dirty="0">
                <a:solidFill>
                  <a:srgbClr val="FFFF00"/>
                </a:solidFill>
              </a:rPr>
              <a:t>血液成分品种参照国标</a:t>
            </a:r>
            <a:r>
              <a:rPr kumimoji="1" lang="en-US" altLang="zh-CN" b="1" dirty="0">
                <a:solidFill>
                  <a:srgbClr val="FFFF00"/>
                </a:solidFill>
              </a:rPr>
              <a:t>《</a:t>
            </a:r>
            <a:r>
              <a:rPr lang="zh-CN" altLang="en-US" b="1" dirty="0">
                <a:solidFill>
                  <a:srgbClr val="FFFF00"/>
                </a:solidFill>
              </a:rPr>
              <a:t>全血及成分血质量要求</a:t>
            </a:r>
            <a:r>
              <a:rPr kumimoji="1" lang="en-US" altLang="zh-CN" b="1" dirty="0">
                <a:solidFill>
                  <a:srgbClr val="FFFF00"/>
                </a:solidFill>
              </a:rPr>
              <a:t>》</a:t>
            </a:r>
            <a:endParaRPr kumimoji="1" lang="zh-CN" altLang="en-US" b="1" dirty="0">
              <a:solidFill>
                <a:srgbClr val="FFFF00"/>
              </a:solidFill>
            </a:endParaRPr>
          </a:p>
          <a:p>
            <a:pPr>
              <a:lnSpc>
                <a:spcPct val="150000"/>
              </a:lnSpc>
            </a:pPr>
            <a:r>
              <a:rPr lang="zh-CN" altLang="en-US" b="1" dirty="0">
                <a:solidFill>
                  <a:srgbClr val="FFFF00"/>
                </a:solidFill>
              </a:rPr>
              <a:t>区分直接分离制备的冰冻血浆，还是制备冷沉淀时产生的</a:t>
            </a:r>
            <a:r>
              <a:rPr lang="en-US" altLang="zh-CN" b="1" dirty="0">
                <a:solidFill>
                  <a:srgbClr val="FFFF00"/>
                </a:solidFill>
              </a:rPr>
              <a:t>“</a:t>
            </a:r>
            <a:r>
              <a:rPr lang="zh-CN" altLang="en-US" b="1" dirty="0">
                <a:solidFill>
                  <a:srgbClr val="FFFF00"/>
                </a:solidFill>
                <a:sym typeface="+mn-ea"/>
              </a:rPr>
              <a:t>去冷沉淀冰冻血浆</a:t>
            </a:r>
            <a:r>
              <a:rPr lang="en-US" altLang="zh-CN" b="1" dirty="0">
                <a:solidFill>
                  <a:srgbClr val="FFFF00"/>
                </a:solidFill>
              </a:rPr>
              <a:t>”</a:t>
            </a:r>
            <a:r>
              <a:rPr lang="zh-CN" altLang="en-US" b="1" dirty="0">
                <a:solidFill>
                  <a:srgbClr val="FFFF00"/>
                </a:solidFill>
              </a:rPr>
              <a:t>。</a:t>
            </a:r>
            <a:endParaRPr lang="zh-CN" altLang="en-US" b="1" dirty="0">
              <a:solidFill>
                <a:srgbClr val="FFFF00"/>
              </a:solidFill>
            </a:endParaRPr>
          </a:p>
          <a:p>
            <a:pPr marL="0" indent="0" fontAlgn="auto">
              <a:lnSpc>
                <a:spcPct val="140000"/>
              </a:lnSpc>
              <a:buNone/>
            </a:pPr>
            <a:endParaRPr kumimoji="1" lang="zh-CN" altLang="en-US" b="1" dirty="0">
              <a:solidFill>
                <a:srgbClr val="FFFF00"/>
              </a:solidFill>
              <a:sym typeface="+mn-ea"/>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b="1" dirty="0"/>
              <a:t>血液制备方法及其设备</a:t>
            </a:r>
            <a:endParaRPr kumimoji="1" lang="zh-CN" altLang="en-US" b="1" dirty="0"/>
          </a:p>
        </p:txBody>
      </p:sp>
      <p:sp>
        <p:nvSpPr>
          <p:cNvPr id="3" name="内容占位符 2"/>
          <p:cNvSpPr>
            <a:spLocks noGrp="1"/>
          </p:cNvSpPr>
          <p:nvPr>
            <p:ph idx="1"/>
          </p:nvPr>
        </p:nvSpPr>
        <p:spPr>
          <a:xfrm>
            <a:off x="1104265" y="1417955"/>
            <a:ext cx="9968865" cy="4792345"/>
          </a:xfrm>
        </p:spPr>
        <p:txBody>
          <a:bodyPr>
            <a:normAutofit lnSpcReduction="10000"/>
          </a:bodyPr>
          <a:lstStyle/>
          <a:p>
            <a:pPr>
              <a:lnSpc>
                <a:spcPct val="150000"/>
              </a:lnSpc>
            </a:pPr>
            <a:r>
              <a:rPr lang="en-US" altLang="zh-CN" b="1" dirty="0"/>
              <a:t>《</a:t>
            </a:r>
            <a:r>
              <a:rPr lang="zh-CN" altLang="en-US" b="1" dirty="0"/>
              <a:t>规程</a:t>
            </a:r>
            <a:r>
              <a:rPr lang="en-US" altLang="zh-CN" b="1" dirty="0"/>
              <a:t>》</a:t>
            </a:r>
            <a:r>
              <a:rPr lang="zh-CN" altLang="en-US" b="1" dirty="0"/>
              <a:t>  </a:t>
            </a:r>
            <a:r>
              <a:rPr lang="en-US" altLang="zh-CN" b="1" dirty="0"/>
              <a:t>3 </a:t>
            </a:r>
            <a:r>
              <a:rPr lang="zh-CN" altLang="en-US" dirty="0"/>
              <a:t>血液成分制备 </a:t>
            </a:r>
            <a:endParaRPr lang="zh-CN" altLang="en-US" b="1" dirty="0"/>
          </a:p>
          <a:p>
            <a:pPr>
              <a:lnSpc>
                <a:spcPct val="150000"/>
              </a:lnSpc>
            </a:pPr>
            <a:r>
              <a:rPr kumimoji="1" lang="zh-CN" altLang="en-US" b="1" dirty="0"/>
              <a:t>质量控制标准和材料有效期检查。</a:t>
            </a:r>
            <a:endParaRPr kumimoji="1" lang="zh-CN" altLang="en-US" b="1" dirty="0"/>
          </a:p>
          <a:p>
            <a:pPr>
              <a:lnSpc>
                <a:spcPct val="150000"/>
              </a:lnSpc>
            </a:pPr>
            <a:r>
              <a:rPr kumimoji="1" lang="zh-CN" altLang="en-US" b="1" dirty="0"/>
              <a:t>制备方法、过程及设备：</a:t>
            </a:r>
            <a:r>
              <a:rPr lang="zh-CN" altLang="en-US" b="1" dirty="0"/>
              <a:t>离心、分离、速冻；全血分离制备血液成分、冷沉淀凝血因子制备、洗涤红细胞制备、去除白细胞 、冰冻红细胞、血浆病毒灭活、血液辐照等</a:t>
            </a:r>
            <a:endParaRPr lang="zh-CN" altLang="en-US" b="1" dirty="0"/>
          </a:p>
          <a:p>
            <a:pPr marL="0" indent="0">
              <a:lnSpc>
                <a:spcPct val="150000"/>
              </a:lnSpc>
              <a:buNone/>
            </a:pPr>
            <a:endParaRPr lang="zh-CN" altLang="en-US" b="1" dirty="0"/>
          </a:p>
          <a:p>
            <a:pPr fontAlgn="auto">
              <a:lnSpc>
                <a:spcPct val="150000"/>
              </a:lnSpc>
              <a:spcBef>
                <a:spcPts val="0"/>
              </a:spcBef>
            </a:pPr>
            <a:r>
              <a:rPr kumimoji="1" lang="zh-CN" altLang="en-US" b="1" dirty="0">
                <a:solidFill>
                  <a:srgbClr val="FFFF00"/>
                </a:solidFill>
              </a:rPr>
              <a:t>在穿越系统中实现血液成分品种的制备，及其制备方法和过程的记录，形成完整的血液信息链条</a:t>
            </a:r>
            <a:r>
              <a:rPr kumimoji="1" lang="en-US" altLang="zh-CN" b="1" dirty="0">
                <a:solidFill>
                  <a:srgbClr val="FFFF00"/>
                </a:solidFill>
              </a:rPr>
              <a:t>——</a:t>
            </a:r>
            <a:r>
              <a:rPr kumimoji="1" lang="zh-CN" altLang="en-US" b="1" dirty="0">
                <a:solidFill>
                  <a:srgbClr val="FFFF00"/>
                </a:solidFill>
              </a:rPr>
              <a:t>血液加工制备信息，有利于血液管理</a:t>
            </a:r>
            <a:endParaRPr kumimoji="1" lang="zh-CN" altLang="en-US" b="1" dirty="0">
              <a:solidFill>
                <a:srgbClr val="FFFF00"/>
              </a:solidFill>
            </a:endParaRPr>
          </a:p>
          <a:p>
            <a:pPr marL="0" indent="344170" fontAlgn="auto">
              <a:lnSpc>
                <a:spcPct val="150000"/>
              </a:lnSpc>
              <a:spcBef>
                <a:spcPts val="0"/>
              </a:spcBef>
              <a:buNone/>
            </a:pPr>
            <a:r>
              <a:rPr kumimoji="1" lang="zh-CN" altLang="en-US" b="1" dirty="0">
                <a:solidFill>
                  <a:srgbClr val="FFFF00"/>
                </a:solidFill>
              </a:rPr>
              <a:t>全过程信息跟踪和追溯。</a:t>
            </a:r>
            <a:endParaRPr kumimoji="1" lang="zh-CN" altLang="en-US" b="1" dirty="0">
              <a:solidFill>
                <a:srgbClr val="FFFF00"/>
              </a:solidFill>
            </a:endParaRPr>
          </a:p>
          <a:p>
            <a:pPr>
              <a:lnSpc>
                <a:spcPct val="120000"/>
              </a:lnSpc>
            </a:pPr>
            <a:r>
              <a:rPr kumimoji="1" lang="zh-CN" altLang="en-US" b="1" dirty="0">
                <a:solidFill>
                  <a:srgbClr val="FFFF00"/>
                </a:solidFill>
                <a:sym typeface="+mn-ea"/>
              </a:rPr>
              <a:t>“血液成分聚合平台”的应用</a:t>
            </a:r>
            <a:endParaRPr kumimoji="1" lang="zh-CN" altLang="en-US" b="1" dirty="0">
              <a:solidFill>
                <a:srgbClr val="FFFF00"/>
              </a:solidFill>
              <a:sym typeface="+mn-ea"/>
            </a:endParaRPr>
          </a:p>
        </p:txBody>
      </p:sp>
      <p:pic>
        <p:nvPicPr>
          <p:cNvPr id="4" name="内容占位符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185150" y="4578350"/>
            <a:ext cx="3905250" cy="21971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1000"/>
                                        <p:tgtEl>
                                          <p:spTgt spid="3">
                                            <p:txEl>
                                              <p:pRg st="4" end="4"/>
                                            </p:txEl>
                                          </p:spTgt>
                                        </p:tgtEl>
                                      </p:cBhvr>
                                    </p:animEffect>
                                    <p:anim calcmode="lin" valueType="num">
                                      <p:cBhvr>
                                        <p:cTn id="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4" end="4"/>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5" end="5"/>
                                            </p:txEl>
                                          </p:spTgt>
                                        </p:tgtEl>
                                        <p:attrNameLst>
                                          <p:attrName>style.visibility</p:attrName>
                                        </p:attrNameLst>
                                      </p:cBhvr>
                                      <p:to>
                                        <p:strVal val="visible"/>
                                      </p:to>
                                    </p:set>
                                    <p:animEffect transition="in" filter="fade">
                                      <p:cBhvr>
                                        <p:cTn id="12" dur="1000"/>
                                        <p:tgtEl>
                                          <p:spTgt spid="3">
                                            <p:txEl>
                                              <p:pRg st="5" end="5"/>
                                            </p:txEl>
                                          </p:spTgt>
                                        </p:tgtEl>
                                      </p:cBhvr>
                                    </p:animEffect>
                                    <p:anim calcmode="lin" valueType="num">
                                      <p:cBhvr>
                                        <p:cTn id="1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Effect transition="in" filter="fade">
                                      <p:cBhvr>
                                        <p:cTn id="19" dur="1000"/>
                                        <p:tgtEl>
                                          <p:spTgt spid="3">
                                            <p:txEl>
                                              <p:pRg st="6" end="6"/>
                                            </p:txEl>
                                          </p:spTgt>
                                        </p:tgtEl>
                                      </p:cBhvr>
                                    </p:animEffect>
                                    <p:anim calcmode="lin" valueType="num">
                                      <p:cBhvr>
                                        <p:cTn id="2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6" end="6"/>
                                            </p:txEl>
                                          </p:spTgt>
                                        </p:tgtEl>
                                        <p:attrNameLst>
                                          <p:attrName>ppt_y</p:attrName>
                                        </p:attrNameLst>
                                      </p:cBhvr>
                                      <p:tavLst>
                                        <p:tav tm="0">
                                          <p:val>
                                            <p:strVal val="#ppt_y+.1"/>
                                          </p:val>
                                        </p:tav>
                                        <p:tav tm="100000">
                                          <p:val>
                                            <p:strVal val="#ppt_y"/>
                                          </p:val>
                                        </p:tav>
                                      </p:tavLst>
                                    </p:anim>
                                  </p:childTnLst>
                                </p:cTn>
                              </p:par>
                              <p:par>
                                <p:cTn id="22" presetID="37" presetClass="entr" presetSubtype="0" fill="hold" nodeType="with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fade">
                                      <p:cBhvr>
                                        <p:cTn id="24" dur="1000"/>
                                        <p:tgtEl>
                                          <p:spTgt spid="4"/>
                                        </p:tgtEl>
                                      </p:cBhvr>
                                    </p:animEffect>
                                    <p:anim calcmode="lin" valueType="num">
                                      <p:cBhvr>
                                        <p:cTn id="25" dur="1000" fill="hold"/>
                                        <p:tgtEl>
                                          <p:spTgt spid="4"/>
                                        </p:tgtEl>
                                        <p:attrNameLst>
                                          <p:attrName>ppt_x</p:attrName>
                                        </p:attrNameLst>
                                      </p:cBhvr>
                                      <p:tavLst>
                                        <p:tav tm="0">
                                          <p:val>
                                            <p:strVal val="#ppt_x"/>
                                          </p:val>
                                        </p:tav>
                                        <p:tav tm="100000">
                                          <p:val>
                                            <p:strVal val="#ppt_x"/>
                                          </p:val>
                                        </p:tav>
                                      </p:tavLst>
                                    </p:anim>
                                    <p:anim calcmode="lin" valueType="num">
                                      <p:cBhvr>
                                        <p:cTn id="26" dur="900" decel="100000" fill="hold"/>
                                        <p:tgtEl>
                                          <p:spTgt spid="4"/>
                                        </p:tgtEl>
                                        <p:attrNameLst>
                                          <p:attrName>ppt_y</p:attrName>
                                        </p:attrNameLst>
                                      </p:cBhvr>
                                      <p:tavLst>
                                        <p:tav tm="0">
                                          <p:val>
                                            <p:strVal val="#ppt_y+1"/>
                                          </p:val>
                                        </p:tav>
                                        <p:tav tm="100000">
                                          <p:val>
                                            <p:strVal val="#ppt_y-.03"/>
                                          </p:val>
                                        </p:tav>
                                      </p:tavLst>
                                    </p:anim>
                                    <p:anim calcmode="lin" valueType="num">
                                      <p:cBhvr>
                                        <p:cTn id="27" dur="100" accel="100000" fill="hold">
                                          <p:stCondLst>
                                            <p:cond delay="900"/>
                                          </p:stCondLst>
                                        </p:cTn>
                                        <p:tgtEl>
                                          <p:spTgt spid="4"/>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b="1" dirty="0"/>
              <a:t>检测项目问题</a:t>
            </a:r>
            <a:endParaRPr kumimoji="1" lang="zh-CN" altLang="en-US" b="1" dirty="0"/>
          </a:p>
        </p:txBody>
      </p:sp>
      <p:sp>
        <p:nvSpPr>
          <p:cNvPr id="3" name="内容占位符 2"/>
          <p:cNvSpPr>
            <a:spLocks noGrp="1"/>
          </p:cNvSpPr>
          <p:nvPr>
            <p:ph idx="1"/>
          </p:nvPr>
        </p:nvSpPr>
        <p:spPr>
          <a:xfrm>
            <a:off x="1104265" y="1581785"/>
            <a:ext cx="9982835" cy="4716145"/>
          </a:xfrm>
        </p:spPr>
        <p:txBody>
          <a:bodyPr>
            <a:normAutofit/>
          </a:bodyPr>
          <a:lstStyle/>
          <a:p>
            <a:pPr>
              <a:lnSpc>
                <a:spcPct val="150000"/>
              </a:lnSpc>
            </a:pPr>
            <a:r>
              <a:rPr lang="en-US" altLang="zh-CN" b="1" dirty="0"/>
              <a:t>《</a:t>
            </a:r>
            <a:r>
              <a:rPr lang="zh-CN" altLang="en-US" b="1" dirty="0"/>
              <a:t>规程</a:t>
            </a:r>
            <a:r>
              <a:rPr lang="en-US" altLang="zh-CN" b="1" dirty="0"/>
              <a:t>》</a:t>
            </a:r>
            <a:endParaRPr lang="zh-CN" altLang="en-US" b="1" dirty="0"/>
          </a:p>
          <a:p>
            <a:pPr marL="393700" indent="0">
              <a:lnSpc>
                <a:spcPct val="150000"/>
              </a:lnSpc>
              <a:buNone/>
            </a:pPr>
            <a:r>
              <a:rPr lang="en-US" altLang="zh-CN" b="1" dirty="0"/>
              <a:t>4.2 </a:t>
            </a:r>
            <a:r>
              <a:rPr lang="zh-CN" altLang="en-US" b="1" dirty="0"/>
              <a:t>检测项目和检测方法</a:t>
            </a:r>
            <a:br>
              <a:rPr lang="zh-CN" altLang="en-US" b="1" dirty="0"/>
            </a:br>
            <a:r>
              <a:rPr lang="en-US" altLang="zh-CN" b="1" dirty="0"/>
              <a:t>4.2.2.6 </a:t>
            </a:r>
            <a:r>
              <a:rPr lang="zh-CN" altLang="en-US" b="1" dirty="0"/>
              <a:t>国家和省级卫生计生行政部门规定的地方性、时限性输血相关传染病标志物。</a:t>
            </a:r>
            <a:endParaRPr lang="zh-CN" altLang="en-US" b="1" dirty="0"/>
          </a:p>
          <a:p>
            <a:pPr marL="393700" indent="0">
              <a:lnSpc>
                <a:spcPct val="150000"/>
              </a:lnSpc>
              <a:buNone/>
            </a:pPr>
            <a:r>
              <a:rPr lang="zh-CN" altLang="en-US" b="1" dirty="0"/>
              <a:t> </a:t>
            </a:r>
            <a:endParaRPr lang="zh-CN" altLang="en-US" b="1" dirty="0"/>
          </a:p>
          <a:p>
            <a:pPr>
              <a:lnSpc>
                <a:spcPct val="150000"/>
              </a:lnSpc>
            </a:pPr>
            <a:r>
              <a:rPr lang="zh-CN" altLang="en-US" b="1" dirty="0"/>
              <a:t>说明：福建和广东多地血站已开展</a:t>
            </a:r>
            <a:r>
              <a:rPr lang="en-US" altLang="zh-CN" b="1" dirty="0"/>
              <a:t>HTLV</a:t>
            </a:r>
            <a:r>
              <a:rPr lang="zh-CN" altLang="en-US" b="1" dirty="0"/>
              <a:t>检测（</a:t>
            </a:r>
            <a:r>
              <a:rPr lang="zh-CN" altLang="zh-CN" b="1" dirty="0"/>
              <a:t>人类嗜</a:t>
            </a:r>
            <a:r>
              <a:rPr lang="en-US" altLang="zh-CN" b="1" dirty="0"/>
              <a:t>T</a:t>
            </a:r>
            <a:r>
              <a:rPr lang="zh-CN" altLang="zh-CN" b="1" dirty="0"/>
              <a:t>淋巴细胞白血病病毒</a:t>
            </a:r>
            <a:r>
              <a:rPr lang="zh-CN" altLang="en-US" b="1" dirty="0"/>
              <a:t>），并进入信息系统管理。</a:t>
            </a:r>
            <a:endParaRPr kumimoji="1" lang="zh-CN" altLang="en-US" b="1" dirty="0"/>
          </a:p>
          <a:p>
            <a:pPr>
              <a:lnSpc>
                <a:spcPct val="150000"/>
              </a:lnSpc>
            </a:pPr>
            <a:r>
              <a:rPr kumimoji="1" lang="zh-CN" altLang="en-US" b="1" dirty="0">
                <a:solidFill>
                  <a:srgbClr val="FFFF00"/>
                </a:solidFill>
              </a:rPr>
              <a:t>在穿越系统中支持</a:t>
            </a:r>
            <a:r>
              <a:rPr kumimoji="1" lang="zh-CN" altLang="en-US" b="1" u="sng" dirty="0">
                <a:solidFill>
                  <a:srgbClr val="FFFF00"/>
                </a:solidFill>
              </a:rPr>
              <a:t>动态检测项目模式</a:t>
            </a:r>
            <a:r>
              <a:rPr kumimoji="1" lang="zh-CN" altLang="en-US" b="1" dirty="0">
                <a:solidFill>
                  <a:srgbClr val="FFFF00"/>
                </a:solidFill>
              </a:rPr>
              <a:t>，检测最终结论必须将这些检测项目的结果相结合进行判定。</a:t>
            </a:r>
            <a:endParaRPr kumimoji="1" lang="zh-CN" altLang="en-US" b="1" dirty="0">
              <a:solidFill>
                <a:srgbClr val="FFFF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1000"/>
                                        <p:tgtEl>
                                          <p:spTgt spid="3">
                                            <p:txEl>
                                              <p:pRg st="4" end="4"/>
                                            </p:txEl>
                                          </p:spTgt>
                                        </p:tgtEl>
                                      </p:cBhvr>
                                    </p:animEffect>
                                    <p:anim calcmode="lin" valueType="num">
                                      <p:cBhvr>
                                        <p:cTn id="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b="1" dirty="0"/>
              <a:t>检测策略问题</a:t>
            </a:r>
            <a:endParaRPr kumimoji="1" lang="zh-CN" altLang="en-US" b="1" dirty="0"/>
          </a:p>
        </p:txBody>
      </p:sp>
      <p:sp>
        <p:nvSpPr>
          <p:cNvPr id="3" name="内容占位符 2"/>
          <p:cNvSpPr>
            <a:spLocks noGrp="1"/>
          </p:cNvSpPr>
          <p:nvPr>
            <p:ph idx="1"/>
          </p:nvPr>
        </p:nvSpPr>
        <p:spPr>
          <a:xfrm>
            <a:off x="1104265" y="1443355"/>
            <a:ext cx="9968865" cy="5122545"/>
          </a:xfrm>
        </p:spPr>
        <p:txBody>
          <a:bodyPr>
            <a:normAutofit lnSpcReduction="20000"/>
          </a:bodyPr>
          <a:lstStyle/>
          <a:p>
            <a:pPr>
              <a:lnSpc>
                <a:spcPct val="150000"/>
              </a:lnSpc>
            </a:pPr>
            <a:r>
              <a:rPr lang="en-US" altLang="zh-CN" b="1" dirty="0">
                <a:latin typeface="+mn-lt"/>
                <a:cs typeface="+mn-lt"/>
              </a:rPr>
              <a:t>《</a:t>
            </a:r>
            <a:r>
              <a:rPr lang="zh-CN" altLang="en-US" b="1" dirty="0">
                <a:latin typeface="+mn-lt"/>
                <a:cs typeface="+mn-lt"/>
              </a:rPr>
              <a:t>规程</a:t>
            </a:r>
            <a:r>
              <a:rPr lang="en-US" altLang="zh-CN" b="1" dirty="0">
                <a:latin typeface="+mn-lt"/>
                <a:cs typeface="+mn-lt"/>
              </a:rPr>
              <a:t>》</a:t>
            </a:r>
            <a:endParaRPr lang="zh-CN" altLang="en-US" b="1" dirty="0">
              <a:latin typeface="+mn-lt"/>
              <a:cs typeface="+mn-lt"/>
            </a:endParaRPr>
          </a:p>
          <a:p>
            <a:pPr marL="363855" indent="0">
              <a:lnSpc>
                <a:spcPct val="150000"/>
              </a:lnSpc>
              <a:spcBef>
                <a:spcPts val="0"/>
              </a:spcBef>
              <a:buNone/>
            </a:pPr>
            <a:r>
              <a:rPr lang="en-US" altLang="zh-CN" b="1" dirty="0">
                <a:latin typeface="+mn-lt"/>
                <a:ea typeface="宋体-简" panose="02010800040101010101" charset="-122"/>
                <a:cs typeface="+mn-lt"/>
              </a:rPr>
              <a:t>4.2.4 </a:t>
            </a:r>
            <a:r>
              <a:rPr lang="zh-CN" altLang="en-US" b="1" dirty="0">
                <a:latin typeface="+mn-lt"/>
                <a:ea typeface="宋体-简" panose="02010800040101010101" charset="-122"/>
                <a:cs typeface="+mn-lt"/>
              </a:rPr>
              <a:t>检测策略 </a:t>
            </a:r>
            <a:r>
              <a:rPr lang="en-US" altLang="zh-CN" b="1" dirty="0">
                <a:latin typeface="+mn-lt"/>
                <a:ea typeface="宋体-简" panose="02010800040101010101" charset="-122"/>
                <a:cs typeface="+mn-lt"/>
              </a:rPr>
              <a:t> </a:t>
            </a:r>
            <a:endParaRPr lang="zh-CN" altLang="en-US" b="1" dirty="0">
              <a:latin typeface="+mn-lt"/>
              <a:ea typeface="宋体-简" panose="02010800040101010101" charset="-122"/>
              <a:cs typeface="+mn-lt"/>
            </a:endParaRPr>
          </a:p>
          <a:p>
            <a:pPr marL="363855" indent="0">
              <a:lnSpc>
                <a:spcPct val="150000"/>
              </a:lnSpc>
              <a:spcBef>
                <a:spcPts val="0"/>
              </a:spcBef>
              <a:buNone/>
            </a:pPr>
            <a:r>
              <a:rPr b="1" dirty="0">
                <a:latin typeface="+mn-lt"/>
                <a:ea typeface="宋体-简" panose="02010800040101010101" charset="-122"/>
                <a:cs typeface="+mn-lt"/>
              </a:rPr>
              <a:t>4.2.4.1 HIV、HBV 和 HCV 感染标志物应至少采用核酸和血清学试剂各进行 1次检测。（注：对于 HBV、HCV、HIV 酶免检测反应性的标本可不再进行核酸检测，直接视为该项目检测结论不合格。）</a:t>
            </a:r>
            <a:endParaRPr b="1" dirty="0">
              <a:latin typeface="+mn-lt"/>
              <a:ea typeface="宋体-简" panose="02010800040101010101" charset="-122"/>
              <a:cs typeface="+mn-lt"/>
            </a:endParaRPr>
          </a:p>
          <a:p>
            <a:pPr marL="363855" indent="0">
              <a:lnSpc>
                <a:spcPct val="150000"/>
              </a:lnSpc>
              <a:spcBef>
                <a:spcPts val="0"/>
              </a:spcBef>
              <a:buNone/>
            </a:pPr>
            <a:r>
              <a:rPr b="1" dirty="0">
                <a:latin typeface="+mn-lt"/>
                <a:ea typeface="宋体-简" panose="02010800040101010101" charset="-122"/>
                <a:cs typeface="+mn-lt"/>
              </a:rPr>
              <a:t>4.2.4.2 梅毒螺旋体感染标志物采用 2 个不同生产厂家的血清学检测试剂进行检测。</a:t>
            </a:r>
            <a:endParaRPr b="1" dirty="0">
              <a:latin typeface="+mn-lt"/>
              <a:ea typeface="宋体-简" panose="02010800040101010101" charset="-122"/>
              <a:cs typeface="+mn-lt"/>
            </a:endParaRPr>
          </a:p>
          <a:p>
            <a:pPr marL="363855" indent="0">
              <a:lnSpc>
                <a:spcPct val="150000"/>
              </a:lnSpc>
              <a:spcBef>
                <a:spcPts val="0"/>
              </a:spcBef>
              <a:buNone/>
            </a:pPr>
            <a:r>
              <a:rPr b="1" dirty="0">
                <a:latin typeface="+mn-lt"/>
                <a:ea typeface="宋体-简" panose="02010800040101010101" charset="-122"/>
                <a:cs typeface="+mn-lt"/>
              </a:rPr>
              <a:t>4.2.4.3 ALT 采用速率法（湿化学法）进行 1 次检测。</a:t>
            </a:r>
            <a:r>
              <a:rPr lang="zh-CN" altLang="en-US" b="1" dirty="0">
                <a:latin typeface="+mn-lt"/>
                <a:ea typeface="宋体-简" panose="02010800040101010101" charset="-122"/>
                <a:cs typeface="+mn-lt"/>
              </a:rPr>
              <a:t> </a:t>
            </a:r>
            <a:endParaRPr lang="zh-CN" altLang="en-US" b="1" dirty="0">
              <a:latin typeface="+mn-lt"/>
              <a:ea typeface="宋体-简" panose="02010800040101010101" charset="-122"/>
              <a:cs typeface="+mn-lt"/>
            </a:endParaRPr>
          </a:p>
          <a:p>
            <a:pPr marL="363855" indent="0">
              <a:lnSpc>
                <a:spcPct val="150000"/>
              </a:lnSpc>
              <a:spcBef>
                <a:spcPts val="0"/>
              </a:spcBef>
              <a:buNone/>
            </a:pPr>
            <a:endParaRPr kumimoji="1" lang="zh-CN" altLang="en-US" b="1" dirty="0">
              <a:latin typeface="+mn-lt"/>
              <a:ea typeface="宋体-简" panose="02010800040101010101" charset="-122"/>
              <a:cs typeface="+mn-lt"/>
            </a:endParaRPr>
          </a:p>
          <a:p>
            <a:pPr>
              <a:lnSpc>
                <a:spcPct val="150000"/>
              </a:lnSpc>
            </a:pPr>
            <a:r>
              <a:rPr kumimoji="1" lang="zh-CN" altLang="en-US" b="1" dirty="0">
                <a:solidFill>
                  <a:srgbClr val="FFFF00"/>
                </a:solidFill>
                <a:latin typeface="+mn-lt"/>
                <a:cs typeface="+mn-lt"/>
              </a:rPr>
              <a:t>在穿越系统中采用检测策略作为检测最终结论判定前的条件，即没有满足检测策略的要求，不能发布最终检测结论。</a:t>
            </a:r>
            <a:endParaRPr kumimoji="1" lang="zh-CN" altLang="en-US" b="1" dirty="0">
              <a:solidFill>
                <a:srgbClr val="FFFF00"/>
              </a:solidFill>
              <a:latin typeface="+mn-lt"/>
              <a:cs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fade">
                                      <p:cBhvr>
                                        <p:cTn id="7" dur="1000"/>
                                        <p:tgtEl>
                                          <p:spTgt spid="3">
                                            <p:txEl>
                                              <p:pRg st="6" end="6"/>
                                            </p:txEl>
                                          </p:spTgt>
                                        </p:tgtEl>
                                      </p:cBhvr>
                                    </p:animEffect>
                                    <p:anim calcmode="lin" valueType="num">
                                      <p:cBhvr>
                                        <p:cTn id="8"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b="1" dirty="0"/>
              <a:t>实验室信息管理系统</a:t>
            </a:r>
            <a:endParaRPr kumimoji="1" lang="zh-CN" altLang="en-US" b="1" dirty="0"/>
          </a:p>
        </p:txBody>
      </p:sp>
      <p:sp>
        <p:nvSpPr>
          <p:cNvPr id="3" name="内容占位符 2"/>
          <p:cNvSpPr>
            <a:spLocks noGrp="1"/>
          </p:cNvSpPr>
          <p:nvPr>
            <p:ph idx="1"/>
          </p:nvPr>
        </p:nvSpPr>
        <p:spPr>
          <a:xfrm>
            <a:off x="1104293" y="1595718"/>
            <a:ext cx="8946541" cy="4716182"/>
          </a:xfrm>
        </p:spPr>
        <p:txBody>
          <a:bodyPr>
            <a:normAutofit/>
          </a:bodyPr>
          <a:lstStyle/>
          <a:p>
            <a:pPr>
              <a:lnSpc>
                <a:spcPct val="150000"/>
              </a:lnSpc>
            </a:pPr>
            <a:r>
              <a:rPr lang="en-US" altLang="zh-CN" b="1" dirty="0"/>
              <a:t>《</a:t>
            </a:r>
            <a:r>
              <a:rPr lang="zh-CN" altLang="en-US" b="1" dirty="0"/>
              <a:t>规程</a:t>
            </a:r>
            <a:r>
              <a:rPr lang="en-US" altLang="zh-CN" b="1" dirty="0"/>
              <a:t>》</a:t>
            </a:r>
            <a:endParaRPr lang="zh-CN" altLang="en-US" b="1" dirty="0"/>
          </a:p>
          <a:p>
            <a:pPr marL="363855" indent="0">
              <a:buNone/>
            </a:pPr>
            <a:r>
              <a:rPr lang="en-US" altLang="zh-CN" b="1" dirty="0"/>
              <a:t>4.7  </a:t>
            </a:r>
            <a:r>
              <a:rPr lang="zh-CN" altLang="zh-CN" b="1" dirty="0"/>
              <a:t>实验室信息管理系统</a:t>
            </a:r>
            <a:endParaRPr lang="zh-CN" altLang="zh-CN" b="1" dirty="0"/>
          </a:p>
          <a:p>
            <a:pPr marL="363855" indent="0">
              <a:buNone/>
            </a:pPr>
            <a:r>
              <a:rPr lang="en-US" altLang="zh-CN" b="1" dirty="0"/>
              <a:t>4.7.1  </a:t>
            </a:r>
            <a:r>
              <a:rPr lang="zh-CN" altLang="zh-CN" b="1" dirty="0"/>
              <a:t>应使用实验室信息管理系统对整个检测过程（从标本接收、试验、结果和结论判定）进行信息化管理。</a:t>
            </a:r>
            <a:endParaRPr lang="zh-CN" altLang="zh-CN" b="1" dirty="0"/>
          </a:p>
          <a:p>
            <a:pPr marL="363855" indent="0">
              <a:buNone/>
            </a:pPr>
            <a:r>
              <a:rPr lang="en-US" altLang="zh-CN" b="1" dirty="0"/>
              <a:t>4.7.2  </a:t>
            </a:r>
            <a:r>
              <a:rPr lang="zh-CN" altLang="zh-CN" b="1" dirty="0"/>
              <a:t>实验室信息管理系统的功能应包括：</a:t>
            </a:r>
            <a:r>
              <a:rPr lang="en-US" altLang="zh-CN" b="1" dirty="0"/>
              <a:t>1</a:t>
            </a:r>
            <a:r>
              <a:rPr lang="zh-CN" altLang="zh-CN" b="1" dirty="0"/>
              <a:t>）标本接收；</a:t>
            </a:r>
            <a:r>
              <a:rPr lang="en-US" altLang="zh-CN" b="1" dirty="0"/>
              <a:t>2</a:t>
            </a:r>
            <a:r>
              <a:rPr lang="zh-CN" altLang="zh-CN" b="1" dirty="0"/>
              <a:t>）试验项目选择；</a:t>
            </a:r>
            <a:r>
              <a:rPr lang="en-US" altLang="zh-CN" b="1" dirty="0"/>
              <a:t>3</a:t>
            </a:r>
            <a:r>
              <a:rPr lang="zh-CN" altLang="zh-CN" b="1" dirty="0"/>
              <a:t>）试验数据记录与汇总；</a:t>
            </a:r>
            <a:r>
              <a:rPr lang="en-US" altLang="zh-CN" b="1" dirty="0"/>
              <a:t>4</a:t>
            </a:r>
            <a:r>
              <a:rPr lang="zh-CN" altLang="zh-CN" b="1" dirty="0"/>
              <a:t>）试验数据的计算；</a:t>
            </a:r>
            <a:r>
              <a:rPr lang="en-US" altLang="zh-CN" b="1" dirty="0"/>
              <a:t>5</a:t>
            </a:r>
            <a:r>
              <a:rPr lang="zh-CN" altLang="zh-CN" b="1" dirty="0"/>
              <a:t>）试验结果的判定；</a:t>
            </a:r>
            <a:r>
              <a:rPr lang="en-US" altLang="zh-CN" b="1" dirty="0"/>
              <a:t>6</a:t>
            </a:r>
            <a:r>
              <a:rPr lang="zh-CN" altLang="zh-CN" b="1" dirty="0"/>
              <a:t>）血液检测结论的判定；</a:t>
            </a:r>
            <a:r>
              <a:rPr lang="en-US" altLang="zh-CN" b="1" dirty="0"/>
              <a:t>7</a:t>
            </a:r>
            <a:r>
              <a:rPr lang="zh-CN" altLang="zh-CN" b="1" dirty="0"/>
              <a:t>）血液检测结论传输至</a:t>
            </a:r>
            <a:r>
              <a:rPr lang="en-US" altLang="zh-CN" b="1" dirty="0"/>
              <a:t>血液管理信息系统</a:t>
            </a:r>
            <a:r>
              <a:rPr lang="zh-CN" altLang="zh-CN" b="1" dirty="0"/>
              <a:t>并为其所利用。</a:t>
            </a:r>
            <a:endParaRPr lang="zh-CN" altLang="zh-CN" b="1" dirty="0"/>
          </a:p>
          <a:p>
            <a:pPr>
              <a:lnSpc>
                <a:spcPct val="150000"/>
              </a:lnSpc>
            </a:pPr>
            <a:r>
              <a:rPr kumimoji="1" lang="en-US" altLang="zh-CN" b="1" dirty="0">
                <a:solidFill>
                  <a:srgbClr val="FFFF00"/>
                </a:solidFill>
              </a:rPr>
              <a:t>《</a:t>
            </a:r>
            <a:r>
              <a:rPr kumimoji="1" lang="zh-CN" altLang="en-US" b="1" dirty="0">
                <a:solidFill>
                  <a:srgbClr val="FFFF00"/>
                </a:solidFill>
              </a:rPr>
              <a:t>规程</a:t>
            </a:r>
            <a:r>
              <a:rPr kumimoji="1" lang="en-US" altLang="zh-CN" b="1" dirty="0">
                <a:solidFill>
                  <a:srgbClr val="FFFF00"/>
                </a:solidFill>
              </a:rPr>
              <a:t>》</a:t>
            </a:r>
            <a:r>
              <a:rPr kumimoji="1" lang="zh-CN" altLang="en-US" b="1" dirty="0">
                <a:solidFill>
                  <a:srgbClr val="FFFF00"/>
                </a:solidFill>
              </a:rPr>
              <a:t>阐述了实验室信息管理系统（</a:t>
            </a:r>
            <a:r>
              <a:rPr kumimoji="1" lang="en-US" altLang="zh-CN" b="1" dirty="0">
                <a:solidFill>
                  <a:srgbClr val="FFFF00"/>
                </a:solidFill>
              </a:rPr>
              <a:t>LIS</a:t>
            </a:r>
            <a:r>
              <a:rPr kumimoji="1" lang="zh-CN" altLang="en-US" b="1" dirty="0">
                <a:solidFill>
                  <a:srgbClr val="FFFF00"/>
                </a:solidFill>
              </a:rPr>
              <a:t>）与血液信息管理系统的分工和协作方式。</a:t>
            </a:r>
            <a:endParaRPr kumimoji="1" lang="zh-CN" altLang="en-US" b="1" dirty="0">
              <a:solidFill>
                <a:srgbClr val="FFFF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1000"/>
                                        <p:tgtEl>
                                          <p:spTgt spid="3">
                                            <p:txEl>
                                              <p:pRg st="4" end="4"/>
                                            </p:txEl>
                                          </p:spTgt>
                                        </p:tgtEl>
                                      </p:cBhvr>
                                    </p:animEffect>
                                    <p:anim calcmode="lin" valueType="num">
                                      <p:cBhvr>
                                        <p:cTn id="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b="1" dirty="0"/>
              <a:t>血清学检测结果判定</a:t>
            </a:r>
            <a:endParaRPr kumimoji="1" lang="zh-CN" altLang="en-US" b="1" dirty="0"/>
          </a:p>
        </p:txBody>
      </p:sp>
      <p:sp>
        <p:nvSpPr>
          <p:cNvPr id="3" name="内容占位符 2"/>
          <p:cNvSpPr>
            <a:spLocks noGrp="1"/>
          </p:cNvSpPr>
          <p:nvPr>
            <p:ph idx="1"/>
          </p:nvPr>
        </p:nvSpPr>
        <p:spPr>
          <a:xfrm>
            <a:off x="875058" y="1417918"/>
            <a:ext cx="8946541" cy="4792382"/>
          </a:xfrm>
        </p:spPr>
        <p:txBody>
          <a:bodyPr>
            <a:normAutofit/>
          </a:bodyPr>
          <a:lstStyle/>
          <a:p>
            <a:pPr>
              <a:lnSpc>
                <a:spcPct val="150000"/>
              </a:lnSpc>
            </a:pPr>
            <a:r>
              <a:rPr lang="en-US" altLang="zh-CN" b="1" dirty="0"/>
              <a:t>《</a:t>
            </a:r>
            <a:r>
              <a:rPr lang="zh-CN" altLang="en-US" b="1" dirty="0"/>
              <a:t>规程</a:t>
            </a:r>
            <a:r>
              <a:rPr lang="en-US" altLang="zh-CN" b="1" dirty="0"/>
              <a:t>》</a:t>
            </a:r>
            <a:endParaRPr lang="zh-CN" altLang="en-US" b="1" dirty="0"/>
          </a:p>
          <a:p>
            <a:pPr marL="363855" indent="0">
              <a:lnSpc>
                <a:spcPct val="150000"/>
              </a:lnSpc>
              <a:buNone/>
            </a:pPr>
            <a:r>
              <a:rPr kumimoji="1" lang="zh-CN" altLang="en-US" b="1" dirty="0"/>
              <a:t>如右图</a:t>
            </a:r>
            <a:r>
              <a:rPr kumimoji="1" lang="zh-CN" altLang="en-US" b="1" dirty="0">
                <a:sym typeface="Wingdings" panose="05000000000000000000"/>
              </a:rPr>
              <a:t></a:t>
            </a:r>
            <a:endParaRPr kumimoji="1" lang="zh-CN" altLang="en-US" b="1" dirty="0">
              <a:sym typeface="Wingdings" panose="05000000000000000000"/>
            </a:endParaRPr>
          </a:p>
          <a:p>
            <a:pPr marL="0" indent="0">
              <a:lnSpc>
                <a:spcPct val="150000"/>
              </a:lnSpc>
              <a:buNone/>
            </a:pPr>
            <a:endParaRPr kumimoji="1" lang="zh-CN" altLang="en-US" b="1" dirty="0"/>
          </a:p>
          <a:p>
            <a:pPr>
              <a:lnSpc>
                <a:spcPct val="150000"/>
              </a:lnSpc>
            </a:pPr>
            <a:r>
              <a:rPr kumimoji="1" lang="zh-CN" altLang="en-US" b="1" dirty="0">
                <a:solidFill>
                  <a:srgbClr val="FFFF00"/>
                </a:solidFill>
              </a:rPr>
              <a:t>采用计算机程序实现此判定流程</a:t>
            </a:r>
            <a:endParaRPr kumimoji="1" lang="zh-CN" altLang="en-US" b="1" dirty="0">
              <a:solidFill>
                <a:srgbClr val="FFFF00"/>
              </a:solidFill>
            </a:endParaRPr>
          </a:p>
        </p:txBody>
      </p:sp>
      <p:pic>
        <p:nvPicPr>
          <p:cNvPr id="5" name="图片 4"/>
          <p:cNvPicPr>
            <a:picLocks noChangeAspect="1"/>
          </p:cNvPicPr>
          <p:nvPr/>
        </p:nvPicPr>
        <p:blipFill>
          <a:blip r:embed="rId1"/>
          <a:stretch>
            <a:fillRect/>
          </a:stretch>
        </p:blipFill>
        <p:spPr>
          <a:xfrm>
            <a:off x="5499735" y="1685925"/>
            <a:ext cx="6620510" cy="508762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b="1" dirty="0"/>
              <a:t>核酸检测结果判定</a:t>
            </a:r>
            <a:endParaRPr kumimoji="1" lang="zh-CN" altLang="en-US" b="1" dirty="0"/>
          </a:p>
        </p:txBody>
      </p:sp>
      <p:sp>
        <p:nvSpPr>
          <p:cNvPr id="3" name="内容占位符 2"/>
          <p:cNvSpPr>
            <a:spLocks noGrp="1"/>
          </p:cNvSpPr>
          <p:nvPr>
            <p:ph idx="1"/>
          </p:nvPr>
        </p:nvSpPr>
        <p:spPr>
          <a:xfrm>
            <a:off x="875058" y="1417918"/>
            <a:ext cx="8946541" cy="4792382"/>
          </a:xfrm>
        </p:spPr>
        <p:txBody>
          <a:bodyPr>
            <a:normAutofit/>
          </a:bodyPr>
          <a:lstStyle/>
          <a:p>
            <a:pPr>
              <a:lnSpc>
                <a:spcPct val="150000"/>
              </a:lnSpc>
            </a:pPr>
            <a:r>
              <a:rPr lang="en-US" altLang="zh-CN" b="1" dirty="0"/>
              <a:t>《</a:t>
            </a:r>
            <a:r>
              <a:rPr lang="zh-CN" altLang="en-US" b="1" dirty="0"/>
              <a:t>规程</a:t>
            </a:r>
            <a:r>
              <a:rPr lang="en-US" altLang="zh-CN" b="1" dirty="0"/>
              <a:t>》</a:t>
            </a:r>
            <a:endParaRPr lang="zh-CN" altLang="en-US" b="1" dirty="0"/>
          </a:p>
          <a:p>
            <a:pPr marL="363855" indent="0">
              <a:lnSpc>
                <a:spcPct val="150000"/>
              </a:lnSpc>
              <a:buNone/>
            </a:pPr>
            <a:r>
              <a:rPr kumimoji="1" lang="zh-CN" altLang="en-US" b="1" dirty="0"/>
              <a:t>如右图</a:t>
            </a:r>
            <a:r>
              <a:rPr kumimoji="1" lang="zh-CN" altLang="en-US" b="1" dirty="0">
                <a:sym typeface="Wingdings" panose="05000000000000000000"/>
              </a:rPr>
              <a:t></a:t>
            </a:r>
            <a:endParaRPr kumimoji="1" lang="zh-CN" altLang="en-US" b="1" dirty="0">
              <a:sym typeface="Wingdings" panose="05000000000000000000"/>
            </a:endParaRPr>
          </a:p>
          <a:p>
            <a:pPr marL="0" indent="0">
              <a:lnSpc>
                <a:spcPct val="150000"/>
              </a:lnSpc>
              <a:buNone/>
            </a:pPr>
            <a:endParaRPr kumimoji="1" lang="zh-CN" altLang="en-US" b="1" dirty="0"/>
          </a:p>
          <a:p>
            <a:pPr>
              <a:lnSpc>
                <a:spcPct val="150000"/>
              </a:lnSpc>
            </a:pPr>
            <a:r>
              <a:rPr kumimoji="1" lang="zh-CN" altLang="en-US" b="1" dirty="0">
                <a:solidFill>
                  <a:srgbClr val="FFFF00"/>
                </a:solidFill>
              </a:rPr>
              <a:t>采用计算机程序实现此判定流程</a:t>
            </a:r>
            <a:endParaRPr kumimoji="1" lang="zh-CN" altLang="en-US" b="1" dirty="0">
              <a:solidFill>
                <a:srgbClr val="FFFF00"/>
              </a:solidFill>
            </a:endParaRPr>
          </a:p>
        </p:txBody>
      </p:sp>
      <p:pic>
        <p:nvPicPr>
          <p:cNvPr id="5" name="图片 4"/>
          <p:cNvPicPr>
            <a:picLocks noChangeAspect="1"/>
          </p:cNvPicPr>
          <p:nvPr/>
        </p:nvPicPr>
        <p:blipFill>
          <a:blip r:embed="rId1"/>
          <a:stretch>
            <a:fillRect/>
          </a:stretch>
        </p:blipFill>
        <p:spPr>
          <a:xfrm>
            <a:off x="5547360" y="1853565"/>
            <a:ext cx="6537325" cy="491617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b="1" dirty="0"/>
              <a:t>检测结果判定</a:t>
            </a:r>
            <a:endParaRPr kumimoji="1" lang="zh-CN" altLang="en-US" b="1" dirty="0"/>
          </a:p>
        </p:txBody>
      </p:sp>
      <p:sp>
        <p:nvSpPr>
          <p:cNvPr id="3" name="内容占位符 2"/>
          <p:cNvSpPr>
            <a:spLocks noGrp="1"/>
          </p:cNvSpPr>
          <p:nvPr>
            <p:ph idx="1"/>
          </p:nvPr>
        </p:nvSpPr>
        <p:spPr>
          <a:xfrm>
            <a:off x="875058" y="1417918"/>
            <a:ext cx="8946541" cy="4792382"/>
          </a:xfrm>
        </p:spPr>
        <p:txBody>
          <a:bodyPr>
            <a:normAutofit/>
          </a:bodyPr>
          <a:lstStyle/>
          <a:p>
            <a:pPr>
              <a:lnSpc>
                <a:spcPct val="150000"/>
              </a:lnSpc>
            </a:pPr>
            <a:r>
              <a:rPr lang="en-US" altLang="zh-CN" b="1" dirty="0"/>
              <a:t>《</a:t>
            </a:r>
            <a:r>
              <a:rPr lang="zh-CN" altLang="en-US" b="1" dirty="0"/>
              <a:t>规程</a:t>
            </a:r>
            <a:r>
              <a:rPr lang="en-US" altLang="zh-CN" b="1" dirty="0"/>
              <a:t>》</a:t>
            </a:r>
            <a:endParaRPr lang="zh-CN" altLang="en-US" b="1" dirty="0"/>
          </a:p>
          <a:p>
            <a:pPr marL="363855" indent="0">
              <a:lnSpc>
                <a:spcPct val="150000"/>
              </a:lnSpc>
              <a:buNone/>
            </a:pPr>
            <a:r>
              <a:rPr kumimoji="1" lang="zh-CN" altLang="en-US" b="1" dirty="0"/>
              <a:t>如右图</a:t>
            </a:r>
            <a:r>
              <a:rPr kumimoji="1" lang="zh-CN" altLang="en-US" b="1" dirty="0">
                <a:sym typeface="Wingdings" panose="05000000000000000000"/>
              </a:rPr>
              <a:t></a:t>
            </a:r>
            <a:endParaRPr kumimoji="1" lang="zh-CN" altLang="en-US" b="1" dirty="0">
              <a:sym typeface="Wingdings" panose="05000000000000000000"/>
            </a:endParaRPr>
          </a:p>
          <a:p>
            <a:pPr marL="0" indent="0">
              <a:lnSpc>
                <a:spcPct val="150000"/>
              </a:lnSpc>
              <a:buNone/>
            </a:pPr>
            <a:endParaRPr kumimoji="1" lang="zh-CN" altLang="en-US" b="1" dirty="0"/>
          </a:p>
          <a:p>
            <a:pPr>
              <a:lnSpc>
                <a:spcPct val="150000"/>
              </a:lnSpc>
            </a:pPr>
            <a:r>
              <a:rPr kumimoji="1" lang="zh-CN" altLang="en-US" b="1" dirty="0">
                <a:solidFill>
                  <a:srgbClr val="FFFF00"/>
                </a:solidFill>
              </a:rPr>
              <a:t>采用计算机程序实现此判定流程</a:t>
            </a:r>
            <a:endParaRPr kumimoji="1" lang="zh-CN" altLang="en-US" b="1" dirty="0">
              <a:solidFill>
                <a:srgbClr val="FFFF00"/>
              </a:solidFill>
            </a:endParaRPr>
          </a:p>
        </p:txBody>
      </p:sp>
      <p:pic>
        <p:nvPicPr>
          <p:cNvPr id="4" name="图片 3"/>
          <p:cNvPicPr>
            <a:picLocks noChangeAspect="1"/>
          </p:cNvPicPr>
          <p:nvPr/>
        </p:nvPicPr>
        <p:blipFill>
          <a:blip r:embed="rId1"/>
          <a:stretch>
            <a:fillRect/>
          </a:stretch>
        </p:blipFill>
        <p:spPr>
          <a:xfrm>
            <a:off x="4982845" y="1852930"/>
            <a:ext cx="7120255" cy="495554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b="1" dirty="0"/>
              <a:t>检测最终结论判定</a:t>
            </a:r>
            <a:endParaRPr kumimoji="1" lang="zh-CN" altLang="en-US" b="1" dirty="0"/>
          </a:p>
        </p:txBody>
      </p:sp>
      <p:sp>
        <p:nvSpPr>
          <p:cNvPr id="3" name="内容占位符 2"/>
          <p:cNvSpPr>
            <a:spLocks noGrp="1"/>
          </p:cNvSpPr>
          <p:nvPr>
            <p:ph idx="1"/>
          </p:nvPr>
        </p:nvSpPr>
        <p:spPr>
          <a:xfrm>
            <a:off x="1104265" y="1417955"/>
            <a:ext cx="10068560" cy="5297170"/>
          </a:xfrm>
        </p:spPr>
        <p:txBody>
          <a:bodyPr>
            <a:normAutofit lnSpcReduction="10000"/>
          </a:bodyPr>
          <a:lstStyle/>
          <a:p>
            <a:pPr>
              <a:lnSpc>
                <a:spcPct val="150000"/>
              </a:lnSpc>
            </a:pPr>
            <a:r>
              <a:rPr lang="en-US" altLang="zh-CN" b="1" dirty="0"/>
              <a:t>《</a:t>
            </a:r>
            <a:r>
              <a:rPr lang="zh-CN" altLang="en-US" b="1" dirty="0"/>
              <a:t>规程</a:t>
            </a:r>
            <a:r>
              <a:rPr lang="en-US" altLang="zh-CN" b="1" dirty="0"/>
              <a:t>》</a:t>
            </a:r>
            <a:endParaRPr lang="zh-CN" altLang="en-US" b="1" dirty="0"/>
          </a:p>
          <a:p>
            <a:pPr marL="363855" indent="0">
              <a:buNone/>
            </a:pPr>
            <a:r>
              <a:rPr altLang="zh-CN" b="1" dirty="0"/>
              <a:t>4.10.1 血液检测最终结论的判定</a:t>
            </a:r>
            <a:endParaRPr altLang="zh-CN" b="1" dirty="0"/>
          </a:p>
          <a:p>
            <a:pPr marL="363855" indent="0">
              <a:buNone/>
            </a:pPr>
            <a:r>
              <a:rPr altLang="zh-CN" b="1" dirty="0"/>
              <a:t>4.10.1.1 血液检测合格判定标准</a:t>
            </a:r>
            <a:endParaRPr altLang="zh-CN" b="1" dirty="0"/>
          </a:p>
          <a:p>
            <a:pPr marL="363855" indent="0">
              <a:buNone/>
            </a:pPr>
            <a:r>
              <a:rPr altLang="zh-CN" b="1" dirty="0"/>
              <a:t>HIV、HBV、HCV、梅毒感染标志物检测的最终结论均为无反应性，ABO/RhD 血型正确定型，ALT≤50U/L。按 4.2.2.6 检测地方性、时限性输血相关传染病标志物时其最终检测结果均为无反应性。</a:t>
            </a:r>
            <a:endParaRPr altLang="zh-CN" b="1" dirty="0"/>
          </a:p>
          <a:p>
            <a:pPr marL="363855" indent="0">
              <a:buNone/>
            </a:pPr>
            <a:r>
              <a:rPr altLang="zh-CN" b="1" dirty="0"/>
              <a:t>4.10.1.2 血液检测不合格的判定标准 不符合 4.10.1.1 条规定的情形。</a:t>
            </a:r>
            <a:endParaRPr altLang="zh-CN" b="1" dirty="0"/>
          </a:p>
          <a:p>
            <a:pPr marL="363855" indent="0">
              <a:buNone/>
            </a:pPr>
            <a:r>
              <a:rPr altLang="zh-CN" b="1" dirty="0"/>
              <a:t>4.10.1.3 应当建立和实施血液检测最终结论的计算机判定程序。如果需要人工判定，应由双人复核。</a:t>
            </a:r>
            <a:endParaRPr altLang="zh-CN" b="1" dirty="0"/>
          </a:p>
          <a:p>
            <a:pPr marL="363855" indent="0">
              <a:buNone/>
            </a:pPr>
            <a:r>
              <a:rPr lang="en-US" altLang="zh-CN" b="1" dirty="0"/>
              <a:t>4.10.2.1  </a:t>
            </a:r>
            <a:r>
              <a:rPr lang="zh-CN" altLang="zh-CN" b="1" dirty="0"/>
              <a:t>血液检测最终结论是血液放行与否的重要依据。只有检测合格的血液方可放行供临床使用，检测不合格的血液不得放行。</a:t>
            </a:r>
            <a:endParaRPr lang="zh-CN" altLang="zh-CN" b="1" dirty="0"/>
          </a:p>
          <a:p>
            <a:pPr>
              <a:lnSpc>
                <a:spcPct val="150000"/>
              </a:lnSpc>
            </a:pPr>
            <a:r>
              <a:rPr kumimoji="1" lang="zh-CN" altLang="en-US" b="1" dirty="0">
                <a:solidFill>
                  <a:srgbClr val="FFFF00"/>
                </a:solidFill>
              </a:rPr>
              <a:t>采用计算机程序实现此判定流程，在信息系统中作为血液制品成品化和隔离放行的准则。</a:t>
            </a:r>
            <a:endParaRPr kumimoji="1" lang="zh-CN" altLang="en-US" b="1" dirty="0">
              <a:solidFill>
                <a:srgbClr val="FFFF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animEffect transition="in" filter="fade">
                                      <p:cBhvr>
                                        <p:cTn id="7" dur="1000"/>
                                        <p:tgtEl>
                                          <p:spTgt spid="3">
                                            <p:txEl>
                                              <p:pRg st="7" end="7"/>
                                            </p:txEl>
                                          </p:spTgt>
                                        </p:tgtEl>
                                      </p:cBhvr>
                                    </p:animEffect>
                                    <p:anim calcmode="lin" valueType="num">
                                      <p:cBhvr>
                                        <p:cTn id="8"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b="1" dirty="0"/>
              <a:t>集中化检测</a:t>
            </a:r>
            <a:endParaRPr kumimoji="1" lang="zh-CN" altLang="en-US" b="1" dirty="0"/>
          </a:p>
        </p:txBody>
      </p:sp>
      <p:sp>
        <p:nvSpPr>
          <p:cNvPr id="3" name="内容占位符 2"/>
          <p:cNvSpPr>
            <a:spLocks noGrp="1"/>
          </p:cNvSpPr>
          <p:nvPr>
            <p:ph idx="1"/>
          </p:nvPr>
        </p:nvSpPr>
        <p:spPr>
          <a:xfrm>
            <a:off x="1104265" y="1417955"/>
            <a:ext cx="9982835" cy="5198745"/>
          </a:xfrm>
        </p:spPr>
        <p:txBody>
          <a:bodyPr>
            <a:normAutofit fontScale="90000" lnSpcReduction="10000"/>
          </a:bodyPr>
          <a:lstStyle/>
          <a:p>
            <a:pPr>
              <a:lnSpc>
                <a:spcPct val="130000"/>
              </a:lnSpc>
            </a:pPr>
            <a:r>
              <a:rPr lang="en-US" altLang="zh-CN" b="1" dirty="0"/>
              <a:t>《</a:t>
            </a:r>
            <a:r>
              <a:rPr lang="zh-CN" altLang="en-US" b="1" dirty="0"/>
              <a:t>规程</a:t>
            </a:r>
            <a:r>
              <a:rPr lang="en-US" altLang="zh-CN" b="1" dirty="0"/>
              <a:t>》</a:t>
            </a:r>
            <a:r>
              <a:rPr lang="en-US" altLang="zh-CN" dirty="0"/>
              <a:t>5</a:t>
            </a:r>
            <a:r>
              <a:rPr lang="zh-CN" altLang="en-US" dirty="0"/>
              <a:t>处提到</a:t>
            </a:r>
            <a:endParaRPr lang="zh-CN" altLang="en-US" b="1" dirty="0"/>
          </a:p>
          <a:p>
            <a:pPr marL="363855" indent="0">
              <a:lnSpc>
                <a:spcPct val="130000"/>
              </a:lnSpc>
              <a:buNone/>
            </a:pPr>
            <a:r>
              <a:rPr lang="en-US" altLang="zh-CN" b="1" dirty="0"/>
              <a:t>4.6.2.2 血液集中化检测的委托方和受托方应进行充分沟通与协商，共同制定标本采集和送检程序，双方质量管理部门应予以审核，并经双方法定代表人批准。</a:t>
            </a:r>
            <a:endParaRPr lang="en-US" altLang="zh-CN" b="1" dirty="0"/>
          </a:p>
          <a:p>
            <a:pPr marL="363855" indent="0">
              <a:lnSpc>
                <a:spcPct val="130000"/>
              </a:lnSpc>
              <a:buNone/>
            </a:pPr>
            <a:r>
              <a:rPr lang="en-US" altLang="zh-CN" b="1" dirty="0">
                <a:sym typeface="+mn-ea"/>
              </a:rPr>
              <a:t>4.6.2.3</a:t>
            </a:r>
            <a:r>
              <a:rPr lang="zh-CN" altLang="en-US" b="1" dirty="0">
                <a:sym typeface="+mn-ea"/>
              </a:rPr>
              <a:t> 标本采集和送检程序的要点有</a:t>
            </a:r>
            <a:r>
              <a:rPr lang="en-US" altLang="zh-CN" b="1" dirty="0">
                <a:sym typeface="+mn-ea"/>
              </a:rPr>
              <a:t>: </a:t>
            </a:r>
            <a:endParaRPr lang="zh-CN" altLang="en-US" b="1" dirty="0"/>
          </a:p>
          <a:p>
            <a:pPr marL="399415" indent="0">
              <a:lnSpc>
                <a:spcPct val="130000"/>
              </a:lnSpc>
              <a:spcBef>
                <a:spcPts val="0"/>
              </a:spcBef>
              <a:buNone/>
            </a:pPr>
            <a:r>
              <a:rPr lang="en-US" altLang="zh-CN" b="1" dirty="0">
                <a:sym typeface="+mn-ea"/>
              </a:rPr>
              <a:t>4.6.2.3.6 </a:t>
            </a:r>
            <a:r>
              <a:rPr lang="zh-CN" altLang="en-US" b="1" dirty="0">
                <a:sym typeface="+mn-ea"/>
              </a:rPr>
              <a:t>如为集中化检测</a:t>
            </a:r>
            <a:r>
              <a:rPr lang="en-US" altLang="zh-CN" b="1" dirty="0">
                <a:sym typeface="+mn-ea"/>
              </a:rPr>
              <a:t>,</a:t>
            </a:r>
            <a:r>
              <a:rPr lang="zh-CN" altLang="en-US" b="1" dirty="0">
                <a:sym typeface="+mn-ea"/>
              </a:rPr>
              <a:t>检测的委托方和受托方的标识与联系方式。 </a:t>
            </a:r>
            <a:endParaRPr lang="zh-CN" altLang="en-US" b="1" dirty="0"/>
          </a:p>
          <a:p>
            <a:pPr marL="363855" indent="0">
              <a:lnSpc>
                <a:spcPct val="130000"/>
              </a:lnSpc>
              <a:buNone/>
            </a:pPr>
            <a:r>
              <a:rPr lang="en-US" altLang="zh-CN" b="1" dirty="0">
                <a:sym typeface="+mn-ea"/>
              </a:rPr>
              <a:t>4.6.6.2 </a:t>
            </a:r>
            <a:r>
              <a:rPr lang="zh-CN" altLang="en-US" b="1" dirty="0">
                <a:sym typeface="+mn-ea"/>
              </a:rPr>
              <a:t>对于送交集中化检测实验室的标本的包装要求主要有</a:t>
            </a:r>
            <a:r>
              <a:rPr lang="en-US" altLang="zh-CN" b="1" dirty="0">
                <a:sym typeface="+mn-ea"/>
              </a:rPr>
              <a:t>:</a:t>
            </a:r>
            <a:r>
              <a:rPr lang="zh-CN" altLang="en-US" b="1" dirty="0">
                <a:sym typeface="+mn-ea"/>
              </a:rPr>
              <a:t>  </a:t>
            </a:r>
            <a:endParaRPr lang="zh-CN" altLang="en-US" b="1" dirty="0"/>
          </a:p>
          <a:p>
            <a:pPr marL="363855" indent="0">
              <a:lnSpc>
                <a:spcPct val="130000"/>
              </a:lnSpc>
              <a:buNone/>
            </a:pPr>
            <a:r>
              <a:rPr lang="en-US" altLang="zh-CN" b="1" dirty="0">
                <a:sym typeface="+mn-ea"/>
              </a:rPr>
              <a:t>4.6.6.2.1 </a:t>
            </a:r>
            <a:r>
              <a:rPr lang="zh-CN" altLang="en-US" b="1" dirty="0">
                <a:sym typeface="+mn-ea"/>
              </a:rPr>
              <a:t>可使标本在 运输在过程中保持 </a:t>
            </a:r>
            <a:r>
              <a:rPr lang="en-US" altLang="zh-CN" b="1" dirty="0">
                <a:sym typeface="+mn-ea"/>
              </a:rPr>
              <a:t>2~10°C;</a:t>
            </a:r>
            <a:r>
              <a:rPr lang="zh-CN" altLang="en-US" b="1" dirty="0">
                <a:sym typeface="+mn-ea"/>
              </a:rPr>
              <a:t>  </a:t>
            </a:r>
            <a:endParaRPr lang="zh-CN" altLang="en-US" b="1" dirty="0"/>
          </a:p>
          <a:p>
            <a:pPr marL="363855" indent="0">
              <a:lnSpc>
                <a:spcPct val="130000"/>
              </a:lnSpc>
              <a:buNone/>
            </a:pPr>
            <a:r>
              <a:rPr lang="en-US" altLang="zh-CN" b="1" dirty="0">
                <a:sym typeface="+mn-ea"/>
              </a:rPr>
              <a:t>4.6.2.2.2 </a:t>
            </a:r>
            <a:r>
              <a:rPr lang="zh-CN" altLang="en-US" b="1" dirty="0">
                <a:sym typeface="+mn-ea"/>
              </a:rPr>
              <a:t>外包装有明确标识</a:t>
            </a:r>
            <a:r>
              <a:rPr lang="en-US" altLang="zh-CN" b="1" dirty="0">
                <a:sym typeface="+mn-ea"/>
              </a:rPr>
              <a:t>(</a:t>
            </a:r>
            <a:r>
              <a:rPr lang="zh-CN" altLang="en-US" b="1" dirty="0">
                <a:sym typeface="+mn-ea"/>
              </a:rPr>
              <a:t>放置朝向、易碎、生物 危险</a:t>
            </a:r>
            <a:r>
              <a:rPr lang="en-US" altLang="zh-CN" b="1" dirty="0">
                <a:sym typeface="+mn-ea"/>
              </a:rPr>
              <a:t>)</a:t>
            </a:r>
            <a:r>
              <a:rPr lang="zh-CN" altLang="en-US" b="1" dirty="0">
                <a:sym typeface="+mn-ea"/>
              </a:rPr>
              <a:t>和交付接收双方的联系方式。 </a:t>
            </a:r>
            <a:endParaRPr lang="en-US" altLang="zh-CN" b="1" dirty="0"/>
          </a:p>
          <a:p>
            <a:pPr marL="363855" indent="0">
              <a:lnSpc>
                <a:spcPct val="130000"/>
              </a:lnSpc>
              <a:buNone/>
            </a:pPr>
            <a:r>
              <a:rPr lang="en-US" altLang="zh-CN" b="1" dirty="0"/>
              <a:t>4.7.4 </a:t>
            </a:r>
            <a:r>
              <a:rPr lang="zh-CN" altLang="en-US" b="1" dirty="0"/>
              <a:t>集中化检测实验室和委托其开展核酸检测实验室的信息管理系统宜具备实验室间</a:t>
            </a:r>
            <a:r>
              <a:rPr lang="zh-CN" altLang="en-US" b="1" dirty="0">
                <a:solidFill>
                  <a:srgbClr val="FFFF00"/>
                </a:solidFill>
              </a:rPr>
              <a:t>标本信息传递</a:t>
            </a:r>
            <a:r>
              <a:rPr lang="zh-CN" altLang="en-US" b="1" dirty="0"/>
              <a:t>、</a:t>
            </a:r>
            <a:r>
              <a:rPr lang="zh-CN" altLang="en-US" b="1" dirty="0">
                <a:solidFill>
                  <a:srgbClr val="FFFF00"/>
                </a:solidFill>
              </a:rPr>
              <a:t>检测结果反馈</a:t>
            </a:r>
            <a:r>
              <a:rPr lang="zh-CN" altLang="en-US" b="1" dirty="0"/>
              <a:t>和</a:t>
            </a:r>
            <a:r>
              <a:rPr lang="zh-CN" altLang="en-US" b="1" dirty="0">
                <a:solidFill>
                  <a:srgbClr val="FFFF00"/>
                </a:solidFill>
              </a:rPr>
              <a:t>结果利用</a:t>
            </a:r>
            <a:r>
              <a:rPr lang="zh-CN" altLang="en-US" b="1" dirty="0"/>
              <a:t>的功能。</a:t>
            </a:r>
            <a:endParaRPr lang="zh-CN" altLang="en-US" b="1" dirty="0"/>
          </a:p>
          <a:p>
            <a:pPr marL="363855" indent="0">
              <a:lnSpc>
                <a:spcPct val="130000"/>
              </a:lnSpc>
              <a:buNone/>
            </a:pPr>
            <a:r>
              <a:rPr lang="en-US" altLang="zh-CN" b="1" dirty="0"/>
              <a:t>4.10.2.2 </a:t>
            </a:r>
            <a:r>
              <a:rPr b="1" dirty="0">
                <a:latin typeface="宋体-简" panose="02010800040101010101" charset="-122"/>
                <a:ea typeface="宋体-简" panose="02010800040101010101" charset="-122"/>
              </a:rPr>
              <a:t>血液集中化检测的委托方和受委托方应明确血液检测最终结论的报告和利用方式、职责与分工。</a:t>
            </a:r>
            <a:endParaRPr kumimoji="1" lang="zh-CN" altLang="en-US" b="1"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b="1" dirty="0"/>
              <a:t>集中化检测</a:t>
            </a:r>
            <a:endParaRPr kumimoji="1" lang="zh-CN" altLang="en-US" b="1" dirty="0"/>
          </a:p>
        </p:txBody>
      </p:sp>
      <p:sp>
        <p:nvSpPr>
          <p:cNvPr id="3" name="内容占位符 2"/>
          <p:cNvSpPr>
            <a:spLocks noGrp="1"/>
          </p:cNvSpPr>
          <p:nvPr>
            <p:ph idx="1"/>
          </p:nvPr>
        </p:nvSpPr>
        <p:spPr>
          <a:xfrm>
            <a:off x="1104293" y="1417918"/>
            <a:ext cx="8946541" cy="4792382"/>
          </a:xfrm>
        </p:spPr>
        <p:txBody>
          <a:bodyPr>
            <a:normAutofit/>
          </a:bodyPr>
          <a:lstStyle/>
          <a:p>
            <a:pPr>
              <a:lnSpc>
                <a:spcPct val="150000"/>
              </a:lnSpc>
            </a:pPr>
            <a:r>
              <a:rPr lang="en-US" altLang="zh-CN" b="1" dirty="0"/>
              <a:t>《</a:t>
            </a:r>
            <a:r>
              <a:rPr lang="zh-CN" altLang="en-US" b="1" dirty="0"/>
              <a:t>规程</a:t>
            </a:r>
            <a:r>
              <a:rPr lang="en-US" altLang="zh-CN" b="1" dirty="0"/>
              <a:t>》</a:t>
            </a:r>
            <a:endParaRPr lang="zh-CN" altLang="en-US" b="1" dirty="0"/>
          </a:p>
          <a:p>
            <a:pPr marL="0" indent="0">
              <a:lnSpc>
                <a:spcPct val="150000"/>
              </a:lnSpc>
              <a:buNone/>
            </a:pPr>
            <a:endParaRPr lang="zh-CN" altLang="en-US" dirty="0"/>
          </a:p>
          <a:p>
            <a:pPr>
              <a:lnSpc>
                <a:spcPct val="150000"/>
              </a:lnSpc>
            </a:pPr>
            <a:r>
              <a:rPr kumimoji="1" lang="zh-CN" altLang="en-US" b="1" dirty="0"/>
              <a:t>说明：集中化检测和委托送检被越来越多的血站应用。</a:t>
            </a:r>
            <a:endParaRPr kumimoji="1" lang="zh-CN" altLang="en-US" b="1" dirty="0"/>
          </a:p>
          <a:p>
            <a:pPr>
              <a:lnSpc>
                <a:spcPct val="150000"/>
              </a:lnSpc>
            </a:pPr>
            <a:r>
              <a:rPr kumimoji="1" lang="zh-CN" altLang="en-US" b="1" dirty="0">
                <a:solidFill>
                  <a:srgbClr val="FFFF00"/>
                </a:solidFill>
              </a:rPr>
              <a:t>在信息系统中实现集中化检测方式的检测和发布，及其送检端程序实现标本送检和结果接收。更进一步实现分布式集中化检测方式，即多系统间的集中化检测。</a:t>
            </a:r>
            <a:endParaRPr kumimoji="1" lang="zh-CN" altLang="en-US" b="1" dirty="0">
              <a:solidFill>
                <a:srgbClr val="FFFF00"/>
              </a:solidFill>
            </a:endParaRPr>
          </a:p>
          <a:p>
            <a:pPr>
              <a:lnSpc>
                <a:spcPct val="150000"/>
              </a:lnSpc>
            </a:pPr>
            <a:r>
              <a:rPr kumimoji="1" lang="zh-CN" altLang="en-US" b="1" dirty="0">
                <a:solidFill>
                  <a:srgbClr val="FFFF00"/>
                </a:solidFill>
                <a:sym typeface="+mn-ea"/>
              </a:rPr>
              <a:t>穿越公司开发“异构系统的分布式集中化检测”</a:t>
            </a:r>
            <a:endParaRPr kumimoji="1" lang="zh-CN" altLang="en-US" b="1" dirty="0">
              <a:solidFill>
                <a:srgbClr val="FFFF00"/>
              </a:solidFill>
              <a:sym typeface="+mn-ea"/>
            </a:endParaRPr>
          </a:p>
          <a:p>
            <a:pPr marL="0" indent="0">
              <a:lnSpc>
                <a:spcPct val="150000"/>
              </a:lnSpc>
              <a:buNone/>
            </a:pPr>
            <a:r>
              <a:rPr kumimoji="1" lang="zh-CN" altLang="en-US" b="1" dirty="0">
                <a:solidFill>
                  <a:srgbClr val="FFFF00"/>
                </a:solidFill>
                <a:sym typeface="+mn-ea"/>
              </a:rPr>
              <a:t>    在重庆市血液中心获得应用。</a:t>
            </a:r>
            <a:endParaRPr kumimoji="1" lang="zh-CN" altLang="en-US" dirty="0"/>
          </a:p>
          <a:p>
            <a:pPr marL="0" indent="0">
              <a:lnSpc>
                <a:spcPct val="150000"/>
              </a:lnSpc>
              <a:buNone/>
            </a:pPr>
            <a:endParaRPr kumimoji="1" lang="zh-CN" altLang="en-US" b="1" dirty="0">
              <a:solidFill>
                <a:srgbClr val="FFFF00"/>
              </a:solidFill>
            </a:endParaRPr>
          </a:p>
          <a:p>
            <a:pPr>
              <a:lnSpc>
                <a:spcPct val="150000"/>
              </a:lnSpc>
            </a:pPr>
            <a:endParaRPr kumimoji="1" lang="zh-CN" altLang="en-US" b="1" dirty="0"/>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632700" y="4261644"/>
            <a:ext cx="4457699" cy="250745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1000"/>
                                        <p:tgtEl>
                                          <p:spTgt spid="3">
                                            <p:txEl>
                                              <p:pRg st="3" end="3"/>
                                            </p:txEl>
                                          </p:spTgt>
                                        </p:tgtEl>
                                      </p:cBhvr>
                                    </p:animEffect>
                                    <p:anim calcmode="lin" valueType="num">
                                      <p:cBhvr>
                                        <p:cTn id="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4" end="4"/>
                                            </p:txEl>
                                          </p:spTgt>
                                        </p:tgtEl>
                                        <p:attrNameLst>
                                          <p:attrName>style.visibility</p:attrName>
                                        </p:attrNameLst>
                                      </p:cBhvr>
                                      <p:to>
                                        <p:strVal val="visible"/>
                                      </p:to>
                                    </p:set>
                                    <p:animEffect transition="in" filter="fade">
                                      <p:cBhvr>
                                        <p:cTn id="14" dur="1000"/>
                                        <p:tgtEl>
                                          <p:spTgt spid="3">
                                            <p:txEl>
                                              <p:pRg st="4" end="4"/>
                                            </p:txEl>
                                          </p:spTgt>
                                        </p:tgtEl>
                                      </p:cBhvr>
                                    </p:animEffect>
                                    <p:anim calcmode="lin" valueType="num">
                                      <p:cBhvr>
                                        <p:cTn id="15"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1000"/>
                                        <p:tgtEl>
                                          <p:spTgt spid="3">
                                            <p:txEl>
                                              <p:pRg st="5" end="5"/>
                                            </p:txEl>
                                          </p:spTgt>
                                        </p:tgtEl>
                                      </p:cBhvr>
                                    </p:animEffect>
                                    <p:anim calcmode="lin" valueType="num">
                                      <p:cBhvr>
                                        <p:cTn id="22"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37" presetClass="entr" presetSubtype="0" fill="hold"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fade">
                                      <p:cBhvr>
                                        <p:cTn id="28" dur="1000"/>
                                        <p:tgtEl>
                                          <p:spTgt spid="4"/>
                                        </p:tgtEl>
                                      </p:cBhvr>
                                    </p:animEffect>
                                    <p:anim calcmode="lin" valueType="num">
                                      <p:cBhvr>
                                        <p:cTn id="29" dur="1000" fill="hold"/>
                                        <p:tgtEl>
                                          <p:spTgt spid="4"/>
                                        </p:tgtEl>
                                        <p:attrNameLst>
                                          <p:attrName>ppt_x</p:attrName>
                                        </p:attrNameLst>
                                      </p:cBhvr>
                                      <p:tavLst>
                                        <p:tav tm="0">
                                          <p:val>
                                            <p:strVal val="#ppt_x"/>
                                          </p:val>
                                        </p:tav>
                                        <p:tav tm="100000">
                                          <p:val>
                                            <p:strVal val="#ppt_x"/>
                                          </p:val>
                                        </p:tav>
                                      </p:tavLst>
                                    </p:anim>
                                    <p:anim calcmode="lin" valueType="num">
                                      <p:cBhvr>
                                        <p:cTn id="30" dur="900" decel="100000" fill="hold"/>
                                        <p:tgtEl>
                                          <p:spTgt spid="4"/>
                                        </p:tgtEl>
                                        <p:attrNameLst>
                                          <p:attrName>ppt_y</p:attrName>
                                        </p:attrNameLst>
                                      </p:cBhvr>
                                      <p:tavLst>
                                        <p:tav tm="0">
                                          <p:val>
                                            <p:strVal val="#ppt_y+1"/>
                                          </p:val>
                                        </p:tav>
                                        <p:tav tm="100000">
                                          <p:val>
                                            <p:strVal val="#ppt_y-.03"/>
                                          </p:val>
                                        </p:tav>
                                      </p:tavLst>
                                    </p:anim>
                                    <p:anim calcmode="lin" valueType="num">
                                      <p:cBhvr>
                                        <p:cTn id="31" dur="100" accel="100000" fill="hold">
                                          <p:stCondLst>
                                            <p:cond delay="900"/>
                                          </p:stCondLst>
                                        </p:cTn>
                                        <p:tgtEl>
                                          <p:spTgt spid="4"/>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b="1" dirty="0"/>
              <a:t>血液放行</a:t>
            </a:r>
            <a:endParaRPr kumimoji="1" lang="zh-CN" altLang="en-US" b="1" dirty="0"/>
          </a:p>
        </p:txBody>
      </p:sp>
      <p:sp>
        <p:nvSpPr>
          <p:cNvPr id="3" name="内容占位符 2"/>
          <p:cNvSpPr>
            <a:spLocks noGrp="1"/>
          </p:cNvSpPr>
          <p:nvPr>
            <p:ph idx="1"/>
          </p:nvPr>
        </p:nvSpPr>
        <p:spPr>
          <a:xfrm>
            <a:off x="1104265" y="1417955"/>
            <a:ext cx="9982835" cy="4792345"/>
          </a:xfrm>
        </p:spPr>
        <p:txBody>
          <a:bodyPr>
            <a:normAutofit lnSpcReduction="20000"/>
          </a:bodyPr>
          <a:lstStyle/>
          <a:p>
            <a:pPr>
              <a:lnSpc>
                <a:spcPct val="150000"/>
              </a:lnSpc>
            </a:pPr>
            <a:r>
              <a:rPr lang="en-US" altLang="zh-CN" b="1" dirty="0"/>
              <a:t>《</a:t>
            </a:r>
            <a:r>
              <a:rPr lang="zh-CN" altLang="en-US" b="1" dirty="0"/>
              <a:t>规程</a:t>
            </a:r>
            <a:r>
              <a:rPr lang="en-US" altLang="zh-CN" b="1" dirty="0"/>
              <a:t>》</a:t>
            </a:r>
            <a:endParaRPr lang="zh-CN" altLang="en-US" b="1" dirty="0"/>
          </a:p>
          <a:p>
            <a:pPr marL="403225" indent="0">
              <a:lnSpc>
                <a:spcPct val="150000"/>
              </a:lnSpc>
              <a:spcBef>
                <a:spcPts val="0"/>
              </a:spcBef>
              <a:buNone/>
            </a:pPr>
            <a:r>
              <a:rPr b="1" dirty="0">
                <a:latin typeface="宋体-简" panose="02010800040101010101" charset="-122"/>
                <a:ea typeface="宋体-简" panose="02010800040101010101" charset="-122"/>
                <a:cs typeface="宋体-简" panose="02010800040101010101" charset="-122"/>
              </a:rPr>
              <a:t>5.3.2.1 放行人员应确认每批血液中的不合格血液已被识别，数量正确。对</a:t>
            </a:r>
            <a:r>
              <a:rPr b="1" dirty="0">
                <a:solidFill>
                  <a:srgbClr val="FFFF00"/>
                </a:solidFill>
                <a:latin typeface="宋体-简" panose="02010800040101010101" charset="-122"/>
                <a:ea typeface="宋体-简" panose="02010800040101010101" charset="-122"/>
                <a:cs typeface="宋体-简" panose="02010800040101010101" charset="-122"/>
              </a:rPr>
              <a:t>检测不合格</a:t>
            </a:r>
            <a:r>
              <a:rPr b="1" dirty="0">
                <a:latin typeface="宋体-简" panose="02010800040101010101" charset="-122"/>
                <a:ea typeface="宋体-简" panose="02010800040101010101" charset="-122"/>
                <a:cs typeface="宋体-简" panose="02010800040101010101" charset="-122"/>
              </a:rPr>
              <a:t>、</a:t>
            </a:r>
            <a:r>
              <a:rPr b="1" dirty="0">
                <a:solidFill>
                  <a:srgbClr val="FFFF00"/>
                </a:solidFill>
                <a:latin typeface="宋体-简" panose="02010800040101010101" charset="-122"/>
                <a:ea typeface="宋体-简" panose="02010800040101010101" charset="-122"/>
                <a:cs typeface="宋体-简" panose="02010800040101010101" charset="-122"/>
              </a:rPr>
              <a:t>外观不合格</a:t>
            </a:r>
            <a:r>
              <a:rPr b="1" dirty="0">
                <a:latin typeface="宋体-简" panose="02010800040101010101" charset="-122"/>
                <a:ea typeface="宋体-简" panose="02010800040101010101" charset="-122"/>
                <a:cs typeface="宋体-简" panose="02010800040101010101" charset="-122"/>
              </a:rPr>
              <a:t>、</a:t>
            </a:r>
            <a:r>
              <a:rPr b="1" dirty="0">
                <a:solidFill>
                  <a:srgbClr val="FFFF00"/>
                </a:solidFill>
                <a:latin typeface="宋体-简" panose="02010800040101010101" charset="-122"/>
                <a:ea typeface="宋体-简" panose="02010800040101010101" charset="-122"/>
                <a:cs typeface="宋体-简" panose="02010800040101010101" charset="-122"/>
              </a:rPr>
              <a:t>保密性弃血</a:t>
            </a:r>
            <a:r>
              <a:rPr b="1" dirty="0">
                <a:latin typeface="宋体-简" panose="02010800040101010101" charset="-122"/>
                <a:ea typeface="宋体-简" panose="02010800040101010101" charset="-122"/>
                <a:cs typeface="宋体-简" panose="02010800040101010101" charset="-122"/>
              </a:rPr>
              <a:t>、</a:t>
            </a:r>
            <a:r>
              <a:rPr b="1" dirty="0">
                <a:solidFill>
                  <a:srgbClr val="FFFF00"/>
                </a:solidFill>
                <a:latin typeface="宋体-简" panose="02010800040101010101" charset="-122"/>
                <a:ea typeface="宋体-简" panose="02010800040101010101" charset="-122"/>
                <a:cs typeface="宋体-简" panose="02010800040101010101" charset="-122"/>
              </a:rPr>
              <a:t>采集制备过程中不符合发放标准</a:t>
            </a:r>
            <a:r>
              <a:rPr b="1" dirty="0">
                <a:latin typeface="宋体-简" panose="02010800040101010101" charset="-122"/>
                <a:ea typeface="宋体-简" panose="02010800040101010101" charset="-122"/>
                <a:cs typeface="宋体-简" panose="02010800040101010101" charset="-122"/>
              </a:rPr>
              <a:t>的血液进行标识，并移入不合格品区。</a:t>
            </a:r>
            <a:endParaRPr b="1" dirty="0">
              <a:latin typeface="宋体-简" panose="02010800040101010101" charset="-122"/>
              <a:ea typeface="宋体-简" panose="02010800040101010101" charset="-122"/>
              <a:cs typeface="宋体-简" panose="02010800040101010101" charset="-122"/>
            </a:endParaRPr>
          </a:p>
          <a:p>
            <a:pPr marL="403225" indent="0">
              <a:lnSpc>
                <a:spcPct val="150000"/>
              </a:lnSpc>
              <a:spcBef>
                <a:spcPts val="0"/>
              </a:spcBef>
              <a:buNone/>
            </a:pPr>
            <a:r>
              <a:rPr b="1" dirty="0">
                <a:latin typeface="宋体-简" panose="02010800040101010101" charset="-122"/>
                <a:ea typeface="宋体-简" panose="02010800040101010101" charset="-122"/>
                <a:cs typeface="宋体-简" panose="02010800040101010101" charset="-122"/>
              </a:rPr>
              <a:t>5.3.2.2 放行人员应确认每批血液中的待检测血液已被识别，数量正确，将检测报告中尚未最终判定结果的血液继续隔离并做好标识。</a:t>
            </a:r>
            <a:endParaRPr b="1" dirty="0">
              <a:latin typeface="宋体-简" panose="02010800040101010101" charset="-122"/>
              <a:ea typeface="宋体-简" panose="02010800040101010101" charset="-122"/>
              <a:cs typeface="宋体-简" panose="02010800040101010101" charset="-122"/>
            </a:endParaRPr>
          </a:p>
          <a:p>
            <a:pPr marL="403225" indent="0">
              <a:lnSpc>
                <a:spcPct val="150000"/>
              </a:lnSpc>
              <a:spcBef>
                <a:spcPts val="0"/>
              </a:spcBef>
              <a:buNone/>
            </a:pPr>
            <a:r>
              <a:rPr b="1" dirty="0">
                <a:latin typeface="宋体-简" panose="02010800040101010101" charset="-122"/>
                <a:ea typeface="宋体-简" panose="02010800040101010101" charset="-122"/>
                <a:cs typeface="宋体-简" panose="02010800040101010101" charset="-122"/>
              </a:rPr>
              <a:t>5.3.2.3 放行人员应确认每批血液中的合格血液已被识别，数量正确，并已贴上合格标识。</a:t>
            </a:r>
            <a:endParaRPr b="1" dirty="0">
              <a:latin typeface="宋体-简" panose="02010800040101010101" charset="-122"/>
              <a:ea typeface="宋体-简" panose="02010800040101010101" charset="-122"/>
              <a:cs typeface="宋体-简" panose="02010800040101010101" charset="-122"/>
            </a:endParaRPr>
          </a:p>
          <a:p>
            <a:pPr marL="403225" indent="0">
              <a:lnSpc>
                <a:spcPct val="150000"/>
              </a:lnSpc>
              <a:spcBef>
                <a:spcPts val="0"/>
              </a:spcBef>
              <a:buNone/>
            </a:pPr>
            <a:r>
              <a:rPr b="1" dirty="0">
                <a:latin typeface="宋体-简" panose="02010800040101010101" charset="-122"/>
                <a:ea typeface="宋体-简" panose="02010800040101010101" charset="-122"/>
                <a:cs typeface="宋体-简" panose="02010800040101010101" charset="-122"/>
              </a:rPr>
              <a:t>5.3.2.4 放行人员签署“合格血液放行单”后，将合格血液储存于合格品区</a:t>
            </a:r>
            <a:r>
              <a:rPr lang="zh-CN" b="1" dirty="0">
                <a:latin typeface="宋体-简" panose="02010800040101010101" charset="-122"/>
                <a:ea typeface="宋体-简" panose="02010800040101010101" charset="-122"/>
                <a:cs typeface="宋体-简" panose="02010800040101010101" charset="-122"/>
              </a:rPr>
              <a:t>内。</a:t>
            </a:r>
            <a:endParaRPr lang="zh-CN" b="1" dirty="0">
              <a:latin typeface="宋体-简" panose="02010800040101010101" charset="-122"/>
              <a:ea typeface="宋体-简" panose="02010800040101010101" charset="-122"/>
              <a:cs typeface="宋体-简" panose="02010800040101010101" charset="-122"/>
            </a:endParaRPr>
          </a:p>
          <a:p>
            <a:pPr marL="403225" indent="0">
              <a:lnSpc>
                <a:spcPct val="150000"/>
              </a:lnSpc>
              <a:spcBef>
                <a:spcPts val="0"/>
              </a:spcBef>
              <a:buNone/>
            </a:pPr>
            <a:endParaRPr lang="zh-CN" b="1" dirty="0">
              <a:latin typeface="宋体-简" panose="02010800040101010101" charset="-122"/>
              <a:ea typeface="宋体-简" panose="02010800040101010101" charset="-122"/>
              <a:cs typeface="宋体-简" panose="02010800040101010101" charset="-122"/>
            </a:endParaRPr>
          </a:p>
          <a:p>
            <a:pPr marL="403225" indent="0">
              <a:lnSpc>
                <a:spcPct val="150000"/>
              </a:lnSpc>
              <a:spcBef>
                <a:spcPts val="0"/>
              </a:spcBef>
              <a:buNone/>
            </a:pPr>
            <a:r>
              <a:rPr kumimoji="1" lang="zh-CN" altLang="en-US" b="1" dirty="0">
                <a:solidFill>
                  <a:srgbClr val="FFFF00"/>
                </a:solidFill>
                <a:sym typeface="+mn-ea"/>
              </a:rPr>
              <a:t>穿越系统中实现血液隔离与血液放行功能。</a:t>
            </a:r>
            <a:endParaRPr kumimoji="1" lang="zh-CN" altLang="en-US"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1000"/>
                                        <p:tgtEl>
                                          <p:spTgt spid="3">
                                            <p:txEl>
                                              <p:pRg st="4" end="4"/>
                                            </p:txEl>
                                          </p:spTgt>
                                        </p:tgtEl>
                                      </p:cBhvr>
                                    </p:animEffect>
                                    <p:anim calcmode="lin" valueType="num">
                                      <p:cBhvr>
                                        <p:cTn id="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6" end="6"/>
                                            </p:txEl>
                                          </p:spTgt>
                                        </p:tgtEl>
                                        <p:attrNameLst>
                                          <p:attrName>style.visibility</p:attrName>
                                        </p:attrNameLst>
                                      </p:cBhvr>
                                      <p:to>
                                        <p:strVal val="visible"/>
                                      </p:to>
                                    </p:set>
                                    <p:animEffect transition="in" filter="fade">
                                      <p:cBhvr>
                                        <p:cTn id="14" dur="1000"/>
                                        <p:tgtEl>
                                          <p:spTgt spid="3">
                                            <p:txEl>
                                              <p:pRg st="6" end="6"/>
                                            </p:txEl>
                                          </p:spTgt>
                                        </p:tgtEl>
                                      </p:cBhvr>
                                    </p:animEffect>
                                    <p:anim calcmode="lin" valueType="num">
                                      <p:cBhvr>
                                        <p:cTn id="15"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b="1" dirty="0"/>
              <a:t>合格制品贴签</a:t>
            </a:r>
            <a:endParaRPr kumimoji="1" lang="zh-CN" altLang="en-US" b="1" dirty="0"/>
          </a:p>
        </p:txBody>
      </p:sp>
      <p:sp>
        <p:nvSpPr>
          <p:cNvPr id="3" name="内容占位符 2"/>
          <p:cNvSpPr>
            <a:spLocks noGrp="1"/>
          </p:cNvSpPr>
          <p:nvPr>
            <p:ph idx="1"/>
          </p:nvPr>
        </p:nvSpPr>
        <p:spPr>
          <a:xfrm>
            <a:off x="1104265" y="1417955"/>
            <a:ext cx="9982835" cy="4792345"/>
          </a:xfrm>
        </p:spPr>
        <p:txBody>
          <a:bodyPr>
            <a:normAutofit/>
          </a:bodyPr>
          <a:lstStyle/>
          <a:p>
            <a:pPr>
              <a:lnSpc>
                <a:spcPct val="150000"/>
              </a:lnSpc>
            </a:pPr>
            <a:r>
              <a:rPr lang="en-US" altLang="zh-CN" b="1" dirty="0"/>
              <a:t>《</a:t>
            </a:r>
            <a:r>
              <a:rPr lang="zh-CN" altLang="en-US" b="1" dirty="0"/>
              <a:t>规程</a:t>
            </a:r>
            <a:r>
              <a:rPr lang="en-US" altLang="zh-CN" b="1" dirty="0"/>
              <a:t>》</a:t>
            </a:r>
            <a:endParaRPr lang="zh-CN" altLang="en-US" b="1" dirty="0"/>
          </a:p>
          <a:p>
            <a:pPr marL="403225" indent="0">
              <a:lnSpc>
                <a:spcPct val="150000"/>
              </a:lnSpc>
              <a:buNone/>
            </a:pPr>
            <a:r>
              <a:rPr lang="en-US" altLang="zh-CN" b="1" dirty="0"/>
              <a:t>5.3.3.2 </a:t>
            </a:r>
            <a:r>
              <a:rPr lang="zh-CN" altLang="en-US" b="1" dirty="0"/>
              <a:t>一次只对一袋血液贴签。</a:t>
            </a:r>
            <a:br>
              <a:rPr lang="zh-CN" altLang="en-US" b="1" dirty="0"/>
            </a:br>
            <a:r>
              <a:rPr lang="en-US" altLang="zh-CN" b="1" dirty="0"/>
              <a:t>5.3.3.3 </a:t>
            </a:r>
            <a:r>
              <a:rPr lang="zh-CN" altLang="en-US" b="1" dirty="0"/>
              <a:t>合格血液或合格血液制备的每一种血液成分只能印制唯一的合格血液标签。该合格血液标签印有唯一的条形码。血液标签的样式应予以存档。</a:t>
            </a:r>
            <a:br>
              <a:rPr lang="zh-CN" altLang="en-US" b="1" dirty="0"/>
            </a:br>
            <a:r>
              <a:rPr lang="en-US" altLang="zh-CN" b="1" dirty="0"/>
              <a:t>5.3.3.10 </a:t>
            </a:r>
            <a:r>
              <a:rPr lang="zh-CN" altLang="en-US" b="1" dirty="0"/>
              <a:t>合格血液标签粘贴于血袋后应再次确认该标签粘贴无误。</a:t>
            </a:r>
            <a:br>
              <a:rPr lang="zh-CN" altLang="en-US" b="1" dirty="0"/>
            </a:br>
            <a:r>
              <a:rPr lang="en-US" altLang="zh-CN" b="1" dirty="0"/>
              <a:t>5.3.3.11 </a:t>
            </a:r>
            <a:r>
              <a:rPr lang="zh-CN" altLang="en-US" b="1" dirty="0"/>
              <a:t>已粘贴合格血液标签的血液才能移入合格品区。</a:t>
            </a:r>
            <a:endParaRPr kumimoji="1" lang="zh-CN" altLang="en-US" b="1" dirty="0"/>
          </a:p>
          <a:p>
            <a:pPr>
              <a:lnSpc>
                <a:spcPct val="150000"/>
              </a:lnSpc>
            </a:pPr>
            <a:r>
              <a:rPr kumimoji="1" lang="zh-CN" altLang="en-US" b="1" dirty="0">
                <a:solidFill>
                  <a:srgbClr val="FFFF00"/>
                </a:solidFill>
              </a:rPr>
              <a:t>在信息系统中实现标签上条码的唯一性，对合格血液实时打印标签及时粘贴，粘贴后需要再次扫描条码确认，确保贴签和条码的准确性。</a:t>
            </a:r>
            <a:endParaRPr kumimoji="1" lang="zh-CN" altLang="en-US"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b="1" dirty="0"/>
              <a:t>合格制品标签</a:t>
            </a:r>
            <a:endParaRPr kumimoji="1" lang="zh-CN" altLang="en-US" b="1" dirty="0"/>
          </a:p>
        </p:txBody>
      </p:sp>
      <p:sp>
        <p:nvSpPr>
          <p:cNvPr id="3" name="内容占位符 2"/>
          <p:cNvSpPr>
            <a:spLocks noGrp="1"/>
          </p:cNvSpPr>
          <p:nvPr>
            <p:ph idx="1"/>
          </p:nvPr>
        </p:nvSpPr>
        <p:spPr>
          <a:xfrm>
            <a:off x="1104265" y="1417955"/>
            <a:ext cx="9982835" cy="4792345"/>
          </a:xfrm>
        </p:spPr>
        <p:txBody>
          <a:bodyPr>
            <a:normAutofit lnSpcReduction="10000"/>
          </a:bodyPr>
          <a:lstStyle/>
          <a:p>
            <a:pPr>
              <a:lnSpc>
                <a:spcPct val="150000"/>
              </a:lnSpc>
            </a:pPr>
            <a:r>
              <a:rPr lang="en-US" altLang="zh-CN" b="1" dirty="0"/>
              <a:t>《</a:t>
            </a:r>
            <a:r>
              <a:rPr lang="zh-CN" altLang="en-US" b="1" dirty="0"/>
              <a:t>规程</a:t>
            </a:r>
            <a:r>
              <a:rPr lang="en-US" altLang="zh-CN" b="1" dirty="0"/>
              <a:t>》</a:t>
            </a:r>
            <a:endParaRPr lang="zh-CN" altLang="en-US" b="1" dirty="0"/>
          </a:p>
          <a:p>
            <a:pPr marL="403225" indent="0">
              <a:lnSpc>
                <a:spcPct val="150000"/>
              </a:lnSpc>
              <a:buNone/>
            </a:pPr>
            <a:r>
              <a:rPr lang="en-US" altLang="zh-CN" b="1" dirty="0"/>
              <a:t>5.3.3.4 需要复制唯一的合格血液标签，应由被授权者确认原先印制的合格血液标签已被销毁。</a:t>
            </a:r>
            <a:endParaRPr lang="en-US" altLang="zh-CN" b="1" dirty="0"/>
          </a:p>
          <a:p>
            <a:pPr marL="403225" indent="0">
              <a:lnSpc>
                <a:spcPct val="150000"/>
              </a:lnSpc>
              <a:buNone/>
            </a:pPr>
            <a:r>
              <a:rPr lang="en-US" altLang="zh-CN" b="1" dirty="0"/>
              <a:t>5.3.3.5 通过唯一的条形码可以追溯到献血者、用血医院以及血液采集、检测、制备、储存、发放等全过程记录。</a:t>
            </a:r>
            <a:endParaRPr lang="en-US" altLang="zh-CN" b="1" dirty="0"/>
          </a:p>
          <a:p>
            <a:pPr marL="403225" indent="0">
              <a:lnSpc>
                <a:spcPct val="150000"/>
              </a:lnSpc>
              <a:buNone/>
            </a:pPr>
            <a:r>
              <a:rPr b="1" dirty="0"/>
              <a:t>5.3.3.12 已经放行进入合格品库的血液，再经制备、分装、转换后，应重新粘贴具有唯一性条形码的合格血液标签，并保证粘贴无误和可追溯性。</a:t>
            </a:r>
            <a:endParaRPr b="1" dirty="0"/>
          </a:p>
          <a:p>
            <a:pPr>
              <a:lnSpc>
                <a:spcPct val="150000"/>
              </a:lnSpc>
            </a:pPr>
            <a:r>
              <a:rPr kumimoji="1" lang="zh-CN" altLang="en-US" b="1" dirty="0">
                <a:solidFill>
                  <a:srgbClr val="FFFF00"/>
                </a:solidFill>
              </a:rPr>
              <a:t>在信息系统中实现标签上条码的唯一性，确保贴签和条码的准确性。</a:t>
            </a:r>
            <a:endParaRPr kumimoji="1" lang="zh-CN" altLang="en-US"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1000"/>
                                        <p:tgtEl>
                                          <p:spTgt spid="3">
                                            <p:txEl>
                                              <p:pRg st="4" end="4"/>
                                            </p:txEl>
                                          </p:spTgt>
                                        </p:tgtEl>
                                      </p:cBhvr>
                                    </p:animEffect>
                                    <p:anim calcmode="lin" valueType="num">
                                      <p:cBhvr>
                                        <p:cTn id="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b="1" dirty="0"/>
              <a:t>质量控制</a:t>
            </a:r>
            <a:endParaRPr kumimoji="1" lang="zh-CN" altLang="en-US" b="1" dirty="0"/>
          </a:p>
        </p:txBody>
      </p:sp>
      <p:sp>
        <p:nvSpPr>
          <p:cNvPr id="3" name="内容占位符 2"/>
          <p:cNvSpPr>
            <a:spLocks noGrp="1"/>
          </p:cNvSpPr>
          <p:nvPr>
            <p:ph idx="1"/>
          </p:nvPr>
        </p:nvSpPr>
        <p:spPr>
          <a:xfrm>
            <a:off x="1104293" y="1417918"/>
            <a:ext cx="9297007" cy="4792382"/>
          </a:xfrm>
        </p:spPr>
        <p:txBody>
          <a:bodyPr>
            <a:normAutofit/>
          </a:bodyPr>
          <a:lstStyle/>
          <a:p>
            <a:pPr>
              <a:lnSpc>
                <a:spcPct val="150000"/>
              </a:lnSpc>
            </a:pPr>
            <a:r>
              <a:rPr lang="en-US" altLang="zh-CN" b="1" dirty="0"/>
              <a:t>《</a:t>
            </a:r>
            <a:r>
              <a:rPr lang="zh-CN" altLang="en-US" b="1" dirty="0"/>
              <a:t>规程</a:t>
            </a:r>
            <a:r>
              <a:rPr lang="en-US" altLang="zh-CN" b="1" dirty="0"/>
              <a:t>》6 </a:t>
            </a:r>
            <a:r>
              <a:rPr lang="zh-CN" altLang="en-US" dirty="0"/>
              <a:t>质量控制 </a:t>
            </a:r>
            <a:endParaRPr lang="zh-CN" altLang="en-US" b="1" dirty="0"/>
          </a:p>
          <a:p>
            <a:pPr marL="393700" indent="0">
              <a:lnSpc>
                <a:spcPct val="150000"/>
              </a:lnSpc>
              <a:buNone/>
            </a:pPr>
            <a:r>
              <a:rPr lang="en-US" altLang="zh-CN" b="1" dirty="0"/>
              <a:t>6.1.1 </a:t>
            </a:r>
            <a:r>
              <a:rPr lang="zh-CN" altLang="en-US" b="1" dirty="0"/>
              <a:t>范围 </a:t>
            </a:r>
            <a:endParaRPr lang="zh-CN" altLang="en-US" b="1" dirty="0"/>
          </a:p>
          <a:p>
            <a:pPr marL="393700" indent="0">
              <a:lnSpc>
                <a:spcPct val="150000"/>
              </a:lnSpc>
              <a:buNone/>
            </a:pPr>
            <a:r>
              <a:rPr lang="zh-CN" altLang="en-US" b="1" dirty="0"/>
              <a:t>质量控制包括全血及血液成分质量检查、关键物料质量检查、关键设备质量检 查和环境卫生质量检查。</a:t>
            </a:r>
            <a:endParaRPr lang="zh-CN" altLang="en-US" b="1" dirty="0"/>
          </a:p>
          <a:p>
            <a:pPr>
              <a:lnSpc>
                <a:spcPct val="150000"/>
              </a:lnSpc>
            </a:pPr>
            <a:r>
              <a:rPr kumimoji="1" lang="zh-CN" altLang="en-US" b="1" dirty="0">
                <a:solidFill>
                  <a:srgbClr val="FFFF00"/>
                </a:solidFill>
              </a:rPr>
              <a:t>在信息系统中实现质量控制和常规质量检查，系统应制定采供血业务各个环节的质量控制规则和血液安全机制，保障血液质量和血液安全。</a:t>
            </a:r>
            <a:endParaRPr kumimoji="1" lang="zh-CN" altLang="en-US" b="1" dirty="0">
              <a:solidFill>
                <a:srgbClr val="FFFF00"/>
              </a:solidFill>
            </a:endParaRPr>
          </a:p>
          <a:p>
            <a:pPr>
              <a:lnSpc>
                <a:spcPct val="150000"/>
              </a:lnSpc>
            </a:pPr>
            <a:r>
              <a:rPr kumimoji="1" lang="zh-CN" altLang="en-US" b="1" dirty="0">
                <a:solidFill>
                  <a:srgbClr val="FFFF00"/>
                </a:solidFill>
                <a:sym typeface="+mn-ea"/>
              </a:rPr>
              <a:t>穿越系统中的</a:t>
            </a:r>
            <a:r>
              <a:rPr kumimoji="1" lang="en-US" altLang="zh-CN" b="1" dirty="0">
                <a:solidFill>
                  <a:srgbClr val="FFFF00"/>
                </a:solidFill>
                <a:sym typeface="+mn-ea"/>
              </a:rPr>
              <a:t>4</a:t>
            </a:r>
            <a:r>
              <a:rPr kumimoji="1" lang="zh-CN" altLang="en-US" b="1" dirty="0">
                <a:solidFill>
                  <a:srgbClr val="FFFF00"/>
                </a:solidFill>
                <a:sym typeface="+mn-ea"/>
              </a:rPr>
              <a:t>个关键环节和</a:t>
            </a:r>
            <a:r>
              <a:rPr kumimoji="1" lang="en-US" altLang="zh-CN" b="1" dirty="0">
                <a:solidFill>
                  <a:srgbClr val="FFFF00"/>
                </a:solidFill>
                <a:sym typeface="+mn-ea"/>
              </a:rPr>
              <a:t>14</a:t>
            </a:r>
            <a:r>
              <a:rPr kumimoji="1" lang="zh-CN" altLang="en-US" b="1" dirty="0">
                <a:solidFill>
                  <a:srgbClr val="FFFF00"/>
                </a:solidFill>
                <a:sym typeface="+mn-ea"/>
              </a:rPr>
              <a:t>种业务管理安全控制等机制</a:t>
            </a:r>
            <a:endParaRPr kumimoji="1" lang="zh-CN" altLang="en-US" b="1" dirty="0">
              <a:solidFill>
                <a:srgbClr val="FFFF00"/>
              </a:solidFill>
              <a:sym typeface="+mn-ea"/>
            </a:endParaRPr>
          </a:p>
        </p:txBody>
      </p:sp>
      <p:pic>
        <p:nvPicPr>
          <p:cNvPr id="4"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8659074" y="4197927"/>
            <a:ext cx="3383702" cy="2547361"/>
          </a:xfrm>
          <a:prstGeom prst="rect">
            <a:avLst/>
          </a:prstGeom>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808080">
                      <a:alpha val="74998"/>
                    </a:srgbClr>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1000"/>
                                        <p:tgtEl>
                                          <p:spTgt spid="3">
                                            <p:txEl>
                                              <p:pRg st="3" end="3"/>
                                            </p:txEl>
                                          </p:spTgt>
                                        </p:tgtEl>
                                      </p:cBhvr>
                                    </p:animEffect>
                                    <p:anim calcmode="lin" valueType="num">
                                      <p:cBhvr>
                                        <p:cTn id="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4" end="4"/>
                                            </p:txEl>
                                          </p:spTgt>
                                        </p:tgtEl>
                                        <p:attrNameLst>
                                          <p:attrName>style.visibility</p:attrName>
                                        </p:attrNameLst>
                                      </p:cBhvr>
                                      <p:to>
                                        <p:strVal val="visible"/>
                                      </p:to>
                                    </p:set>
                                    <p:animEffect transition="in" filter="fade">
                                      <p:cBhvr>
                                        <p:cTn id="14" dur="1000"/>
                                        <p:tgtEl>
                                          <p:spTgt spid="3">
                                            <p:txEl>
                                              <p:pRg st="4" end="4"/>
                                            </p:txEl>
                                          </p:spTgt>
                                        </p:tgtEl>
                                      </p:cBhvr>
                                    </p:animEffect>
                                    <p:anim calcmode="lin" valueType="num">
                                      <p:cBhvr>
                                        <p:cTn id="15"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37"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900" decel="100000" fill="hold"/>
                                        <p:tgtEl>
                                          <p:spTgt spid="4"/>
                                        </p:tgtEl>
                                        <p:attrNameLst>
                                          <p:attrName>ppt_y</p:attrName>
                                        </p:attrNameLst>
                                      </p:cBhvr>
                                      <p:tavLst>
                                        <p:tav tm="0">
                                          <p:val>
                                            <p:strVal val="#ppt_y+1"/>
                                          </p:val>
                                        </p:tav>
                                        <p:tav tm="100000">
                                          <p:val>
                                            <p:strVal val="#ppt_y-.03"/>
                                          </p:val>
                                        </p:tav>
                                      </p:tavLst>
                                    </p:anim>
                                    <p:anim calcmode="lin" valueType="num">
                                      <p:cBhvr>
                                        <p:cTn id="24" dur="100" accel="100000" fill="hold">
                                          <p:stCondLst>
                                            <p:cond delay="900"/>
                                          </p:stCondLst>
                                        </p:cTn>
                                        <p:tgtEl>
                                          <p:spTgt spid="4"/>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46111" y="452718"/>
            <a:ext cx="9404723" cy="900000"/>
          </a:xfrm>
        </p:spPr>
        <p:txBody>
          <a:bodyPr/>
          <a:lstStyle/>
          <a:p>
            <a:r>
              <a:rPr kumimoji="1" lang="zh-CN" altLang="en-US" b="1" dirty="0"/>
              <a:t>小结</a:t>
            </a:r>
            <a:endParaRPr kumimoji="1" lang="zh-CN" altLang="en-US" b="1" dirty="0"/>
          </a:p>
        </p:txBody>
      </p:sp>
      <p:sp>
        <p:nvSpPr>
          <p:cNvPr id="3" name="文本框 2"/>
          <p:cNvSpPr txBox="1"/>
          <p:nvPr/>
        </p:nvSpPr>
        <p:spPr>
          <a:xfrm>
            <a:off x="799465" y="1352550"/>
            <a:ext cx="5681980" cy="534035"/>
          </a:xfrm>
          <a:prstGeom prst="rect">
            <a:avLst/>
          </a:prstGeom>
          <a:noFill/>
        </p:spPr>
        <p:txBody>
          <a:bodyPr wrap="none" rtlCol="0" anchor="t">
            <a:spAutoFit/>
          </a:bodyPr>
          <a:p>
            <a:pPr>
              <a:lnSpc>
                <a:spcPct val="120000"/>
              </a:lnSpc>
              <a:spcBef>
                <a:spcPts val="0"/>
              </a:spcBef>
              <a:spcAft>
                <a:spcPts val="0"/>
              </a:spcAft>
            </a:pPr>
            <a:r>
              <a:rPr kumimoji="1" lang="en-US" altLang="zh-CN" sz="2400" b="1" dirty="0">
                <a:latin typeface="+mj-ea"/>
                <a:sym typeface="+mn-ea"/>
              </a:rPr>
              <a:t>《</a:t>
            </a:r>
            <a:r>
              <a:rPr kumimoji="1" lang="zh-CN" altLang="en-US" sz="2400" b="1" dirty="0">
                <a:latin typeface="+mj-ea"/>
                <a:sym typeface="+mn-ea"/>
              </a:rPr>
              <a:t>血站技术操作规程（</a:t>
            </a:r>
            <a:r>
              <a:rPr kumimoji="1" lang="en-US" altLang="zh-CN" sz="2400" b="1" dirty="0">
                <a:latin typeface="+mj-ea"/>
                <a:sym typeface="+mn-ea"/>
              </a:rPr>
              <a:t>2019</a:t>
            </a:r>
            <a:r>
              <a:rPr kumimoji="1" lang="zh-CN" altLang="en-US" sz="2400" b="1" dirty="0">
                <a:latin typeface="+mj-ea"/>
                <a:sym typeface="+mn-ea"/>
              </a:rPr>
              <a:t>版）</a:t>
            </a:r>
            <a:r>
              <a:rPr kumimoji="1" lang="en-US" altLang="zh-CN" sz="2400" b="1" dirty="0">
                <a:latin typeface="+mj-ea"/>
                <a:sym typeface="+mn-ea"/>
              </a:rPr>
              <a:t>》</a:t>
            </a:r>
            <a:r>
              <a:rPr kumimoji="1" lang="zh-CN" altLang="en-US" sz="2400" b="1" dirty="0">
                <a:latin typeface="+mj-ea"/>
                <a:sym typeface="+mn-ea"/>
              </a:rPr>
              <a:t>包括：</a:t>
            </a:r>
            <a:endParaRPr kumimoji="1" lang="zh-CN" altLang="en-US" sz="2400" b="1" dirty="0">
              <a:latin typeface="+mj-ea"/>
              <a:sym typeface="+mn-ea"/>
            </a:endParaRPr>
          </a:p>
        </p:txBody>
      </p:sp>
      <p:grpSp>
        <p:nvGrpSpPr>
          <p:cNvPr id="9" name="组合 8"/>
          <p:cNvGrpSpPr/>
          <p:nvPr/>
        </p:nvGrpSpPr>
        <p:grpSpPr>
          <a:xfrm>
            <a:off x="3478530" y="2108200"/>
            <a:ext cx="4931410" cy="4469130"/>
            <a:chOff x="5110" y="3320"/>
            <a:chExt cx="7766" cy="7038"/>
          </a:xfrm>
        </p:grpSpPr>
        <p:sp>
          <p:nvSpPr>
            <p:cNvPr id="17" name="矩形 14"/>
            <p:cNvSpPr>
              <a:spLocks noChangeArrowheads="1"/>
            </p:cNvSpPr>
            <p:nvPr/>
          </p:nvSpPr>
          <p:spPr bwMode="auto">
            <a:xfrm>
              <a:off x="5588" y="3345"/>
              <a:ext cx="7287" cy="788"/>
            </a:xfrm>
            <a:prstGeom prst="rect">
              <a:avLst/>
            </a:prstGeom>
            <a:solidFill>
              <a:srgbClr val="D7E4BD"/>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90204" pitchFamily="34" charset="0"/>
                <a:buChar char="•"/>
                <a:defRPr sz="2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9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9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 typeface="Arial" panose="020B0604020202090204" pitchFamily="34" charset="0"/>
                <a:buNone/>
              </a:pPr>
              <a:endParaRPr lang="zh-CN" altLang="en-US" sz="1800">
                <a:solidFill>
                  <a:schemeClr val="bg1"/>
                </a:solidFill>
                <a:latin typeface="Microsoft YaHei" panose="020B0503020204020204" pitchFamily="34" charset="-122"/>
                <a:ea typeface="Microsoft YaHei" panose="020B0503020204020204" pitchFamily="34" charset="-122"/>
              </a:endParaRPr>
            </a:p>
          </p:txBody>
        </p:sp>
        <p:sp>
          <p:nvSpPr>
            <p:cNvPr id="18" name="椭圆 9"/>
            <p:cNvSpPr>
              <a:spLocks noChangeArrowheads="1"/>
            </p:cNvSpPr>
            <p:nvPr/>
          </p:nvSpPr>
          <p:spPr bwMode="auto">
            <a:xfrm>
              <a:off x="5138" y="3320"/>
              <a:ext cx="787" cy="788"/>
            </a:xfrm>
            <a:prstGeom prst="ellipse">
              <a:avLst/>
            </a:prstGeom>
            <a:gradFill rotWithShape="1">
              <a:gsLst>
                <a:gs pos="0">
                  <a:srgbClr val="DAFDA7"/>
                </a:gs>
                <a:gs pos="35001">
                  <a:srgbClr val="E4FDC2"/>
                </a:gs>
                <a:gs pos="100000">
                  <a:srgbClr val="F5FFE6"/>
                </a:gs>
              </a:gsLst>
              <a:lin ang="5400000" scaled="1"/>
            </a:gradFill>
            <a:ln w="9525" cmpd="sng">
              <a:solidFill>
                <a:srgbClr val="98B954"/>
              </a:solidFill>
              <a:round/>
            </a:ln>
            <a:effectLst>
              <a:outerShdw blurRad="63500" dist="20000" dir="5400000" algn="ctr" rotWithShape="0">
                <a:srgbClr val="000000">
                  <a:alpha val="28000"/>
                </a:srgbClr>
              </a:outerShdw>
            </a:effectLst>
          </p:spPr>
          <p:txBody>
            <a:bodyPr anchor="ctr"/>
            <a:lstStyle>
              <a:lvl1pPr eaLnBrk="0" hangingPunct="0">
                <a:defRPr>
                  <a:solidFill>
                    <a:schemeClr val="tx1"/>
                  </a:solidFill>
                  <a:latin typeface="Arial" panose="020B0604020202090204" pitchFamily="34" charset="0"/>
                  <a:ea typeface="宋体" charset="0"/>
                </a:defRPr>
              </a:lvl1pPr>
              <a:lvl2pPr marL="742950" indent="-285750" eaLnBrk="0" hangingPunct="0">
                <a:defRPr>
                  <a:solidFill>
                    <a:schemeClr val="tx1"/>
                  </a:solidFill>
                  <a:latin typeface="Arial" panose="020B0604020202090204" pitchFamily="34" charset="0"/>
                  <a:ea typeface="宋体" charset="0"/>
                </a:defRPr>
              </a:lvl2pPr>
              <a:lvl3pPr marL="1143000" indent="-228600" eaLnBrk="0" hangingPunct="0">
                <a:defRPr>
                  <a:solidFill>
                    <a:schemeClr val="tx1"/>
                  </a:solidFill>
                  <a:latin typeface="Arial" panose="020B0604020202090204" pitchFamily="34" charset="0"/>
                  <a:ea typeface="宋体" charset="0"/>
                </a:defRPr>
              </a:lvl3pPr>
              <a:lvl4pPr marL="1600200" indent="-228600" eaLnBrk="0" hangingPunct="0">
                <a:defRPr>
                  <a:solidFill>
                    <a:schemeClr val="tx1"/>
                  </a:solidFill>
                  <a:latin typeface="Arial" panose="020B0604020202090204" pitchFamily="34" charset="0"/>
                  <a:ea typeface="宋体" charset="0"/>
                </a:defRPr>
              </a:lvl4pPr>
              <a:lvl5pPr marL="2057400" indent="-228600" eaLnBrk="0" hangingPunct="0">
                <a:defRPr>
                  <a:solidFill>
                    <a:schemeClr val="tx1"/>
                  </a:solidFill>
                  <a:latin typeface="Arial" panose="020B0604020202090204" pitchFamily="34" charset="0"/>
                  <a:ea typeface="宋体" charset="0"/>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9pPr>
            </a:lstStyle>
            <a:p>
              <a:pPr algn="ctr" eaLnBrk="1" hangingPunct="1">
                <a:buFont typeface="Arial" panose="020B0604020202090204" pitchFamily="34" charset="0"/>
                <a:buNone/>
                <a:defRPr/>
              </a:pPr>
              <a:r>
                <a:rPr lang="en-US" altLang="zh-CN" sz="2200" b="1">
                  <a:solidFill>
                    <a:schemeClr val="bg1"/>
                  </a:solidFill>
                  <a:latin typeface="Microsoft YaHei" panose="020B0503020204020204" pitchFamily="34" charset="-122"/>
                  <a:ea typeface="Microsoft YaHei" panose="020B0503020204020204" pitchFamily="34" charset="-122"/>
                </a:rPr>
                <a:t>1</a:t>
              </a:r>
              <a:endParaRPr lang="zh-CN" altLang="en-US" sz="2200" b="1">
                <a:solidFill>
                  <a:schemeClr val="bg1"/>
                </a:solidFill>
                <a:latin typeface="Microsoft YaHei" panose="020B0503020204020204" pitchFamily="34" charset="-122"/>
                <a:ea typeface="Microsoft YaHei" panose="020B0503020204020204" pitchFamily="34" charset="-122"/>
              </a:endParaRPr>
            </a:p>
          </p:txBody>
        </p:sp>
        <p:sp>
          <p:nvSpPr>
            <p:cNvPr id="19" name="矩形 15"/>
            <p:cNvSpPr>
              <a:spLocks noChangeArrowheads="1"/>
            </p:cNvSpPr>
            <p:nvPr/>
          </p:nvSpPr>
          <p:spPr bwMode="auto">
            <a:xfrm>
              <a:off x="5588" y="4614"/>
              <a:ext cx="7286" cy="78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90204" pitchFamily="34" charset="0"/>
                <a:buChar char="•"/>
                <a:defRPr sz="2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9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9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 typeface="Arial" panose="020B0604020202090204" pitchFamily="34" charset="0"/>
                <a:buNone/>
              </a:pPr>
              <a:endParaRPr lang="zh-CN" altLang="en-US" sz="1800">
                <a:solidFill>
                  <a:schemeClr val="bg1"/>
                </a:solidFill>
                <a:latin typeface="Microsoft YaHei" panose="020B0503020204020204" pitchFamily="34" charset="-122"/>
                <a:ea typeface="Microsoft YaHei" panose="020B0503020204020204" pitchFamily="34" charset="-122"/>
              </a:endParaRPr>
            </a:p>
          </p:txBody>
        </p:sp>
        <p:sp>
          <p:nvSpPr>
            <p:cNvPr id="20" name="椭圆 10"/>
            <p:cNvSpPr>
              <a:spLocks noChangeArrowheads="1"/>
            </p:cNvSpPr>
            <p:nvPr/>
          </p:nvSpPr>
          <p:spPr bwMode="auto">
            <a:xfrm>
              <a:off x="5138" y="4593"/>
              <a:ext cx="787" cy="785"/>
            </a:xfrm>
            <a:prstGeom prst="ellipse">
              <a:avLst/>
            </a:prstGeom>
            <a:gradFill rotWithShape="1">
              <a:gsLst>
                <a:gs pos="0">
                  <a:srgbClr val="FFFF80"/>
                </a:gs>
                <a:gs pos="50000">
                  <a:srgbClr val="FFFFB3"/>
                </a:gs>
                <a:gs pos="100000">
                  <a:srgbClr val="FFFFDA"/>
                </a:gs>
              </a:gsLst>
              <a:lin ang="5400000" scaled="1"/>
            </a:gradFill>
            <a:ln w="9525" cmpd="sng">
              <a:solidFill>
                <a:srgbClr val="FFFF00"/>
              </a:solidFill>
              <a:round/>
            </a:ln>
            <a:effectLst>
              <a:outerShdw blurRad="63500" dist="20000" dir="5400000" algn="ctr" rotWithShape="0">
                <a:srgbClr val="000000">
                  <a:alpha val="28000"/>
                </a:srgbClr>
              </a:outerShdw>
            </a:effectLst>
          </p:spPr>
          <p:txBody>
            <a:bodyPr anchor="ctr"/>
            <a:lstStyle>
              <a:lvl1pPr eaLnBrk="0" hangingPunct="0">
                <a:defRPr>
                  <a:solidFill>
                    <a:schemeClr val="tx1"/>
                  </a:solidFill>
                  <a:latin typeface="Arial" panose="020B0604020202090204" pitchFamily="34" charset="0"/>
                  <a:ea typeface="宋体" charset="0"/>
                </a:defRPr>
              </a:lvl1pPr>
              <a:lvl2pPr marL="742950" indent="-285750" eaLnBrk="0" hangingPunct="0">
                <a:defRPr>
                  <a:solidFill>
                    <a:schemeClr val="tx1"/>
                  </a:solidFill>
                  <a:latin typeface="Arial" panose="020B0604020202090204" pitchFamily="34" charset="0"/>
                  <a:ea typeface="宋体" charset="0"/>
                </a:defRPr>
              </a:lvl2pPr>
              <a:lvl3pPr marL="1143000" indent="-228600" eaLnBrk="0" hangingPunct="0">
                <a:defRPr>
                  <a:solidFill>
                    <a:schemeClr val="tx1"/>
                  </a:solidFill>
                  <a:latin typeface="Arial" panose="020B0604020202090204" pitchFamily="34" charset="0"/>
                  <a:ea typeface="宋体" charset="0"/>
                </a:defRPr>
              </a:lvl3pPr>
              <a:lvl4pPr marL="1600200" indent="-228600" eaLnBrk="0" hangingPunct="0">
                <a:defRPr>
                  <a:solidFill>
                    <a:schemeClr val="tx1"/>
                  </a:solidFill>
                  <a:latin typeface="Arial" panose="020B0604020202090204" pitchFamily="34" charset="0"/>
                  <a:ea typeface="宋体" charset="0"/>
                </a:defRPr>
              </a:lvl4pPr>
              <a:lvl5pPr marL="2057400" indent="-228600" eaLnBrk="0" hangingPunct="0">
                <a:defRPr>
                  <a:solidFill>
                    <a:schemeClr val="tx1"/>
                  </a:solidFill>
                  <a:latin typeface="Arial" panose="020B0604020202090204" pitchFamily="34" charset="0"/>
                  <a:ea typeface="宋体" charset="0"/>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9pPr>
            </a:lstStyle>
            <a:p>
              <a:pPr algn="ctr" eaLnBrk="1" hangingPunct="1">
                <a:buFont typeface="Arial" panose="020B0604020202090204" pitchFamily="34" charset="0"/>
                <a:buNone/>
                <a:defRPr/>
              </a:pPr>
              <a:r>
                <a:rPr lang="en-US" altLang="zh-CN" sz="2200" b="1">
                  <a:solidFill>
                    <a:schemeClr val="bg1"/>
                  </a:solidFill>
                  <a:latin typeface="Microsoft YaHei" panose="020B0503020204020204" pitchFamily="34" charset="-122"/>
                  <a:ea typeface="Microsoft YaHei" panose="020B0503020204020204" pitchFamily="34" charset="-122"/>
                </a:rPr>
                <a:t>2</a:t>
              </a:r>
              <a:endParaRPr lang="zh-CN" altLang="en-US" sz="2200" b="1">
                <a:solidFill>
                  <a:schemeClr val="bg1"/>
                </a:solidFill>
                <a:latin typeface="Microsoft YaHei" panose="020B0503020204020204" pitchFamily="34" charset="-122"/>
                <a:ea typeface="Microsoft YaHei" panose="020B0503020204020204" pitchFamily="34" charset="-122"/>
              </a:endParaRPr>
            </a:p>
          </p:txBody>
        </p:sp>
        <p:sp>
          <p:nvSpPr>
            <p:cNvPr id="21" name="矩形 16"/>
            <p:cNvSpPr>
              <a:spLocks noChangeArrowheads="1"/>
            </p:cNvSpPr>
            <p:nvPr/>
          </p:nvSpPr>
          <p:spPr bwMode="auto">
            <a:xfrm>
              <a:off x="5560" y="5856"/>
              <a:ext cx="7314" cy="790"/>
            </a:xfrm>
            <a:prstGeom prst="rect">
              <a:avLst/>
            </a:prstGeom>
            <a:solidFill>
              <a:srgbClr val="F2DCDB"/>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90204" pitchFamily="34" charset="0"/>
                <a:buChar char="•"/>
                <a:defRPr sz="2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9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9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 typeface="Arial" panose="020B0604020202090204" pitchFamily="34" charset="0"/>
                <a:buNone/>
              </a:pPr>
              <a:endParaRPr lang="zh-CN" altLang="en-US" sz="1800">
                <a:solidFill>
                  <a:schemeClr val="bg1"/>
                </a:solidFill>
                <a:latin typeface="Microsoft YaHei" panose="020B0503020204020204" pitchFamily="34" charset="-122"/>
                <a:ea typeface="Microsoft YaHei" panose="020B0503020204020204" pitchFamily="34" charset="-122"/>
              </a:endParaRPr>
            </a:p>
          </p:txBody>
        </p:sp>
        <p:sp>
          <p:nvSpPr>
            <p:cNvPr id="22" name="椭圆 11"/>
            <p:cNvSpPr>
              <a:spLocks noChangeArrowheads="1"/>
            </p:cNvSpPr>
            <p:nvPr/>
          </p:nvSpPr>
          <p:spPr bwMode="auto">
            <a:xfrm>
              <a:off x="5110" y="5840"/>
              <a:ext cx="788" cy="785"/>
            </a:xfrm>
            <a:prstGeom prst="ellipse">
              <a:avLst/>
            </a:prstGeom>
            <a:gradFill rotWithShape="1">
              <a:gsLst>
                <a:gs pos="0">
                  <a:srgbClr val="FFA2A1"/>
                </a:gs>
                <a:gs pos="35001">
                  <a:srgbClr val="FFBEBD"/>
                </a:gs>
                <a:gs pos="100000">
                  <a:srgbClr val="FFE5E5"/>
                </a:gs>
              </a:gsLst>
              <a:lin ang="5400000" scaled="1"/>
            </a:gradFill>
            <a:ln w="9525" cmpd="sng">
              <a:solidFill>
                <a:srgbClr val="BE4B48"/>
              </a:solidFill>
              <a:round/>
            </a:ln>
            <a:effectLst>
              <a:outerShdw blurRad="63500" dist="20000" dir="5400000" algn="ctr" rotWithShape="0">
                <a:srgbClr val="000000">
                  <a:alpha val="28000"/>
                </a:srgbClr>
              </a:outerShdw>
            </a:effectLst>
          </p:spPr>
          <p:txBody>
            <a:bodyPr anchor="ctr"/>
            <a:lstStyle>
              <a:lvl1pPr eaLnBrk="0" hangingPunct="0">
                <a:defRPr>
                  <a:solidFill>
                    <a:schemeClr val="tx1"/>
                  </a:solidFill>
                  <a:latin typeface="Arial" panose="020B0604020202090204" pitchFamily="34" charset="0"/>
                  <a:ea typeface="宋体" charset="0"/>
                </a:defRPr>
              </a:lvl1pPr>
              <a:lvl2pPr marL="742950" indent="-285750" eaLnBrk="0" hangingPunct="0">
                <a:defRPr>
                  <a:solidFill>
                    <a:schemeClr val="tx1"/>
                  </a:solidFill>
                  <a:latin typeface="Arial" panose="020B0604020202090204" pitchFamily="34" charset="0"/>
                  <a:ea typeface="宋体" charset="0"/>
                </a:defRPr>
              </a:lvl2pPr>
              <a:lvl3pPr marL="1143000" indent="-228600" eaLnBrk="0" hangingPunct="0">
                <a:defRPr>
                  <a:solidFill>
                    <a:schemeClr val="tx1"/>
                  </a:solidFill>
                  <a:latin typeface="Arial" panose="020B0604020202090204" pitchFamily="34" charset="0"/>
                  <a:ea typeface="宋体" charset="0"/>
                </a:defRPr>
              </a:lvl3pPr>
              <a:lvl4pPr marL="1600200" indent="-228600" eaLnBrk="0" hangingPunct="0">
                <a:defRPr>
                  <a:solidFill>
                    <a:schemeClr val="tx1"/>
                  </a:solidFill>
                  <a:latin typeface="Arial" panose="020B0604020202090204" pitchFamily="34" charset="0"/>
                  <a:ea typeface="宋体" charset="0"/>
                </a:defRPr>
              </a:lvl4pPr>
              <a:lvl5pPr marL="2057400" indent="-228600" eaLnBrk="0" hangingPunct="0">
                <a:defRPr>
                  <a:solidFill>
                    <a:schemeClr val="tx1"/>
                  </a:solidFill>
                  <a:latin typeface="Arial" panose="020B0604020202090204" pitchFamily="34" charset="0"/>
                  <a:ea typeface="宋体" charset="0"/>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9pPr>
            </a:lstStyle>
            <a:p>
              <a:pPr algn="ctr" eaLnBrk="1" hangingPunct="1">
                <a:buFont typeface="Arial" panose="020B0604020202090204" pitchFamily="34" charset="0"/>
                <a:buNone/>
                <a:defRPr/>
              </a:pPr>
              <a:r>
                <a:rPr lang="en-US" altLang="zh-CN" sz="2200" b="1">
                  <a:solidFill>
                    <a:schemeClr val="bg1"/>
                  </a:solidFill>
                  <a:latin typeface="Microsoft YaHei" panose="020B0503020204020204" pitchFamily="34" charset="-122"/>
                  <a:ea typeface="Microsoft YaHei" panose="020B0503020204020204" pitchFamily="34" charset="-122"/>
                </a:rPr>
                <a:t>3</a:t>
              </a:r>
              <a:endParaRPr lang="zh-CN" altLang="en-US" sz="2200" b="1">
                <a:solidFill>
                  <a:schemeClr val="bg1"/>
                </a:solidFill>
                <a:latin typeface="Microsoft YaHei" panose="020B0503020204020204" pitchFamily="34" charset="-122"/>
                <a:ea typeface="Microsoft YaHei" panose="020B0503020204020204" pitchFamily="34" charset="-122"/>
              </a:endParaRPr>
            </a:p>
          </p:txBody>
        </p:sp>
        <p:sp>
          <p:nvSpPr>
            <p:cNvPr id="23" name="矩形 17"/>
            <p:cNvSpPr>
              <a:spLocks noChangeArrowheads="1"/>
            </p:cNvSpPr>
            <p:nvPr/>
          </p:nvSpPr>
          <p:spPr bwMode="auto">
            <a:xfrm>
              <a:off x="5588" y="7098"/>
              <a:ext cx="7286" cy="791"/>
            </a:xfrm>
            <a:prstGeom prst="rect">
              <a:avLst/>
            </a:prstGeom>
            <a:solidFill>
              <a:srgbClr val="DBEEF4"/>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90204" pitchFamily="34" charset="0"/>
                <a:buChar char="•"/>
                <a:defRPr sz="2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9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9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 typeface="Arial" panose="020B0604020202090204" pitchFamily="34" charset="0"/>
                <a:buNone/>
              </a:pPr>
              <a:endParaRPr lang="zh-CN" altLang="en-US" sz="1800">
                <a:solidFill>
                  <a:schemeClr val="bg1"/>
                </a:solidFill>
                <a:latin typeface="Microsoft YaHei" panose="020B0503020204020204" pitchFamily="34" charset="-122"/>
                <a:ea typeface="Microsoft YaHei" panose="020B0503020204020204" pitchFamily="34" charset="-122"/>
              </a:endParaRPr>
            </a:p>
          </p:txBody>
        </p:sp>
        <p:sp>
          <p:nvSpPr>
            <p:cNvPr id="24" name="椭圆 12"/>
            <p:cNvSpPr>
              <a:spLocks noChangeArrowheads="1"/>
            </p:cNvSpPr>
            <p:nvPr/>
          </p:nvSpPr>
          <p:spPr bwMode="auto">
            <a:xfrm>
              <a:off x="5138" y="7082"/>
              <a:ext cx="787" cy="788"/>
            </a:xfrm>
            <a:prstGeom prst="ellipse">
              <a:avLst/>
            </a:prstGeom>
            <a:gradFill rotWithShape="1">
              <a:gsLst>
                <a:gs pos="0">
                  <a:srgbClr val="A3C4FF"/>
                </a:gs>
                <a:gs pos="35001">
                  <a:srgbClr val="BFD5FF"/>
                </a:gs>
                <a:gs pos="100000">
                  <a:srgbClr val="E5EEFF"/>
                </a:gs>
              </a:gsLst>
              <a:lin ang="5400000" scaled="1"/>
            </a:gradFill>
            <a:ln w="9525" cmpd="sng">
              <a:solidFill>
                <a:srgbClr val="4A7EBB"/>
              </a:solidFill>
              <a:round/>
            </a:ln>
            <a:effectLst>
              <a:outerShdw blurRad="63500" dist="20000" dir="5400000" algn="ctr" rotWithShape="0">
                <a:srgbClr val="000000">
                  <a:alpha val="28000"/>
                </a:srgbClr>
              </a:outerShdw>
            </a:effectLst>
          </p:spPr>
          <p:txBody>
            <a:bodyPr anchor="ctr"/>
            <a:lstStyle>
              <a:lvl1pPr eaLnBrk="0" hangingPunct="0">
                <a:defRPr>
                  <a:solidFill>
                    <a:schemeClr val="tx1"/>
                  </a:solidFill>
                  <a:latin typeface="Arial" panose="020B0604020202090204" pitchFamily="34" charset="0"/>
                  <a:ea typeface="宋体" charset="0"/>
                </a:defRPr>
              </a:lvl1pPr>
              <a:lvl2pPr marL="742950" indent="-285750" eaLnBrk="0" hangingPunct="0">
                <a:defRPr>
                  <a:solidFill>
                    <a:schemeClr val="tx1"/>
                  </a:solidFill>
                  <a:latin typeface="Arial" panose="020B0604020202090204" pitchFamily="34" charset="0"/>
                  <a:ea typeface="宋体" charset="0"/>
                </a:defRPr>
              </a:lvl2pPr>
              <a:lvl3pPr marL="1143000" indent="-228600" eaLnBrk="0" hangingPunct="0">
                <a:defRPr>
                  <a:solidFill>
                    <a:schemeClr val="tx1"/>
                  </a:solidFill>
                  <a:latin typeface="Arial" panose="020B0604020202090204" pitchFamily="34" charset="0"/>
                  <a:ea typeface="宋体" charset="0"/>
                </a:defRPr>
              </a:lvl3pPr>
              <a:lvl4pPr marL="1600200" indent="-228600" eaLnBrk="0" hangingPunct="0">
                <a:defRPr>
                  <a:solidFill>
                    <a:schemeClr val="tx1"/>
                  </a:solidFill>
                  <a:latin typeface="Arial" panose="020B0604020202090204" pitchFamily="34" charset="0"/>
                  <a:ea typeface="宋体" charset="0"/>
                </a:defRPr>
              </a:lvl4pPr>
              <a:lvl5pPr marL="2057400" indent="-228600" eaLnBrk="0" hangingPunct="0">
                <a:defRPr>
                  <a:solidFill>
                    <a:schemeClr val="tx1"/>
                  </a:solidFill>
                  <a:latin typeface="Arial" panose="020B0604020202090204" pitchFamily="34" charset="0"/>
                  <a:ea typeface="宋体" charset="0"/>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9pPr>
            </a:lstStyle>
            <a:p>
              <a:pPr algn="ctr" eaLnBrk="1" hangingPunct="1">
                <a:buFont typeface="Arial" panose="020B0604020202090204" pitchFamily="34" charset="0"/>
                <a:buNone/>
                <a:defRPr/>
              </a:pPr>
              <a:r>
                <a:rPr lang="en-US" altLang="zh-CN" sz="2200" b="1">
                  <a:solidFill>
                    <a:schemeClr val="bg1"/>
                  </a:solidFill>
                  <a:latin typeface="Microsoft YaHei" panose="020B0503020204020204" pitchFamily="34" charset="-122"/>
                  <a:ea typeface="Microsoft YaHei" panose="020B0503020204020204" pitchFamily="34" charset="-122"/>
                </a:rPr>
                <a:t>4</a:t>
              </a:r>
              <a:endParaRPr lang="zh-CN" altLang="en-US" sz="2200" b="1">
                <a:solidFill>
                  <a:schemeClr val="bg1"/>
                </a:solidFill>
                <a:latin typeface="Microsoft YaHei" panose="020B0503020204020204" pitchFamily="34" charset="-122"/>
                <a:ea typeface="Microsoft YaHei" panose="020B0503020204020204" pitchFamily="34" charset="-122"/>
              </a:endParaRPr>
            </a:p>
          </p:txBody>
        </p:sp>
        <p:sp>
          <p:nvSpPr>
            <p:cNvPr id="25" name="矩形 14"/>
            <p:cNvSpPr>
              <a:spLocks noChangeArrowheads="1"/>
            </p:cNvSpPr>
            <p:nvPr/>
          </p:nvSpPr>
          <p:spPr bwMode="auto">
            <a:xfrm>
              <a:off x="5588" y="8355"/>
              <a:ext cx="7286" cy="788"/>
            </a:xfrm>
            <a:prstGeom prst="rect">
              <a:avLst/>
            </a:prstGeom>
            <a:solidFill>
              <a:srgbClr val="D7E4BD"/>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nchor="ctr"/>
            <a:lstStyle>
              <a:lvl1pPr eaLnBrk="0" hangingPunct="0">
                <a:defRPr>
                  <a:solidFill>
                    <a:schemeClr val="tx1"/>
                  </a:solidFill>
                  <a:latin typeface="Arial" panose="020B0604020202090204" pitchFamily="34" charset="0"/>
                  <a:ea typeface="宋体" charset="0"/>
                </a:defRPr>
              </a:lvl1pPr>
              <a:lvl2pPr marL="742950" indent="-285750" eaLnBrk="0" hangingPunct="0">
                <a:defRPr>
                  <a:solidFill>
                    <a:schemeClr val="tx1"/>
                  </a:solidFill>
                  <a:latin typeface="Arial" panose="020B0604020202090204" pitchFamily="34" charset="0"/>
                  <a:ea typeface="宋体" charset="0"/>
                </a:defRPr>
              </a:lvl2pPr>
              <a:lvl3pPr marL="1143000" indent="-228600" eaLnBrk="0" hangingPunct="0">
                <a:defRPr>
                  <a:solidFill>
                    <a:schemeClr val="tx1"/>
                  </a:solidFill>
                  <a:latin typeface="Arial" panose="020B0604020202090204" pitchFamily="34" charset="0"/>
                  <a:ea typeface="宋体" charset="0"/>
                </a:defRPr>
              </a:lvl3pPr>
              <a:lvl4pPr marL="1600200" indent="-228600" eaLnBrk="0" hangingPunct="0">
                <a:defRPr>
                  <a:solidFill>
                    <a:schemeClr val="tx1"/>
                  </a:solidFill>
                  <a:latin typeface="Arial" panose="020B0604020202090204" pitchFamily="34" charset="0"/>
                  <a:ea typeface="宋体" charset="0"/>
                </a:defRPr>
              </a:lvl4pPr>
              <a:lvl5pPr marL="2057400" indent="-228600" eaLnBrk="0" hangingPunct="0">
                <a:defRPr>
                  <a:solidFill>
                    <a:schemeClr val="tx1"/>
                  </a:solidFill>
                  <a:latin typeface="Arial" panose="020B0604020202090204" pitchFamily="34" charset="0"/>
                  <a:ea typeface="宋体" charset="0"/>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9pPr>
            </a:lstStyle>
            <a:p>
              <a:pPr algn="ctr" eaLnBrk="1" hangingPunct="1">
                <a:buFont typeface="Arial" panose="020B0604020202090204" pitchFamily="34" charset="0"/>
                <a:buNone/>
                <a:defRPr/>
              </a:pPr>
              <a:endParaRPr lang="zh-CN" altLang="en-US">
                <a:solidFill>
                  <a:schemeClr val="bg1"/>
                </a:solidFill>
                <a:latin typeface="Microsoft YaHei" panose="020B0503020204020204" pitchFamily="34" charset="-122"/>
                <a:ea typeface="Microsoft YaHei" panose="020B0503020204020204" pitchFamily="34" charset="-122"/>
              </a:endParaRPr>
            </a:p>
          </p:txBody>
        </p:sp>
        <p:sp>
          <p:nvSpPr>
            <p:cNvPr id="26" name="椭圆 9"/>
            <p:cNvSpPr>
              <a:spLocks noChangeArrowheads="1"/>
            </p:cNvSpPr>
            <p:nvPr/>
          </p:nvSpPr>
          <p:spPr bwMode="auto">
            <a:xfrm>
              <a:off x="5138" y="8330"/>
              <a:ext cx="787" cy="788"/>
            </a:xfrm>
            <a:prstGeom prst="ellipse">
              <a:avLst/>
            </a:prstGeom>
            <a:gradFill rotWithShape="1">
              <a:gsLst>
                <a:gs pos="0">
                  <a:srgbClr val="DAFDA7"/>
                </a:gs>
                <a:gs pos="35001">
                  <a:srgbClr val="E4FDC2"/>
                </a:gs>
                <a:gs pos="100000">
                  <a:srgbClr val="F5FFE6"/>
                </a:gs>
              </a:gsLst>
              <a:lin ang="5400000" scaled="1"/>
            </a:gradFill>
            <a:ln w="9525" cmpd="sng">
              <a:solidFill>
                <a:srgbClr val="98B954"/>
              </a:solidFill>
              <a:round/>
            </a:ln>
            <a:effectLst>
              <a:outerShdw blurRad="63500" dist="20000" dir="5400000" algn="ctr" rotWithShape="0">
                <a:srgbClr val="000000">
                  <a:alpha val="28000"/>
                </a:srgbClr>
              </a:outerShdw>
            </a:effectLst>
          </p:spPr>
          <p:txBody>
            <a:bodyPr anchor="ctr"/>
            <a:lstStyle>
              <a:lvl1pPr>
                <a:spcBef>
                  <a:spcPct val="20000"/>
                </a:spcBef>
                <a:buFont typeface="Arial" panose="020B0604020202090204" pitchFamily="34" charset="0"/>
                <a:buChar char="•"/>
                <a:defRPr sz="2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9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9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 typeface="Arial" panose="020B0604020202090204" pitchFamily="34" charset="0"/>
                <a:buNone/>
              </a:pPr>
              <a:r>
                <a:rPr lang="zh-CN" altLang="en-US" b="1">
                  <a:solidFill>
                    <a:schemeClr val="bg1"/>
                  </a:solidFill>
                  <a:latin typeface="Microsoft YaHei" panose="020B0503020204020204" pitchFamily="34" charset="-122"/>
                  <a:ea typeface="Microsoft YaHei" panose="020B0503020204020204" pitchFamily="34" charset="-122"/>
                </a:rPr>
                <a:t>5</a:t>
              </a:r>
              <a:endParaRPr lang="zh-CN" altLang="en-US" b="1">
                <a:solidFill>
                  <a:schemeClr val="bg1"/>
                </a:solidFill>
                <a:latin typeface="Microsoft YaHei" panose="020B0503020204020204" pitchFamily="34" charset="-122"/>
                <a:ea typeface="Microsoft YaHei" panose="020B0503020204020204" pitchFamily="34" charset="-122"/>
              </a:endParaRPr>
            </a:p>
          </p:txBody>
        </p:sp>
        <p:sp>
          <p:nvSpPr>
            <p:cNvPr id="31" name="Text Box 18"/>
            <p:cNvSpPr txBox="1">
              <a:spLocks noChangeArrowheads="1"/>
            </p:cNvSpPr>
            <p:nvPr/>
          </p:nvSpPr>
          <p:spPr bwMode="auto">
            <a:xfrm>
              <a:off x="6155" y="4634"/>
              <a:ext cx="2208" cy="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90204" pitchFamily="34" charset="0"/>
                <a:buChar char="•"/>
                <a:defRPr sz="2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9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9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9pPr>
            </a:lstStyle>
            <a:p>
              <a:pPr algn="l" eaLnBrk="1" hangingPunct="1">
                <a:spcBef>
                  <a:spcPct val="0"/>
                </a:spcBef>
                <a:buFont typeface="Arial" panose="020B0604020202090204" pitchFamily="34" charset="0"/>
                <a:buNone/>
              </a:pPr>
              <a:r>
                <a:rPr lang="zh-CN" altLang="en-US" sz="2400">
                  <a:solidFill>
                    <a:schemeClr val="bg1"/>
                  </a:solidFill>
                  <a:latin typeface="Microsoft YaHei" panose="020B0503020204020204" pitchFamily="34" charset="-122"/>
                  <a:ea typeface="Microsoft YaHei" panose="020B0503020204020204" pitchFamily="34" charset="-122"/>
                </a:rPr>
                <a:t>血液采集</a:t>
              </a:r>
              <a:endParaRPr lang="zh-CN" altLang="en-US" sz="2400">
                <a:solidFill>
                  <a:schemeClr val="bg1"/>
                </a:solidFill>
                <a:latin typeface="Microsoft YaHei" panose="020B0503020204020204" pitchFamily="34" charset="-122"/>
                <a:ea typeface="Microsoft YaHei" panose="020B0503020204020204" pitchFamily="34" charset="-122"/>
              </a:endParaRPr>
            </a:p>
          </p:txBody>
        </p:sp>
        <p:sp>
          <p:nvSpPr>
            <p:cNvPr id="33" name="Text Box 20"/>
            <p:cNvSpPr txBox="1">
              <a:spLocks noChangeArrowheads="1"/>
            </p:cNvSpPr>
            <p:nvPr/>
          </p:nvSpPr>
          <p:spPr bwMode="auto">
            <a:xfrm>
              <a:off x="6155" y="8448"/>
              <a:ext cx="5088" cy="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lvl1pPr eaLnBrk="0" hangingPunct="0">
                <a:defRPr>
                  <a:solidFill>
                    <a:schemeClr val="tx1"/>
                  </a:solidFill>
                  <a:latin typeface="Arial" panose="020B0604020202090204" pitchFamily="34" charset="0"/>
                  <a:ea typeface="宋体" charset="0"/>
                </a:defRPr>
              </a:lvl1pPr>
              <a:lvl2pPr marL="742950" indent="-285750" eaLnBrk="0" hangingPunct="0">
                <a:defRPr>
                  <a:solidFill>
                    <a:schemeClr val="tx1"/>
                  </a:solidFill>
                  <a:latin typeface="Arial" panose="020B0604020202090204" pitchFamily="34" charset="0"/>
                  <a:ea typeface="宋体" charset="0"/>
                </a:defRPr>
              </a:lvl2pPr>
              <a:lvl3pPr marL="1143000" indent="-228600" eaLnBrk="0" hangingPunct="0">
                <a:defRPr>
                  <a:solidFill>
                    <a:schemeClr val="tx1"/>
                  </a:solidFill>
                  <a:latin typeface="Arial" panose="020B0604020202090204" pitchFamily="34" charset="0"/>
                  <a:ea typeface="宋体" charset="0"/>
                </a:defRPr>
              </a:lvl3pPr>
              <a:lvl4pPr marL="1600200" indent="-228600" eaLnBrk="0" hangingPunct="0">
                <a:defRPr>
                  <a:solidFill>
                    <a:schemeClr val="tx1"/>
                  </a:solidFill>
                  <a:latin typeface="Arial" panose="020B0604020202090204" pitchFamily="34" charset="0"/>
                  <a:ea typeface="宋体" charset="0"/>
                </a:defRPr>
              </a:lvl4pPr>
              <a:lvl5pPr marL="2057400" indent="-228600" eaLnBrk="0" hangingPunct="0">
                <a:defRPr>
                  <a:solidFill>
                    <a:schemeClr val="tx1"/>
                  </a:solidFill>
                  <a:latin typeface="Arial" panose="020B0604020202090204" pitchFamily="34" charset="0"/>
                  <a:ea typeface="宋体" charset="0"/>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9pPr>
            </a:lstStyle>
            <a:p>
              <a:pPr algn="l" eaLnBrk="1" hangingPunct="1">
                <a:buFont typeface="Arial" panose="020B0604020202090204" pitchFamily="34" charset="0"/>
                <a:buNone/>
                <a:defRPr/>
              </a:pPr>
              <a:r>
                <a:rPr lang="zh-CN" altLang="zh-CN" sz="2400">
                  <a:solidFill>
                    <a:schemeClr val="bg1"/>
                  </a:solidFill>
                  <a:latin typeface="Microsoft YaHei" panose="020B0503020204020204" pitchFamily="34" charset="-122"/>
                  <a:ea typeface="Microsoft YaHei" panose="020B0503020204020204" pitchFamily="34" charset="-122"/>
                </a:rPr>
                <a:t>血液储存、发放与运输</a:t>
              </a:r>
              <a:endParaRPr lang="zh-CN" altLang="zh-CN" sz="2400">
                <a:solidFill>
                  <a:schemeClr val="bg1"/>
                </a:solidFill>
                <a:latin typeface="Microsoft YaHei" panose="020B0503020204020204" pitchFamily="34" charset="-122"/>
                <a:ea typeface="Microsoft YaHei" panose="020B0503020204020204" pitchFamily="34" charset="-122"/>
              </a:endParaRPr>
            </a:p>
          </p:txBody>
        </p:sp>
        <p:sp>
          <p:nvSpPr>
            <p:cNvPr id="34" name="Text Box 21"/>
            <p:cNvSpPr txBox="1">
              <a:spLocks noChangeArrowheads="1"/>
            </p:cNvSpPr>
            <p:nvPr/>
          </p:nvSpPr>
          <p:spPr bwMode="auto">
            <a:xfrm>
              <a:off x="6155" y="3367"/>
              <a:ext cx="3648" cy="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90204" pitchFamily="34" charset="0"/>
                <a:buChar char="•"/>
                <a:defRPr sz="2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9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9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9pPr>
            </a:lstStyle>
            <a:p>
              <a:pPr algn="l" eaLnBrk="1" hangingPunct="1">
                <a:spcBef>
                  <a:spcPct val="0"/>
                </a:spcBef>
                <a:buFont typeface="Arial" panose="020B0604020202090204" pitchFamily="34" charset="0"/>
                <a:buNone/>
              </a:pPr>
              <a:r>
                <a:rPr lang="zh-CN" altLang="zh-CN" sz="2400" dirty="0">
                  <a:solidFill>
                    <a:schemeClr val="bg1"/>
                  </a:solidFill>
                  <a:latin typeface="Microsoft YaHei" panose="020B0503020204020204" pitchFamily="34" charset="-122"/>
                  <a:ea typeface="Microsoft YaHei" panose="020B0503020204020204" pitchFamily="34" charset="-122"/>
                </a:rPr>
                <a:t>献血者健康检查</a:t>
              </a:r>
              <a:endParaRPr lang="zh-CN" altLang="zh-CN" sz="2400" dirty="0">
                <a:solidFill>
                  <a:schemeClr val="bg1"/>
                </a:solidFill>
                <a:latin typeface="Microsoft YaHei" panose="020B0503020204020204" pitchFamily="34" charset="-122"/>
                <a:ea typeface="Microsoft YaHei" panose="020B0503020204020204" pitchFamily="34" charset="-122"/>
              </a:endParaRPr>
            </a:p>
          </p:txBody>
        </p:sp>
        <p:sp>
          <p:nvSpPr>
            <p:cNvPr id="35" name="Text Box 22"/>
            <p:cNvSpPr txBox="1">
              <a:spLocks noChangeArrowheads="1"/>
            </p:cNvSpPr>
            <p:nvPr/>
          </p:nvSpPr>
          <p:spPr bwMode="auto">
            <a:xfrm>
              <a:off x="6155" y="5913"/>
              <a:ext cx="3168" cy="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90204" pitchFamily="34" charset="0"/>
                <a:buChar char="•"/>
                <a:defRPr sz="2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9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9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9pPr>
            </a:lstStyle>
            <a:p>
              <a:pPr algn="l" eaLnBrk="1" hangingPunct="1">
                <a:spcBef>
                  <a:spcPct val="0"/>
                </a:spcBef>
                <a:buFont typeface="Arial" panose="020B0604020202090204" pitchFamily="34" charset="0"/>
                <a:buNone/>
              </a:pPr>
              <a:r>
                <a:rPr lang="zh-CN" altLang="zh-CN" sz="2400">
                  <a:solidFill>
                    <a:schemeClr val="bg1"/>
                  </a:solidFill>
                  <a:latin typeface="Microsoft YaHei" panose="020B0503020204020204" pitchFamily="34" charset="-122"/>
                  <a:ea typeface="Microsoft YaHei" panose="020B0503020204020204" pitchFamily="34" charset="-122"/>
                </a:rPr>
                <a:t>血液成分制备</a:t>
              </a:r>
              <a:endParaRPr lang="zh-CN" altLang="zh-CN" sz="2400">
                <a:solidFill>
                  <a:schemeClr val="bg1"/>
                </a:solidFill>
                <a:latin typeface="Microsoft YaHei" panose="020B0503020204020204" pitchFamily="34" charset="-122"/>
                <a:ea typeface="Microsoft YaHei" panose="020B0503020204020204" pitchFamily="34" charset="-122"/>
              </a:endParaRPr>
            </a:p>
          </p:txBody>
        </p:sp>
        <p:sp>
          <p:nvSpPr>
            <p:cNvPr id="36" name="Text Box 23"/>
            <p:cNvSpPr txBox="1">
              <a:spLocks noChangeArrowheads="1"/>
            </p:cNvSpPr>
            <p:nvPr/>
          </p:nvSpPr>
          <p:spPr bwMode="auto">
            <a:xfrm>
              <a:off x="6155" y="7200"/>
              <a:ext cx="2208" cy="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90204" pitchFamily="34" charset="0"/>
                <a:buChar char="•"/>
                <a:defRPr sz="2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9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9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9pPr>
            </a:lstStyle>
            <a:p>
              <a:pPr algn="l" eaLnBrk="1" hangingPunct="1">
                <a:spcBef>
                  <a:spcPct val="0"/>
                </a:spcBef>
                <a:buFont typeface="Arial" panose="020B0604020202090204" pitchFamily="34" charset="0"/>
                <a:buNone/>
              </a:pPr>
              <a:r>
                <a:rPr lang="zh-CN" altLang="zh-CN" sz="2400">
                  <a:solidFill>
                    <a:schemeClr val="bg1"/>
                  </a:solidFill>
                  <a:latin typeface="Microsoft YaHei" panose="020B0503020204020204" pitchFamily="34" charset="-122"/>
                  <a:ea typeface="Microsoft YaHei" panose="020B0503020204020204" pitchFamily="34" charset="-122"/>
                </a:rPr>
                <a:t>血液检测</a:t>
              </a:r>
              <a:endParaRPr lang="zh-CN" altLang="zh-CN" sz="2400">
                <a:solidFill>
                  <a:schemeClr val="bg1"/>
                </a:solidFill>
                <a:latin typeface="Microsoft YaHei" panose="020B0503020204020204" pitchFamily="34" charset="-122"/>
                <a:ea typeface="Microsoft YaHei" panose="020B0503020204020204" pitchFamily="34" charset="-122"/>
              </a:endParaRPr>
            </a:p>
          </p:txBody>
        </p:sp>
        <p:sp>
          <p:nvSpPr>
            <p:cNvPr id="6" name="矩形 15"/>
            <p:cNvSpPr>
              <a:spLocks noChangeArrowheads="1"/>
            </p:cNvSpPr>
            <p:nvPr/>
          </p:nvSpPr>
          <p:spPr bwMode="auto">
            <a:xfrm>
              <a:off x="5611" y="9570"/>
              <a:ext cx="7265" cy="78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90204" pitchFamily="34" charset="0"/>
                <a:buChar char="•"/>
                <a:defRPr sz="2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9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9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 typeface="Arial" panose="020B0604020202090204" pitchFamily="34" charset="0"/>
                <a:buNone/>
              </a:pPr>
              <a:endParaRPr lang="zh-CN" altLang="en-US" sz="1800">
                <a:solidFill>
                  <a:schemeClr val="bg1"/>
                </a:solidFill>
                <a:latin typeface="Microsoft YaHei" panose="020B0503020204020204" pitchFamily="34" charset="-122"/>
                <a:ea typeface="Microsoft YaHei" panose="020B0503020204020204" pitchFamily="34" charset="-122"/>
              </a:endParaRPr>
            </a:p>
          </p:txBody>
        </p:sp>
        <p:sp>
          <p:nvSpPr>
            <p:cNvPr id="7" name="椭圆 10"/>
            <p:cNvSpPr>
              <a:spLocks noChangeArrowheads="1"/>
            </p:cNvSpPr>
            <p:nvPr/>
          </p:nvSpPr>
          <p:spPr bwMode="auto">
            <a:xfrm>
              <a:off x="5161" y="9549"/>
              <a:ext cx="787" cy="785"/>
            </a:xfrm>
            <a:prstGeom prst="ellipse">
              <a:avLst/>
            </a:prstGeom>
            <a:gradFill rotWithShape="1">
              <a:gsLst>
                <a:gs pos="0">
                  <a:srgbClr val="FFFF80"/>
                </a:gs>
                <a:gs pos="50000">
                  <a:srgbClr val="FFFFB3"/>
                </a:gs>
                <a:gs pos="100000">
                  <a:srgbClr val="FFFFDA"/>
                </a:gs>
              </a:gsLst>
              <a:lin ang="5400000" scaled="1"/>
            </a:gradFill>
            <a:ln w="9525" cmpd="sng">
              <a:solidFill>
                <a:srgbClr val="FFFF00"/>
              </a:solidFill>
              <a:round/>
            </a:ln>
            <a:effectLst>
              <a:outerShdw blurRad="63500" dist="20000" dir="5400000" algn="ctr" rotWithShape="0">
                <a:srgbClr val="000000">
                  <a:alpha val="28000"/>
                </a:srgbClr>
              </a:outerShdw>
            </a:effectLst>
          </p:spPr>
          <p:txBody>
            <a:bodyPr anchor="ctr"/>
            <a:lstStyle>
              <a:lvl1pPr eaLnBrk="0" hangingPunct="0">
                <a:defRPr>
                  <a:solidFill>
                    <a:schemeClr val="tx1"/>
                  </a:solidFill>
                  <a:latin typeface="Arial" panose="020B0604020202090204" pitchFamily="34" charset="0"/>
                  <a:ea typeface="宋体" charset="0"/>
                </a:defRPr>
              </a:lvl1pPr>
              <a:lvl2pPr marL="742950" indent="-285750" eaLnBrk="0" hangingPunct="0">
                <a:defRPr>
                  <a:solidFill>
                    <a:schemeClr val="tx1"/>
                  </a:solidFill>
                  <a:latin typeface="Arial" panose="020B0604020202090204" pitchFamily="34" charset="0"/>
                  <a:ea typeface="宋体" charset="0"/>
                </a:defRPr>
              </a:lvl2pPr>
              <a:lvl3pPr marL="1143000" indent="-228600" eaLnBrk="0" hangingPunct="0">
                <a:defRPr>
                  <a:solidFill>
                    <a:schemeClr val="tx1"/>
                  </a:solidFill>
                  <a:latin typeface="Arial" panose="020B0604020202090204" pitchFamily="34" charset="0"/>
                  <a:ea typeface="宋体" charset="0"/>
                </a:defRPr>
              </a:lvl3pPr>
              <a:lvl4pPr marL="1600200" indent="-228600" eaLnBrk="0" hangingPunct="0">
                <a:defRPr>
                  <a:solidFill>
                    <a:schemeClr val="tx1"/>
                  </a:solidFill>
                  <a:latin typeface="Arial" panose="020B0604020202090204" pitchFamily="34" charset="0"/>
                  <a:ea typeface="宋体" charset="0"/>
                </a:defRPr>
              </a:lvl4pPr>
              <a:lvl5pPr marL="2057400" indent="-228600" eaLnBrk="0" hangingPunct="0">
                <a:defRPr>
                  <a:solidFill>
                    <a:schemeClr val="tx1"/>
                  </a:solidFill>
                  <a:latin typeface="Arial" panose="020B0604020202090204" pitchFamily="34" charset="0"/>
                  <a:ea typeface="宋体" charset="0"/>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charset="0"/>
                </a:defRPr>
              </a:lvl9pPr>
            </a:lstStyle>
            <a:p>
              <a:pPr algn="ctr" eaLnBrk="1" hangingPunct="1">
                <a:buFont typeface="Arial" panose="020B0604020202090204" pitchFamily="34" charset="0"/>
                <a:buNone/>
                <a:defRPr/>
              </a:pPr>
              <a:r>
                <a:rPr lang="en-US" altLang="zh-CN" sz="2200" b="1">
                  <a:solidFill>
                    <a:schemeClr val="bg1"/>
                  </a:solidFill>
                  <a:latin typeface="Microsoft YaHei" panose="020B0503020204020204" pitchFamily="34" charset="-122"/>
                  <a:ea typeface="Microsoft YaHei" panose="020B0503020204020204" pitchFamily="34" charset="-122"/>
                </a:rPr>
                <a:t>6</a:t>
              </a:r>
              <a:endParaRPr lang="en-US" altLang="zh-CN" sz="2200" b="1">
                <a:solidFill>
                  <a:schemeClr val="bg1"/>
                </a:solidFill>
                <a:latin typeface="Microsoft YaHei" panose="020B0503020204020204" pitchFamily="34" charset="-122"/>
                <a:ea typeface="Microsoft YaHei" panose="020B0503020204020204" pitchFamily="34" charset="-122"/>
              </a:endParaRPr>
            </a:p>
          </p:txBody>
        </p:sp>
        <p:sp>
          <p:nvSpPr>
            <p:cNvPr id="8" name="Text Box 21"/>
            <p:cNvSpPr txBox="1">
              <a:spLocks noChangeArrowheads="1"/>
            </p:cNvSpPr>
            <p:nvPr/>
          </p:nvSpPr>
          <p:spPr bwMode="auto">
            <a:xfrm>
              <a:off x="6155" y="9589"/>
              <a:ext cx="2208" cy="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90204" pitchFamily="34" charset="0"/>
                <a:buChar char="•"/>
                <a:defRPr sz="2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9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9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9pPr>
            </a:lstStyle>
            <a:p>
              <a:pPr algn="l" eaLnBrk="1" hangingPunct="1">
                <a:spcBef>
                  <a:spcPct val="0"/>
                </a:spcBef>
                <a:buFont typeface="Arial" panose="020B0604020202090204" pitchFamily="34" charset="0"/>
                <a:buNone/>
              </a:pPr>
              <a:r>
                <a:rPr lang="zh-CN" altLang="zh-CN" sz="2400" dirty="0">
                  <a:solidFill>
                    <a:schemeClr val="bg1"/>
                  </a:solidFill>
                  <a:latin typeface="Microsoft YaHei" panose="020B0503020204020204" pitchFamily="34" charset="-122"/>
                  <a:ea typeface="Microsoft YaHei" panose="020B0503020204020204" pitchFamily="34" charset="-122"/>
                  <a:sym typeface="+mn-ea"/>
                </a:rPr>
                <a:t>质量控制</a:t>
              </a:r>
              <a:endParaRPr lang="zh-CN" altLang="zh-CN" sz="2400" dirty="0">
                <a:solidFill>
                  <a:schemeClr val="bg1"/>
                </a:solidFill>
                <a:latin typeface="Microsoft YaHei" panose="020B0503020204020204" pitchFamily="34" charset="-122"/>
                <a:ea typeface="Microsoft YaHei" panose="020B0503020204020204" pitchFamily="34" charset="-122"/>
              </a:endParaRPr>
            </a:p>
          </p:txBody>
        </p:sp>
      </p:gr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b="1" dirty="0"/>
              <a:t>小结</a:t>
            </a:r>
            <a:endParaRPr kumimoji="1" lang="zh-CN" altLang="en-US" b="1" dirty="0"/>
          </a:p>
        </p:txBody>
      </p:sp>
      <p:sp>
        <p:nvSpPr>
          <p:cNvPr id="3" name="内容占位符 2"/>
          <p:cNvSpPr>
            <a:spLocks noGrp="1"/>
          </p:cNvSpPr>
          <p:nvPr>
            <p:ph idx="1"/>
          </p:nvPr>
        </p:nvSpPr>
        <p:spPr>
          <a:xfrm>
            <a:off x="1104265" y="1621155"/>
            <a:ext cx="9359900" cy="4843145"/>
          </a:xfrm>
        </p:spPr>
        <p:txBody>
          <a:bodyPr>
            <a:normAutofit fontScale="90000"/>
          </a:bodyPr>
          <a:lstStyle/>
          <a:p>
            <a:pPr>
              <a:lnSpc>
                <a:spcPct val="150000"/>
              </a:lnSpc>
            </a:pPr>
            <a:r>
              <a:rPr lang="en-US" altLang="zh-CN" b="1" dirty="0"/>
              <a:t>《</a:t>
            </a:r>
            <a:r>
              <a:rPr lang="zh-CN" altLang="en-US" b="1" dirty="0"/>
              <a:t>规程</a:t>
            </a:r>
            <a:r>
              <a:rPr lang="en-US" altLang="zh-CN" b="1" dirty="0"/>
              <a:t>》</a:t>
            </a:r>
            <a:r>
              <a:rPr lang="zh-CN" altLang="en-US" b="1" dirty="0"/>
              <a:t>有</a:t>
            </a:r>
            <a:r>
              <a:rPr lang="en-US" altLang="zh-CN" b="1" dirty="0"/>
              <a:t>4</a:t>
            </a:r>
            <a:r>
              <a:rPr lang="zh-CN" altLang="en-US" b="1" dirty="0"/>
              <a:t>处提到血液管理信息系统的应用，有</a:t>
            </a:r>
            <a:r>
              <a:rPr lang="en-US" altLang="zh-CN" b="1" dirty="0"/>
              <a:t>7</a:t>
            </a:r>
            <a:r>
              <a:rPr lang="zh-CN" altLang="en-US" b="1" dirty="0"/>
              <a:t>处提到采用计算机程序进行管理和控制，</a:t>
            </a:r>
            <a:r>
              <a:rPr lang="en-US" altLang="zh-CN" b="1" dirty="0"/>
              <a:t>1</a:t>
            </a:r>
            <a:r>
              <a:rPr lang="zh-CN" altLang="en-US" b="1" dirty="0"/>
              <a:t>处集中阐述了实验室管理信息系统的应用。</a:t>
            </a:r>
            <a:endParaRPr lang="zh-CN" altLang="en-US" b="1" dirty="0"/>
          </a:p>
          <a:p>
            <a:pPr>
              <a:lnSpc>
                <a:spcPct val="150000"/>
              </a:lnSpc>
            </a:pPr>
            <a:r>
              <a:rPr lang="zh-CN" altLang="en-US" b="1" dirty="0"/>
              <a:t>规范是构建血站信息化系统应用的基础，随着新规范的推出系统需要更新或升级实现，而信息化系统建设是一个持续改进和发展的过程，需要投入足够的关注度，做到：</a:t>
            </a:r>
            <a:endParaRPr lang="zh-CN" altLang="en-US" b="1" dirty="0"/>
          </a:p>
          <a:p>
            <a:pPr marL="393700" indent="0">
              <a:lnSpc>
                <a:spcPct val="150000"/>
              </a:lnSpc>
            </a:pPr>
            <a:r>
              <a:rPr lang="zh-CN" altLang="en-US" b="1" dirty="0"/>
              <a:t> 总体规划</a:t>
            </a:r>
            <a:endParaRPr lang="zh-CN" altLang="en-US" b="1" dirty="0"/>
          </a:p>
          <a:p>
            <a:pPr marL="393700" indent="0">
              <a:lnSpc>
                <a:spcPct val="150000"/>
              </a:lnSpc>
            </a:pPr>
            <a:r>
              <a:rPr kumimoji="1" lang="zh-CN" altLang="en-US" b="1" dirty="0"/>
              <a:t> 逐步实现</a:t>
            </a:r>
            <a:endParaRPr kumimoji="1" lang="zh-CN" altLang="en-US" b="1" dirty="0"/>
          </a:p>
          <a:p>
            <a:pPr marL="393700" indent="0">
              <a:lnSpc>
                <a:spcPct val="150000"/>
              </a:lnSpc>
            </a:pPr>
            <a:r>
              <a:rPr kumimoji="1" lang="zh-CN" altLang="en-US" b="1" dirty="0"/>
              <a:t> 持续性改进</a:t>
            </a:r>
            <a:endParaRPr kumimoji="1" lang="zh-CN" altLang="en-US" b="1" dirty="0"/>
          </a:p>
          <a:p>
            <a:pPr marL="0" indent="0">
              <a:lnSpc>
                <a:spcPct val="150000"/>
              </a:lnSpc>
              <a:buNone/>
            </a:pPr>
            <a:endParaRPr lang="en-US" altLang="zh-CN" dirty="0">
              <a:latin typeface="Microsoft YaHei" panose="020B0503020204020204" pitchFamily="34" charset="-122"/>
              <a:ea typeface="Microsoft YaHei" panose="020B0503020204020204" pitchFamily="34" charset="-122"/>
              <a:sym typeface="+mn-ea"/>
            </a:endParaRPr>
          </a:p>
          <a:p>
            <a:pPr marL="0" indent="0">
              <a:lnSpc>
                <a:spcPct val="150000"/>
              </a:lnSpc>
              <a:buNone/>
            </a:pPr>
            <a:r>
              <a:rPr lang="en-US" altLang="zh-CN" dirty="0">
                <a:latin typeface="Microsoft YaHei" panose="020B0503020204020204" pitchFamily="34" charset="-122"/>
                <a:ea typeface="Microsoft YaHei" panose="020B0503020204020204" pitchFamily="34" charset="-122"/>
                <a:sym typeface="+mn-ea"/>
              </a:rPr>
              <a:t>* </a:t>
            </a:r>
            <a:r>
              <a:rPr lang="zh-CN" altLang="en-US" dirty="0">
                <a:latin typeface="Microsoft YaHei" panose="020B0503020204020204" pitchFamily="34" charset="-122"/>
                <a:ea typeface="Microsoft YaHei" panose="020B0503020204020204" pitchFamily="34" charset="-122"/>
                <a:sym typeface="+mn-ea"/>
              </a:rPr>
              <a:t>中国输血协会官网法律法规  https://www.csbt.org.cn/plus/list.php?tid=22</a:t>
            </a:r>
            <a:endParaRPr kumimoji="1" lang="zh-CN" altLang="en-US" b="1" dirty="0"/>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pPr algn="ctr"/>
            <a:r>
              <a:rPr kumimoji="1" lang="zh-CN" altLang="en-US" sz="6000" b="1" dirty="0"/>
              <a:t>谢谢观赏！</a:t>
            </a:r>
            <a:br>
              <a:rPr kumimoji="1" lang="zh-CN" altLang="en-US" dirty="0"/>
            </a:br>
            <a:br>
              <a:rPr kumimoji="1" lang="zh-CN" altLang="en-US" dirty="0"/>
            </a:br>
            <a:endParaRPr kumimoji="1" lang="zh-CN" altLang="en-US" dirty="0"/>
          </a:p>
        </p:txBody>
      </p:sp>
      <p:sp>
        <p:nvSpPr>
          <p:cNvPr id="3" name="副标题 2"/>
          <p:cNvSpPr>
            <a:spLocks noGrp="1"/>
          </p:cNvSpPr>
          <p:nvPr>
            <p:ph type="subTitle" idx="1"/>
          </p:nvPr>
        </p:nvSpPr>
        <p:spPr>
          <a:xfrm>
            <a:off x="1154955" y="4777380"/>
            <a:ext cx="8825658" cy="1166220"/>
          </a:xfrm>
        </p:spPr>
        <p:txBody>
          <a:bodyPr>
            <a:normAutofit/>
          </a:bodyPr>
          <a:lstStyle/>
          <a:p>
            <a:pPr algn="ctr"/>
            <a:r>
              <a:rPr kumimoji="1" lang="zh-CN" altLang="en-US" sz="2400" b="1" dirty="0"/>
              <a:t>广东穿越医疗科技有限公司</a:t>
            </a:r>
            <a:endParaRPr kumimoji="1" lang="zh-CN" altLang="en-US" sz="2400" b="1" dirty="0"/>
          </a:p>
          <a:p>
            <a:pPr algn="ctr"/>
            <a:r>
              <a:rPr kumimoji="1" lang="en-US" altLang="zh-CN" sz="2400" b="1" dirty="0"/>
              <a:t>2020</a:t>
            </a:r>
            <a:r>
              <a:rPr kumimoji="1" lang="zh-CN" altLang="en-US" sz="2400" b="1" dirty="0"/>
              <a:t>年</a:t>
            </a:r>
            <a:r>
              <a:rPr kumimoji="1" lang="en-US" altLang="zh-CN" sz="2400" b="1" dirty="0"/>
              <a:t>2</a:t>
            </a:r>
            <a:r>
              <a:rPr kumimoji="1" lang="zh-CN" altLang="en-US" sz="2400" b="1" dirty="0"/>
              <a:t>月</a:t>
            </a:r>
            <a:endParaRPr kumimoji="1" lang="zh-CN" altLang="en-US" sz="2400"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5.jpeg"/></Relationships>
</file>

<file path=ppt/theme/theme1.xml><?xml version="1.0" encoding="utf-8"?>
<a:theme xmlns:a="http://schemas.openxmlformats.org/drawingml/2006/main" name="离子">
  <a:themeElements>
    <a:clrScheme name="离子">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离子">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离子">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0</TotalTime>
  <Words>6662</Words>
  <Application>WPS 演示</Application>
  <PresentationFormat>宽屏</PresentationFormat>
  <Paragraphs>435</Paragraphs>
  <Slides>45</Slides>
  <Notes>39</Notes>
  <HiddenSlides>0</HiddenSlides>
  <MMClips>0</MMClips>
  <ScaleCrop>false</ScaleCrop>
  <HeadingPairs>
    <vt:vector size="6" baseType="variant">
      <vt:variant>
        <vt:lpstr>已用的字体</vt:lpstr>
      </vt:variant>
      <vt:variant>
        <vt:i4>24</vt:i4>
      </vt:variant>
      <vt:variant>
        <vt:lpstr>主题</vt:lpstr>
      </vt:variant>
      <vt:variant>
        <vt:i4>1</vt:i4>
      </vt:variant>
      <vt:variant>
        <vt:lpstr>幻灯片标题</vt:lpstr>
      </vt:variant>
      <vt:variant>
        <vt:i4>45</vt:i4>
      </vt:variant>
    </vt:vector>
  </HeadingPairs>
  <TitlesOfParts>
    <vt:vector size="70" baseType="lpstr">
      <vt:lpstr>Arial</vt:lpstr>
      <vt:lpstr>方正书宋_GBK</vt:lpstr>
      <vt:lpstr>Wingdings</vt:lpstr>
      <vt:lpstr>Wingdings 3</vt:lpstr>
      <vt:lpstr>Arial</vt:lpstr>
      <vt:lpstr>微软雅黑</vt:lpstr>
      <vt:lpstr>汉仪旗黑KW</vt:lpstr>
      <vt:lpstr>Calibri</vt:lpstr>
      <vt:lpstr>Helvetica Neue</vt:lpstr>
      <vt:lpstr>宋体</vt:lpstr>
      <vt:lpstr>汉仪书宋二KW</vt:lpstr>
      <vt:lpstr>Microsoft YaHei</vt:lpstr>
      <vt:lpstr>宋体</vt:lpstr>
      <vt:lpstr>宋体-简</vt:lpstr>
      <vt:lpstr>Wingdings</vt:lpstr>
      <vt:lpstr>Century Gothic</vt:lpstr>
      <vt:lpstr>苹方-简</vt:lpstr>
      <vt:lpstr>Arial Unicode MS</vt:lpstr>
      <vt:lpstr>Wingdings</vt:lpstr>
      <vt:lpstr>兰亭黑-简</vt:lpstr>
      <vt:lpstr>凌慧体-简</vt:lpstr>
      <vt:lpstr>华文黑体</vt:lpstr>
      <vt:lpstr>圆体-繁</vt:lpstr>
      <vt:lpstr>微软雅黑</vt:lpstr>
      <vt:lpstr>离子</vt:lpstr>
      <vt:lpstr>血液行业规范和标准的解读  </vt:lpstr>
      <vt:lpstr>目录</vt:lpstr>
      <vt:lpstr>回顾</vt:lpstr>
      <vt:lpstr>法规和标准的理解</vt:lpstr>
      <vt:lpstr>法规和标准的理解</vt:lpstr>
      <vt:lpstr>PowerPoint 演示文稿</vt:lpstr>
      <vt:lpstr>新规程</vt:lpstr>
      <vt:lpstr>新规程解读</vt:lpstr>
      <vt:lpstr>新规程主要修订的内容</vt:lpstr>
      <vt:lpstr>新规程主要修订的内容</vt:lpstr>
      <vt:lpstr>新规程主要修订的内容</vt:lpstr>
      <vt:lpstr>新规程主要修订的内容</vt:lpstr>
      <vt:lpstr>新规程主要修订的内容</vt:lpstr>
      <vt:lpstr>新规程主要修订的内容</vt:lpstr>
      <vt:lpstr>新规程在信息化系统的应用</vt:lpstr>
      <vt:lpstr>核对献血者身份问题</vt:lpstr>
      <vt:lpstr>献血年龄期限问题</vt:lpstr>
      <vt:lpstr>献血前检测</vt:lpstr>
      <vt:lpstr>健康检查结论</vt:lpstr>
      <vt:lpstr>献血者屏蔽</vt:lpstr>
      <vt:lpstr>标本管</vt:lpstr>
      <vt:lpstr>献血量问题</vt:lpstr>
      <vt:lpstr>献血间隔问题</vt:lpstr>
      <vt:lpstr>采血时间控制</vt:lpstr>
      <vt:lpstr>采血结束和献血者休息与观察</vt:lpstr>
      <vt:lpstr>血袋及血液标本标识</vt:lpstr>
      <vt:lpstr>条码一致性问题</vt:lpstr>
      <vt:lpstr>血液成分分类名称</vt:lpstr>
      <vt:lpstr>血液制备方法及其设备</vt:lpstr>
      <vt:lpstr>检测项目问题</vt:lpstr>
      <vt:lpstr>检测策略问题</vt:lpstr>
      <vt:lpstr>实验室信息管理系统</vt:lpstr>
      <vt:lpstr>血清学检测结果判定</vt:lpstr>
      <vt:lpstr>核酸检测结果判定</vt:lpstr>
      <vt:lpstr>检测结果判定</vt:lpstr>
      <vt:lpstr>检测最终结论判定</vt:lpstr>
      <vt:lpstr>集中化检测</vt:lpstr>
      <vt:lpstr>集中化检测</vt:lpstr>
      <vt:lpstr>血液放行</vt:lpstr>
      <vt:lpstr>合格制品贴签</vt:lpstr>
      <vt:lpstr>合格制品标签</vt:lpstr>
      <vt:lpstr>质量控制</vt:lpstr>
      <vt:lpstr>小结</vt:lpstr>
      <vt:lpstr>小结</vt:lpstr>
      <vt:lpstr>谢谢观赏！  </vt:lpstr>
    </vt:vector>
  </TitlesOfParts>
  <Company>广东穿越医疗科技有限公司</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陈哲锋</dc:creator>
  <cp:lastModifiedBy>CZF</cp:lastModifiedBy>
  <cp:revision>414</cp:revision>
  <dcterms:created xsi:type="dcterms:W3CDTF">2020-02-28T08:42:26Z</dcterms:created>
  <dcterms:modified xsi:type="dcterms:W3CDTF">2020-02-28T08:42:26Z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2052-1.9.1.2994</vt:lpwstr>
  </property>
</Properties>
</file>